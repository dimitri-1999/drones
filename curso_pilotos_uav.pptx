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45"/>
  </p:notesMasterIdLst>
  <p:sldIdLst>
    <p:sldId id="256" r:id="rId2"/>
    <p:sldId id="264" r:id="rId3"/>
    <p:sldId id="259" r:id="rId4"/>
    <p:sldId id="266" r:id="rId5"/>
    <p:sldId id="265" r:id="rId6"/>
    <p:sldId id="282" r:id="rId7"/>
    <p:sldId id="267" r:id="rId8"/>
    <p:sldId id="268" r:id="rId9"/>
    <p:sldId id="277" r:id="rId10"/>
    <p:sldId id="278" r:id="rId11"/>
    <p:sldId id="270" r:id="rId12"/>
    <p:sldId id="269" r:id="rId13"/>
    <p:sldId id="271" r:id="rId14"/>
    <p:sldId id="272" r:id="rId15"/>
    <p:sldId id="273" r:id="rId16"/>
    <p:sldId id="281" r:id="rId17"/>
    <p:sldId id="293" r:id="rId18"/>
    <p:sldId id="275" r:id="rId19"/>
    <p:sldId id="274" r:id="rId20"/>
    <p:sldId id="276" r:id="rId21"/>
    <p:sldId id="283" r:id="rId22"/>
    <p:sldId id="291" r:id="rId23"/>
    <p:sldId id="292" r:id="rId24"/>
    <p:sldId id="286" r:id="rId25"/>
    <p:sldId id="287" r:id="rId26"/>
    <p:sldId id="288" r:id="rId27"/>
    <p:sldId id="289" r:id="rId28"/>
    <p:sldId id="290" r:id="rId29"/>
    <p:sldId id="294" r:id="rId30"/>
    <p:sldId id="295" r:id="rId31"/>
    <p:sldId id="296" r:id="rId32"/>
    <p:sldId id="297" r:id="rId33"/>
    <p:sldId id="298" r:id="rId34"/>
    <p:sldId id="257" r:id="rId35"/>
    <p:sldId id="285" r:id="rId36"/>
    <p:sldId id="284" r:id="rId37"/>
    <p:sldId id="260" r:id="rId38"/>
    <p:sldId id="261" r:id="rId39"/>
    <p:sldId id="262" r:id="rId40"/>
    <p:sldId id="263" r:id="rId41"/>
    <p:sldId id="258" r:id="rId42"/>
    <p:sldId id="280" r:id="rId43"/>
    <p:sldId id="279" r:id="rId44"/>
  </p:sldIdLst>
  <p:sldSz cx="12192000" cy="6858000"/>
  <p:notesSz cx="6858000" cy="9144000"/>
  <p:defaultTex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3C0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38"/>
    <p:restoredTop sz="72062" autoAdjust="0"/>
  </p:normalViewPr>
  <p:slideViewPr>
    <p:cSldViewPr snapToGrid="0" snapToObjects="1">
      <p:cViewPr varScale="1">
        <p:scale>
          <a:sx n="80" d="100"/>
          <a:sy n="80" d="100"/>
        </p:scale>
        <p:origin x="150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image" Target="../media/image30.jpg"/><Relationship Id="rId4" Type="http://schemas.openxmlformats.org/officeDocument/2006/relationships/image" Target="../media/image33.jpg"/></Relationships>
</file>

<file path=ppt/diagrams/_rels/drawing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image" Target="../media/image30.jpg"/><Relationship Id="rId4" Type="http://schemas.openxmlformats.org/officeDocument/2006/relationships/image" Target="../media/image33.jp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1F90D4-541D-4355-B1E3-E9DD0EB05D94}" type="doc">
      <dgm:prSet loTypeId="urn:microsoft.com/office/officeart/2005/8/layout/vList4" loCatId="list" qsTypeId="urn:microsoft.com/office/officeart/2005/8/quickstyle/simple1" qsCatId="simple" csTypeId="urn:microsoft.com/office/officeart/2005/8/colors/colorful5" csCatId="colorful" phldr="1"/>
      <dgm:spPr/>
    </dgm:pt>
    <dgm:pt modelId="{2A0FCD50-1E0E-41DE-A932-C72E0DD1AF21}">
      <dgm:prSet phldrT="[Texto]"/>
      <dgm:spPr/>
      <dgm:t>
        <a:bodyPr/>
        <a:lstStyle/>
        <a:p>
          <a:r>
            <a:rPr lang="es-CO" dirty="0"/>
            <a:t>RGB</a:t>
          </a:r>
        </a:p>
      </dgm:t>
    </dgm:pt>
    <dgm:pt modelId="{E409A17C-600D-46F6-80C5-97D183ED9244}" type="parTrans" cxnId="{67F756CC-6D1E-45F2-B780-55E02DF390E5}">
      <dgm:prSet/>
      <dgm:spPr/>
      <dgm:t>
        <a:bodyPr/>
        <a:lstStyle/>
        <a:p>
          <a:endParaRPr lang="es-CO"/>
        </a:p>
      </dgm:t>
    </dgm:pt>
    <dgm:pt modelId="{2428CD6B-AFE8-4B70-A653-44CD65E6BE4B}" type="sibTrans" cxnId="{67F756CC-6D1E-45F2-B780-55E02DF390E5}">
      <dgm:prSet/>
      <dgm:spPr/>
      <dgm:t>
        <a:bodyPr/>
        <a:lstStyle/>
        <a:p>
          <a:endParaRPr lang="es-CO"/>
        </a:p>
      </dgm:t>
    </dgm:pt>
    <dgm:pt modelId="{BA6EC5BD-F3DA-48F5-8F5C-358BD1E6EC7F}">
      <dgm:prSet phldrT="[Texto]"/>
      <dgm:spPr/>
      <dgm:t>
        <a:bodyPr/>
        <a:lstStyle/>
        <a:p>
          <a:r>
            <a:rPr lang="es-CO" dirty="0"/>
            <a:t>Cámara Multiespectral</a:t>
          </a:r>
        </a:p>
      </dgm:t>
    </dgm:pt>
    <dgm:pt modelId="{B273154C-4DD7-4FD3-85EC-07204D3C6B56}" type="parTrans" cxnId="{D54AF120-A25E-48DF-BCC9-D659A8F18177}">
      <dgm:prSet/>
      <dgm:spPr/>
      <dgm:t>
        <a:bodyPr/>
        <a:lstStyle/>
        <a:p>
          <a:endParaRPr lang="es-CO"/>
        </a:p>
      </dgm:t>
    </dgm:pt>
    <dgm:pt modelId="{E4901633-DDF5-45B3-9582-6D8CCC5702A5}" type="sibTrans" cxnId="{D54AF120-A25E-48DF-BCC9-D659A8F18177}">
      <dgm:prSet/>
      <dgm:spPr/>
      <dgm:t>
        <a:bodyPr/>
        <a:lstStyle/>
        <a:p>
          <a:endParaRPr lang="es-CO"/>
        </a:p>
      </dgm:t>
    </dgm:pt>
    <dgm:pt modelId="{8490202C-8AB3-4F6B-9610-42F16D78046A}">
      <dgm:prSet phldrT="[Texto]"/>
      <dgm:spPr/>
      <dgm:t>
        <a:bodyPr/>
        <a:lstStyle/>
        <a:p>
          <a:r>
            <a:rPr lang="es-CO" dirty="0"/>
            <a:t>Cámara Térmica</a:t>
          </a:r>
        </a:p>
      </dgm:t>
    </dgm:pt>
    <dgm:pt modelId="{02323AF9-E020-42C6-922E-8B4B76A01299}" type="parTrans" cxnId="{57D1A4BF-D22D-448B-A157-8ED3365C9E1D}">
      <dgm:prSet/>
      <dgm:spPr/>
      <dgm:t>
        <a:bodyPr/>
        <a:lstStyle/>
        <a:p>
          <a:endParaRPr lang="es-CO"/>
        </a:p>
      </dgm:t>
    </dgm:pt>
    <dgm:pt modelId="{61070395-3615-4FE7-8E07-DC1C23F27B78}" type="sibTrans" cxnId="{57D1A4BF-D22D-448B-A157-8ED3365C9E1D}">
      <dgm:prSet/>
      <dgm:spPr/>
      <dgm:t>
        <a:bodyPr/>
        <a:lstStyle/>
        <a:p>
          <a:endParaRPr lang="es-CO"/>
        </a:p>
      </dgm:t>
    </dgm:pt>
    <dgm:pt modelId="{E6124D05-AE3A-4552-86C4-1316292EFE90}">
      <dgm:prSet phldrT="[Texto]"/>
      <dgm:spPr/>
      <dgm:t>
        <a:bodyPr/>
        <a:lstStyle/>
        <a:p>
          <a:r>
            <a:rPr lang="es-ES"/>
            <a:t>Captura imágenes en color real.</a:t>
          </a:r>
          <a:endParaRPr lang="es-CO"/>
        </a:p>
      </dgm:t>
    </dgm:pt>
    <dgm:pt modelId="{5D0A2CD3-D8A9-4DA6-8542-B16335EBBEE9}" type="parTrans" cxnId="{29A39173-A477-4236-B64A-DD14A631BB7C}">
      <dgm:prSet/>
      <dgm:spPr/>
      <dgm:t>
        <a:bodyPr/>
        <a:lstStyle/>
        <a:p>
          <a:endParaRPr lang="es-CO"/>
        </a:p>
      </dgm:t>
    </dgm:pt>
    <dgm:pt modelId="{6F0C2662-0563-4A6F-9457-4D93A66395B2}" type="sibTrans" cxnId="{29A39173-A477-4236-B64A-DD14A631BB7C}">
      <dgm:prSet/>
      <dgm:spPr/>
      <dgm:t>
        <a:bodyPr/>
        <a:lstStyle/>
        <a:p>
          <a:endParaRPr lang="es-CO"/>
        </a:p>
      </dgm:t>
    </dgm:pt>
    <dgm:pt modelId="{6DC1AE98-72CE-43A3-A4A6-1752C73D872D}">
      <dgm:prSet/>
      <dgm:spPr/>
      <dgm:t>
        <a:bodyPr/>
        <a:lstStyle/>
        <a:p>
          <a:r>
            <a:rPr lang="es-ES"/>
            <a:t>Ideal para fotografía y videografía estándar.</a:t>
          </a:r>
        </a:p>
      </dgm:t>
    </dgm:pt>
    <dgm:pt modelId="{65F5DF9D-C188-4E69-9AC2-E7C6938C8B36}" type="parTrans" cxnId="{DAB55394-6F2A-4BE1-99A5-1099AD16862D}">
      <dgm:prSet/>
      <dgm:spPr/>
      <dgm:t>
        <a:bodyPr/>
        <a:lstStyle/>
        <a:p>
          <a:endParaRPr lang="es-CO"/>
        </a:p>
      </dgm:t>
    </dgm:pt>
    <dgm:pt modelId="{EAEAED37-9C2D-4FD7-9B20-FDAFC4CBC808}" type="sibTrans" cxnId="{DAB55394-6F2A-4BE1-99A5-1099AD16862D}">
      <dgm:prSet/>
      <dgm:spPr/>
      <dgm:t>
        <a:bodyPr/>
        <a:lstStyle/>
        <a:p>
          <a:endParaRPr lang="es-CO"/>
        </a:p>
      </dgm:t>
    </dgm:pt>
    <dgm:pt modelId="{8995CDD5-CCC5-4A6D-A157-ABF183AE0EDA}">
      <dgm:prSet/>
      <dgm:spPr/>
      <dgm:t>
        <a:bodyPr/>
        <a:lstStyle/>
        <a:p>
          <a:r>
            <a:rPr lang="es-ES" dirty="0"/>
            <a:t>Ejemplo de Uso: Creación de mapas visuales y seguimiento de objetos.</a:t>
          </a:r>
        </a:p>
      </dgm:t>
    </dgm:pt>
    <dgm:pt modelId="{74653CA2-04B8-47A1-A75D-4BCAA53F7C6D}" type="parTrans" cxnId="{63BD22AF-6303-4BFA-A7ED-A2CAA98DADA7}">
      <dgm:prSet/>
      <dgm:spPr/>
      <dgm:t>
        <a:bodyPr/>
        <a:lstStyle/>
        <a:p>
          <a:endParaRPr lang="es-CO"/>
        </a:p>
      </dgm:t>
    </dgm:pt>
    <dgm:pt modelId="{EA5321BB-5749-43D3-A494-B67A0C2AB50F}" type="sibTrans" cxnId="{63BD22AF-6303-4BFA-A7ED-A2CAA98DADA7}">
      <dgm:prSet/>
      <dgm:spPr/>
      <dgm:t>
        <a:bodyPr/>
        <a:lstStyle/>
        <a:p>
          <a:endParaRPr lang="es-CO"/>
        </a:p>
      </dgm:t>
    </dgm:pt>
    <dgm:pt modelId="{5C0B55AC-06BE-437E-A47B-6605F8CAB70E}">
      <dgm:prSet phldrT="[Texto]"/>
      <dgm:spPr/>
      <dgm:t>
        <a:bodyPr/>
        <a:lstStyle/>
        <a:p>
          <a:r>
            <a:rPr lang="es-ES"/>
            <a:t>Captura imágenes en varios espectros de luz.</a:t>
          </a:r>
          <a:endParaRPr lang="es-CO" dirty="0"/>
        </a:p>
      </dgm:t>
    </dgm:pt>
    <dgm:pt modelId="{3D866E28-12C0-4583-9BD8-927BBEE20FFE}" type="parTrans" cxnId="{F5D71D60-C376-4550-939F-1EB3090D0634}">
      <dgm:prSet/>
      <dgm:spPr/>
      <dgm:t>
        <a:bodyPr/>
        <a:lstStyle/>
        <a:p>
          <a:endParaRPr lang="es-CO"/>
        </a:p>
      </dgm:t>
    </dgm:pt>
    <dgm:pt modelId="{83DB89B4-5FBB-4E2A-B8E1-A1F73638C3B8}" type="sibTrans" cxnId="{F5D71D60-C376-4550-939F-1EB3090D0634}">
      <dgm:prSet/>
      <dgm:spPr/>
      <dgm:t>
        <a:bodyPr/>
        <a:lstStyle/>
        <a:p>
          <a:endParaRPr lang="es-CO"/>
        </a:p>
      </dgm:t>
    </dgm:pt>
    <dgm:pt modelId="{1DFCF619-5786-4DC3-BB43-8316847CCB8C}">
      <dgm:prSet/>
      <dgm:spPr/>
      <dgm:t>
        <a:bodyPr/>
        <a:lstStyle/>
        <a:p>
          <a:r>
            <a:rPr lang="es-ES"/>
            <a:t>Permite análisis detallado de vegetación y salud de cultivos.</a:t>
          </a:r>
        </a:p>
      </dgm:t>
    </dgm:pt>
    <dgm:pt modelId="{0E2CF378-1840-4CC0-8C84-591CFFA9F490}" type="parTrans" cxnId="{E0C04644-7581-41A8-892C-0C7E7AE9EB2D}">
      <dgm:prSet/>
      <dgm:spPr/>
      <dgm:t>
        <a:bodyPr/>
        <a:lstStyle/>
        <a:p>
          <a:endParaRPr lang="es-CO"/>
        </a:p>
      </dgm:t>
    </dgm:pt>
    <dgm:pt modelId="{54FD2695-F61C-408B-9667-99FCFA1CE723}" type="sibTrans" cxnId="{E0C04644-7581-41A8-892C-0C7E7AE9EB2D}">
      <dgm:prSet/>
      <dgm:spPr/>
      <dgm:t>
        <a:bodyPr/>
        <a:lstStyle/>
        <a:p>
          <a:endParaRPr lang="es-CO"/>
        </a:p>
      </dgm:t>
    </dgm:pt>
    <dgm:pt modelId="{CB9F7AA4-1EAD-499A-8CEB-29D7E36EC512}">
      <dgm:prSet/>
      <dgm:spPr/>
      <dgm:t>
        <a:bodyPr/>
        <a:lstStyle/>
        <a:p>
          <a:r>
            <a:rPr lang="es-ES"/>
            <a:t>Ejemplo de Uso: Agricultura de precisión y detección de estrés en plantas.</a:t>
          </a:r>
        </a:p>
      </dgm:t>
    </dgm:pt>
    <dgm:pt modelId="{F5B5F0DC-0470-4297-A041-3BD13050955F}" type="parTrans" cxnId="{87B5B9BF-3E58-4D6C-8203-AC010926E12E}">
      <dgm:prSet/>
      <dgm:spPr/>
      <dgm:t>
        <a:bodyPr/>
        <a:lstStyle/>
        <a:p>
          <a:endParaRPr lang="es-CO"/>
        </a:p>
      </dgm:t>
    </dgm:pt>
    <dgm:pt modelId="{466B3465-D127-48F4-9968-C17283F4FB36}" type="sibTrans" cxnId="{87B5B9BF-3E58-4D6C-8203-AC010926E12E}">
      <dgm:prSet/>
      <dgm:spPr/>
      <dgm:t>
        <a:bodyPr/>
        <a:lstStyle/>
        <a:p>
          <a:endParaRPr lang="es-CO"/>
        </a:p>
      </dgm:t>
    </dgm:pt>
    <dgm:pt modelId="{78F5100C-75CC-4055-8A0D-A03375C02053}">
      <dgm:prSet phldrT="[Texto]"/>
      <dgm:spPr/>
      <dgm:t>
        <a:bodyPr/>
        <a:lstStyle/>
        <a:p>
          <a:r>
            <a:rPr lang="es-ES" dirty="0"/>
            <a:t>Detecta y mide la radiación infrarroja emitida por objetos.</a:t>
          </a:r>
          <a:endParaRPr lang="es-CO" dirty="0"/>
        </a:p>
      </dgm:t>
    </dgm:pt>
    <dgm:pt modelId="{19D33E91-2D51-443F-BC82-F4A9BA661696}" type="parTrans" cxnId="{F91D305A-2283-40CD-86B0-B32A6820EC47}">
      <dgm:prSet/>
      <dgm:spPr/>
      <dgm:t>
        <a:bodyPr/>
        <a:lstStyle/>
        <a:p>
          <a:endParaRPr lang="es-CO"/>
        </a:p>
      </dgm:t>
    </dgm:pt>
    <dgm:pt modelId="{0C679D1B-D2F6-413F-9E68-140B5B07855C}" type="sibTrans" cxnId="{F91D305A-2283-40CD-86B0-B32A6820EC47}">
      <dgm:prSet/>
      <dgm:spPr/>
      <dgm:t>
        <a:bodyPr/>
        <a:lstStyle/>
        <a:p>
          <a:endParaRPr lang="es-CO"/>
        </a:p>
      </dgm:t>
    </dgm:pt>
    <dgm:pt modelId="{1309CABA-2B62-4077-9DBF-0CC97AA98F93}">
      <dgm:prSet/>
      <dgm:spPr/>
      <dgm:t>
        <a:bodyPr/>
        <a:lstStyle/>
        <a:p>
          <a:r>
            <a:rPr lang="es-ES" dirty="0"/>
            <a:t>Útil para detectar cambios de temperatura y localizar puntos calientes.</a:t>
          </a:r>
        </a:p>
      </dgm:t>
    </dgm:pt>
    <dgm:pt modelId="{146CC25E-9A03-44FF-9CD9-3E8BBAA97F75}" type="parTrans" cxnId="{B1D1682C-488F-4B0D-8E5E-1ABA4E31359E}">
      <dgm:prSet/>
      <dgm:spPr/>
      <dgm:t>
        <a:bodyPr/>
        <a:lstStyle/>
        <a:p>
          <a:endParaRPr lang="es-CO"/>
        </a:p>
      </dgm:t>
    </dgm:pt>
    <dgm:pt modelId="{E59BB496-B44D-487B-97AC-46CDA7A25006}" type="sibTrans" cxnId="{B1D1682C-488F-4B0D-8E5E-1ABA4E31359E}">
      <dgm:prSet/>
      <dgm:spPr/>
      <dgm:t>
        <a:bodyPr/>
        <a:lstStyle/>
        <a:p>
          <a:endParaRPr lang="es-CO"/>
        </a:p>
      </dgm:t>
    </dgm:pt>
    <dgm:pt modelId="{8701C10C-A421-4070-BD0C-B7A31757DF7A}">
      <dgm:prSet/>
      <dgm:spPr/>
      <dgm:t>
        <a:bodyPr/>
        <a:lstStyle/>
        <a:p>
          <a:r>
            <a:rPr lang="es-ES" dirty="0"/>
            <a:t>Ejemplo de Uso: Inspección de infraestructuras, búsqueda y rescate.</a:t>
          </a:r>
        </a:p>
      </dgm:t>
    </dgm:pt>
    <dgm:pt modelId="{462BC4BC-A4B2-42AC-9A57-E51B5A596C9A}" type="parTrans" cxnId="{5197DE3E-F299-4D04-9457-AA746AA775ED}">
      <dgm:prSet/>
      <dgm:spPr/>
      <dgm:t>
        <a:bodyPr/>
        <a:lstStyle/>
        <a:p>
          <a:endParaRPr lang="es-CO"/>
        </a:p>
      </dgm:t>
    </dgm:pt>
    <dgm:pt modelId="{9D56FD6B-D092-43BF-9643-E3C657C85337}" type="sibTrans" cxnId="{5197DE3E-F299-4D04-9457-AA746AA775ED}">
      <dgm:prSet/>
      <dgm:spPr/>
      <dgm:t>
        <a:bodyPr/>
        <a:lstStyle/>
        <a:p>
          <a:endParaRPr lang="es-CO"/>
        </a:p>
      </dgm:t>
    </dgm:pt>
    <dgm:pt modelId="{16140597-7790-49F5-B078-BB335E6E1C49}">
      <dgm:prSet/>
      <dgm:spPr/>
      <dgm:t>
        <a:bodyPr/>
        <a:lstStyle/>
        <a:p>
          <a:r>
            <a:rPr lang="es-ES" dirty="0"/>
            <a:t>LIDAR</a:t>
          </a:r>
        </a:p>
      </dgm:t>
    </dgm:pt>
    <dgm:pt modelId="{79DD2BC2-8E3D-4DD1-9A21-BA9FB45693B4}" type="parTrans" cxnId="{F66545A6-7BF8-463C-A4EE-F9F91081990A}">
      <dgm:prSet/>
      <dgm:spPr/>
      <dgm:t>
        <a:bodyPr/>
        <a:lstStyle/>
        <a:p>
          <a:endParaRPr lang="es-CO"/>
        </a:p>
      </dgm:t>
    </dgm:pt>
    <dgm:pt modelId="{37748454-247D-4234-B235-B9C75D6FC83F}" type="sibTrans" cxnId="{F66545A6-7BF8-463C-A4EE-F9F91081990A}">
      <dgm:prSet/>
      <dgm:spPr/>
      <dgm:t>
        <a:bodyPr/>
        <a:lstStyle/>
        <a:p>
          <a:endParaRPr lang="es-CO"/>
        </a:p>
      </dgm:t>
    </dgm:pt>
    <dgm:pt modelId="{A3449FD4-FC0A-4DD8-96FD-A9A996695610}">
      <dgm:prSet/>
      <dgm:spPr/>
      <dgm:t>
        <a:bodyPr/>
        <a:lstStyle/>
        <a:p>
          <a:r>
            <a:rPr lang="es-ES" dirty="0"/>
            <a:t>Emite pulsos láser para medir distancias y crear mapas 3D.</a:t>
          </a:r>
        </a:p>
      </dgm:t>
    </dgm:pt>
    <dgm:pt modelId="{E9CC05F2-3B07-4BF7-8E20-912030EE466B}" type="parTrans" cxnId="{DB345DE0-D4C0-416F-BB38-09960B5680C4}">
      <dgm:prSet/>
      <dgm:spPr/>
      <dgm:t>
        <a:bodyPr/>
        <a:lstStyle/>
        <a:p>
          <a:endParaRPr lang="es-CO"/>
        </a:p>
      </dgm:t>
    </dgm:pt>
    <dgm:pt modelId="{4A97309B-B892-41C6-82B0-226601C41AB6}" type="sibTrans" cxnId="{DB345DE0-D4C0-416F-BB38-09960B5680C4}">
      <dgm:prSet/>
      <dgm:spPr/>
      <dgm:t>
        <a:bodyPr/>
        <a:lstStyle/>
        <a:p>
          <a:endParaRPr lang="es-CO"/>
        </a:p>
      </dgm:t>
    </dgm:pt>
    <dgm:pt modelId="{B1172ED6-3F76-4BAD-9667-77D22C8A093F}">
      <dgm:prSet/>
      <dgm:spPr/>
      <dgm:t>
        <a:bodyPr/>
        <a:lstStyle/>
        <a:p>
          <a:endParaRPr lang="es-ES" dirty="0"/>
        </a:p>
      </dgm:t>
    </dgm:pt>
    <dgm:pt modelId="{D3CF25C6-5BC9-4638-B46C-1E71FBA8B238}" type="parTrans" cxnId="{FD86F78F-72C3-4D6D-85C6-D73658630818}">
      <dgm:prSet/>
      <dgm:spPr/>
      <dgm:t>
        <a:bodyPr/>
        <a:lstStyle/>
        <a:p>
          <a:endParaRPr lang="es-CO"/>
        </a:p>
      </dgm:t>
    </dgm:pt>
    <dgm:pt modelId="{A4CCFA66-3EA9-4E03-850C-F792781458F9}" type="sibTrans" cxnId="{FD86F78F-72C3-4D6D-85C6-D73658630818}">
      <dgm:prSet/>
      <dgm:spPr/>
      <dgm:t>
        <a:bodyPr/>
        <a:lstStyle/>
        <a:p>
          <a:endParaRPr lang="es-CO"/>
        </a:p>
      </dgm:t>
    </dgm:pt>
    <dgm:pt modelId="{C80E153C-661C-4E82-BE1F-EF3384EF7041}">
      <dgm:prSet/>
      <dgm:spPr/>
      <dgm:t>
        <a:bodyPr/>
        <a:lstStyle/>
        <a:p>
          <a:endParaRPr lang="es-ES" dirty="0"/>
        </a:p>
      </dgm:t>
    </dgm:pt>
    <dgm:pt modelId="{97ACEB2B-FA3F-4203-BF12-F799F425AEFF}" type="parTrans" cxnId="{5111FF39-0B1E-403D-9163-C4EA004E1701}">
      <dgm:prSet/>
      <dgm:spPr/>
      <dgm:t>
        <a:bodyPr/>
        <a:lstStyle/>
        <a:p>
          <a:endParaRPr lang="es-CO"/>
        </a:p>
      </dgm:t>
    </dgm:pt>
    <dgm:pt modelId="{8BB7E1B4-E930-4F23-854D-320E74FC3F73}" type="sibTrans" cxnId="{5111FF39-0B1E-403D-9163-C4EA004E1701}">
      <dgm:prSet/>
      <dgm:spPr/>
      <dgm:t>
        <a:bodyPr/>
        <a:lstStyle/>
        <a:p>
          <a:endParaRPr lang="es-CO"/>
        </a:p>
      </dgm:t>
    </dgm:pt>
    <dgm:pt modelId="{4DB61008-996A-4922-8566-428100BA0509}">
      <dgm:prSet/>
      <dgm:spPr/>
      <dgm:t>
        <a:bodyPr/>
        <a:lstStyle/>
        <a:p>
          <a:r>
            <a:rPr lang="es-ES"/>
            <a:t>Alta precisión en la detección de obstáculos y modelado del terreno.</a:t>
          </a:r>
          <a:endParaRPr lang="es-ES" dirty="0"/>
        </a:p>
      </dgm:t>
    </dgm:pt>
    <dgm:pt modelId="{41229090-F45F-4832-88F6-759DFADFD347}" type="parTrans" cxnId="{845C4DB7-C18A-442F-B602-C2AD4882423C}">
      <dgm:prSet/>
      <dgm:spPr/>
      <dgm:t>
        <a:bodyPr/>
        <a:lstStyle/>
        <a:p>
          <a:endParaRPr lang="es-CO"/>
        </a:p>
      </dgm:t>
    </dgm:pt>
    <dgm:pt modelId="{74386AB4-D1C5-4A5D-8B00-37E3CCEB7D69}" type="sibTrans" cxnId="{845C4DB7-C18A-442F-B602-C2AD4882423C}">
      <dgm:prSet/>
      <dgm:spPr/>
      <dgm:t>
        <a:bodyPr/>
        <a:lstStyle/>
        <a:p>
          <a:endParaRPr lang="es-CO"/>
        </a:p>
      </dgm:t>
    </dgm:pt>
    <dgm:pt modelId="{7D991A65-901F-4AF2-AD97-F95C5E560B51}">
      <dgm:prSet/>
      <dgm:spPr/>
      <dgm:t>
        <a:bodyPr/>
        <a:lstStyle/>
        <a:p>
          <a:r>
            <a:rPr lang="es-ES"/>
            <a:t>Ejemplo de Uso: Mapeo topográfico, inspección de edificios y detección de vegetación.</a:t>
          </a:r>
        </a:p>
      </dgm:t>
    </dgm:pt>
    <dgm:pt modelId="{2F5D011D-E1B1-4AAD-9EE3-C2589AE3240C}" type="parTrans" cxnId="{246806F9-9BC1-4371-B4FC-5A3C0D9D9F75}">
      <dgm:prSet/>
      <dgm:spPr/>
      <dgm:t>
        <a:bodyPr/>
        <a:lstStyle/>
        <a:p>
          <a:endParaRPr lang="es-CO"/>
        </a:p>
      </dgm:t>
    </dgm:pt>
    <dgm:pt modelId="{5F95FBEA-BA83-450C-A0E2-F5563A1FB022}" type="sibTrans" cxnId="{246806F9-9BC1-4371-B4FC-5A3C0D9D9F75}">
      <dgm:prSet/>
      <dgm:spPr/>
      <dgm:t>
        <a:bodyPr/>
        <a:lstStyle/>
        <a:p>
          <a:endParaRPr lang="es-CO"/>
        </a:p>
      </dgm:t>
    </dgm:pt>
    <dgm:pt modelId="{F1CA93E0-677A-4973-83CA-68D7B63BBDA4}" type="pres">
      <dgm:prSet presAssocID="{101F90D4-541D-4355-B1E3-E9DD0EB05D94}" presName="linear" presStyleCnt="0">
        <dgm:presLayoutVars>
          <dgm:dir/>
          <dgm:resizeHandles val="exact"/>
        </dgm:presLayoutVars>
      </dgm:prSet>
      <dgm:spPr/>
    </dgm:pt>
    <dgm:pt modelId="{83513E13-FBFC-4DD6-A0BE-57273BA6F14B}" type="pres">
      <dgm:prSet presAssocID="{2A0FCD50-1E0E-41DE-A932-C72E0DD1AF21}" presName="comp" presStyleCnt="0"/>
      <dgm:spPr/>
    </dgm:pt>
    <dgm:pt modelId="{2B31CDDC-5140-48DE-B120-C67323158B65}" type="pres">
      <dgm:prSet presAssocID="{2A0FCD50-1E0E-41DE-A932-C72E0DD1AF21}" presName="box" presStyleLbl="node1" presStyleIdx="0" presStyleCnt="4"/>
      <dgm:spPr/>
    </dgm:pt>
    <dgm:pt modelId="{3825FDF5-EEEE-4D60-8D6E-E6CF01ABCE94}" type="pres">
      <dgm:prSet presAssocID="{2A0FCD50-1E0E-41DE-A932-C72E0DD1AF21}" presName="img" presStyleLbl="fgImgPlace1" presStyleIdx="0"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l="-15000" r="-15000"/>
          </a:stretch>
        </a:blipFill>
      </dgm:spPr>
    </dgm:pt>
    <dgm:pt modelId="{707FC1E4-2F83-4883-97D2-D2E7A24FE042}" type="pres">
      <dgm:prSet presAssocID="{2A0FCD50-1E0E-41DE-A932-C72E0DD1AF21}" presName="text" presStyleLbl="node1" presStyleIdx="0" presStyleCnt="4">
        <dgm:presLayoutVars>
          <dgm:bulletEnabled val="1"/>
        </dgm:presLayoutVars>
      </dgm:prSet>
      <dgm:spPr/>
    </dgm:pt>
    <dgm:pt modelId="{B816521C-7770-4C05-8FAB-1E552AF4D255}" type="pres">
      <dgm:prSet presAssocID="{2428CD6B-AFE8-4B70-A653-44CD65E6BE4B}" presName="spacer" presStyleCnt="0"/>
      <dgm:spPr/>
    </dgm:pt>
    <dgm:pt modelId="{795A46E4-B9F9-42BF-A130-B63F4CB5880E}" type="pres">
      <dgm:prSet presAssocID="{BA6EC5BD-F3DA-48F5-8F5C-358BD1E6EC7F}" presName="comp" presStyleCnt="0"/>
      <dgm:spPr/>
    </dgm:pt>
    <dgm:pt modelId="{BA5C292D-67E6-4FEF-8C1D-A141130B5D91}" type="pres">
      <dgm:prSet presAssocID="{BA6EC5BD-F3DA-48F5-8F5C-358BD1E6EC7F}" presName="box" presStyleLbl="node1" presStyleIdx="1" presStyleCnt="4"/>
      <dgm:spPr/>
    </dgm:pt>
    <dgm:pt modelId="{75F5D493-8462-4D1A-81D2-88D6E2760892}" type="pres">
      <dgm:prSet presAssocID="{BA6EC5BD-F3DA-48F5-8F5C-358BD1E6EC7F}" presName="img" presStyleLbl="fgImgPlace1" presStyleIdx="1" presStyleCnt="4"/>
      <dgm:spPr>
        <a:blipFill>
          <a:blip xmlns:r="http://schemas.openxmlformats.org/officeDocument/2006/relationships" r:embed="rId2">
            <a:extLst>
              <a:ext uri="{28A0092B-C50C-407E-A947-70E740481C1C}">
                <a14:useLocalDpi xmlns:a14="http://schemas.microsoft.com/office/drawing/2010/main" val="0"/>
              </a:ext>
            </a:extLst>
          </a:blip>
          <a:srcRect/>
          <a:stretch>
            <a:fillRect l="-39000" r="-39000"/>
          </a:stretch>
        </a:blipFill>
      </dgm:spPr>
    </dgm:pt>
    <dgm:pt modelId="{8E658DD8-FBB0-490F-9430-04E5E22A0775}" type="pres">
      <dgm:prSet presAssocID="{BA6EC5BD-F3DA-48F5-8F5C-358BD1E6EC7F}" presName="text" presStyleLbl="node1" presStyleIdx="1" presStyleCnt="4">
        <dgm:presLayoutVars>
          <dgm:bulletEnabled val="1"/>
        </dgm:presLayoutVars>
      </dgm:prSet>
      <dgm:spPr/>
    </dgm:pt>
    <dgm:pt modelId="{778CB53F-485B-4B6B-8548-8BA276654903}" type="pres">
      <dgm:prSet presAssocID="{E4901633-DDF5-45B3-9582-6D8CCC5702A5}" presName="spacer" presStyleCnt="0"/>
      <dgm:spPr/>
    </dgm:pt>
    <dgm:pt modelId="{F8D520D6-1F86-402E-AFD6-3309E5CEBBED}" type="pres">
      <dgm:prSet presAssocID="{8490202C-8AB3-4F6B-9610-42F16D78046A}" presName="comp" presStyleCnt="0"/>
      <dgm:spPr/>
    </dgm:pt>
    <dgm:pt modelId="{4E802B98-7045-4C4B-88D9-C1B9A1FF9E37}" type="pres">
      <dgm:prSet presAssocID="{8490202C-8AB3-4F6B-9610-42F16D78046A}" presName="box" presStyleLbl="node1" presStyleIdx="2" presStyleCnt="4"/>
      <dgm:spPr/>
    </dgm:pt>
    <dgm:pt modelId="{AE8F8CC7-A87E-42D2-9128-6A1B5CF9B515}" type="pres">
      <dgm:prSet presAssocID="{8490202C-8AB3-4F6B-9610-42F16D78046A}" presName="img" presStyleLbl="fgImgPlace1" presStyleIdx="2" presStyleCnt="4"/>
      <dgm:spPr>
        <a:blipFill>
          <a:blip xmlns:r="http://schemas.openxmlformats.org/officeDocument/2006/relationships" r:embed="rId3">
            <a:extLst>
              <a:ext uri="{28A0092B-C50C-407E-A947-70E740481C1C}">
                <a14:useLocalDpi xmlns:a14="http://schemas.microsoft.com/office/drawing/2010/main" val="0"/>
              </a:ext>
            </a:extLst>
          </a:blip>
          <a:srcRect/>
          <a:stretch>
            <a:fillRect l="-54000" r="-54000"/>
          </a:stretch>
        </a:blipFill>
      </dgm:spPr>
    </dgm:pt>
    <dgm:pt modelId="{18CDC134-EC26-4302-8A80-A2B1CFFDBA0C}" type="pres">
      <dgm:prSet presAssocID="{8490202C-8AB3-4F6B-9610-42F16D78046A}" presName="text" presStyleLbl="node1" presStyleIdx="2" presStyleCnt="4">
        <dgm:presLayoutVars>
          <dgm:bulletEnabled val="1"/>
        </dgm:presLayoutVars>
      </dgm:prSet>
      <dgm:spPr/>
    </dgm:pt>
    <dgm:pt modelId="{28B69B4F-4BD9-430F-988B-90D6F4B1B75F}" type="pres">
      <dgm:prSet presAssocID="{61070395-3615-4FE7-8E07-DC1C23F27B78}" presName="spacer" presStyleCnt="0"/>
      <dgm:spPr/>
    </dgm:pt>
    <dgm:pt modelId="{7BDE7453-AB22-4431-8E86-6141CDE8D805}" type="pres">
      <dgm:prSet presAssocID="{16140597-7790-49F5-B078-BB335E6E1C49}" presName="comp" presStyleCnt="0"/>
      <dgm:spPr/>
    </dgm:pt>
    <dgm:pt modelId="{0ECF2835-62FA-4E81-AC47-9F726E082FF9}" type="pres">
      <dgm:prSet presAssocID="{16140597-7790-49F5-B078-BB335E6E1C49}" presName="box" presStyleLbl="node1" presStyleIdx="3" presStyleCnt="4"/>
      <dgm:spPr/>
    </dgm:pt>
    <dgm:pt modelId="{6A5A5512-135D-41BE-969D-852AA632924F}" type="pres">
      <dgm:prSet presAssocID="{16140597-7790-49F5-B078-BB335E6E1C49}" presName="img" presStyleLbl="fgImgPlace1" presStyleIdx="3" presStyleCnt="4"/>
      <dgm:spPr>
        <a:blipFill>
          <a:blip xmlns:r="http://schemas.openxmlformats.org/officeDocument/2006/relationships" r:embed="rId4"/>
          <a:srcRect/>
          <a:stretch>
            <a:fillRect l="-46000" r="-46000"/>
          </a:stretch>
        </a:blipFill>
      </dgm:spPr>
    </dgm:pt>
    <dgm:pt modelId="{161EF041-26BB-4C43-B871-EEAF3CFF6B51}" type="pres">
      <dgm:prSet presAssocID="{16140597-7790-49F5-B078-BB335E6E1C49}" presName="text" presStyleLbl="node1" presStyleIdx="3" presStyleCnt="4">
        <dgm:presLayoutVars>
          <dgm:bulletEnabled val="1"/>
        </dgm:presLayoutVars>
      </dgm:prSet>
      <dgm:spPr/>
    </dgm:pt>
  </dgm:ptLst>
  <dgm:cxnLst>
    <dgm:cxn modelId="{8A0A8100-63F3-444D-9BA1-CC4F55F6E5FF}" type="presOf" srcId="{C80E153C-661C-4E82-BE1F-EF3384EF7041}" destId="{161EF041-26BB-4C43-B871-EEAF3CFF6B51}" srcOrd="1" destOrd="4" presId="urn:microsoft.com/office/officeart/2005/8/layout/vList4"/>
    <dgm:cxn modelId="{D5589E01-9853-4464-A303-E06A309D5D53}" type="presOf" srcId="{CB9F7AA4-1EAD-499A-8CEB-29D7E36EC512}" destId="{8E658DD8-FBB0-490F-9430-04E5E22A0775}" srcOrd="1" destOrd="3" presId="urn:microsoft.com/office/officeart/2005/8/layout/vList4"/>
    <dgm:cxn modelId="{CAA01211-1380-4D5E-A56A-DC9A5447EBE5}" type="presOf" srcId="{BA6EC5BD-F3DA-48F5-8F5C-358BD1E6EC7F}" destId="{8E658DD8-FBB0-490F-9430-04E5E22A0775}" srcOrd="1" destOrd="0" presId="urn:microsoft.com/office/officeart/2005/8/layout/vList4"/>
    <dgm:cxn modelId="{23002F19-E696-47F5-AEFA-E4690BFF51E7}" type="presOf" srcId="{A3449FD4-FC0A-4DD8-96FD-A9A996695610}" destId="{0ECF2835-62FA-4E81-AC47-9F726E082FF9}" srcOrd="0" destOrd="1" presId="urn:microsoft.com/office/officeart/2005/8/layout/vList4"/>
    <dgm:cxn modelId="{E7DC9B1E-6645-47C3-87DE-29653676A200}" type="presOf" srcId="{1309CABA-2B62-4077-9DBF-0CC97AA98F93}" destId="{4E802B98-7045-4C4B-88D9-C1B9A1FF9E37}" srcOrd="0" destOrd="2" presId="urn:microsoft.com/office/officeart/2005/8/layout/vList4"/>
    <dgm:cxn modelId="{D54AF120-A25E-48DF-BCC9-D659A8F18177}" srcId="{101F90D4-541D-4355-B1E3-E9DD0EB05D94}" destId="{BA6EC5BD-F3DA-48F5-8F5C-358BD1E6EC7F}" srcOrd="1" destOrd="0" parTransId="{B273154C-4DD7-4FD3-85EC-07204D3C6B56}" sibTransId="{E4901633-DDF5-45B3-9582-6D8CCC5702A5}"/>
    <dgm:cxn modelId="{D9543F22-8A57-41BA-B951-B878739EBB59}" type="presOf" srcId="{5C0B55AC-06BE-437E-A47B-6605F8CAB70E}" destId="{8E658DD8-FBB0-490F-9430-04E5E22A0775}" srcOrd="1" destOrd="1" presId="urn:microsoft.com/office/officeart/2005/8/layout/vList4"/>
    <dgm:cxn modelId="{8036B322-407A-42EF-9E28-C0E2D05B3DCF}" type="presOf" srcId="{E6124D05-AE3A-4552-86C4-1316292EFE90}" destId="{2B31CDDC-5140-48DE-B120-C67323158B65}" srcOrd="0" destOrd="1" presId="urn:microsoft.com/office/officeart/2005/8/layout/vList4"/>
    <dgm:cxn modelId="{DF21F025-FCAA-4500-B67D-A889CAAA3E44}" type="presOf" srcId="{BA6EC5BD-F3DA-48F5-8F5C-358BD1E6EC7F}" destId="{BA5C292D-67E6-4FEF-8C1D-A141130B5D91}" srcOrd="0" destOrd="0" presId="urn:microsoft.com/office/officeart/2005/8/layout/vList4"/>
    <dgm:cxn modelId="{382B8427-BD6D-4EE6-B457-FBCB9D0D98C9}" type="presOf" srcId="{5C0B55AC-06BE-437E-A47B-6605F8CAB70E}" destId="{BA5C292D-67E6-4FEF-8C1D-A141130B5D91}" srcOrd="0" destOrd="1" presId="urn:microsoft.com/office/officeart/2005/8/layout/vList4"/>
    <dgm:cxn modelId="{18DF4A29-4D6D-4D5E-965C-4F59B9E1A5D1}" type="presOf" srcId="{8490202C-8AB3-4F6B-9610-42F16D78046A}" destId="{4E802B98-7045-4C4B-88D9-C1B9A1FF9E37}" srcOrd="0" destOrd="0" presId="urn:microsoft.com/office/officeart/2005/8/layout/vList4"/>
    <dgm:cxn modelId="{B1D1682C-488F-4B0D-8E5E-1ABA4E31359E}" srcId="{8490202C-8AB3-4F6B-9610-42F16D78046A}" destId="{1309CABA-2B62-4077-9DBF-0CC97AA98F93}" srcOrd="1" destOrd="0" parTransId="{146CC25E-9A03-44FF-9CD9-3E8BBAA97F75}" sibTransId="{E59BB496-B44D-487B-97AC-46CDA7A25006}"/>
    <dgm:cxn modelId="{67BEE82D-E6DF-425D-8F4E-B585FA172661}" type="presOf" srcId="{B1172ED6-3F76-4BAD-9667-77D22C8A093F}" destId="{161EF041-26BB-4C43-B871-EEAF3CFF6B51}" srcOrd="1" destOrd="5" presId="urn:microsoft.com/office/officeart/2005/8/layout/vList4"/>
    <dgm:cxn modelId="{4AC8A139-84E5-4780-AC33-148FF98B921B}" type="presOf" srcId="{6DC1AE98-72CE-43A3-A4A6-1752C73D872D}" destId="{707FC1E4-2F83-4883-97D2-D2E7A24FE042}" srcOrd="1" destOrd="2" presId="urn:microsoft.com/office/officeart/2005/8/layout/vList4"/>
    <dgm:cxn modelId="{5111FF39-0B1E-403D-9163-C4EA004E1701}" srcId="{16140597-7790-49F5-B078-BB335E6E1C49}" destId="{C80E153C-661C-4E82-BE1F-EF3384EF7041}" srcOrd="3" destOrd="0" parTransId="{97ACEB2B-FA3F-4203-BF12-F799F425AEFF}" sibTransId="{8BB7E1B4-E930-4F23-854D-320E74FC3F73}"/>
    <dgm:cxn modelId="{1CA2D03B-6831-4434-8084-5637B0BC52B0}" type="presOf" srcId="{A3449FD4-FC0A-4DD8-96FD-A9A996695610}" destId="{161EF041-26BB-4C43-B871-EEAF3CFF6B51}" srcOrd="1" destOrd="1" presId="urn:microsoft.com/office/officeart/2005/8/layout/vList4"/>
    <dgm:cxn modelId="{B5891A3C-E9DA-468F-B887-F394B7ABD06C}" type="presOf" srcId="{7D991A65-901F-4AF2-AD97-F95C5E560B51}" destId="{0ECF2835-62FA-4E81-AC47-9F726E082FF9}" srcOrd="0" destOrd="3" presId="urn:microsoft.com/office/officeart/2005/8/layout/vList4"/>
    <dgm:cxn modelId="{5197DE3E-F299-4D04-9457-AA746AA775ED}" srcId="{8490202C-8AB3-4F6B-9610-42F16D78046A}" destId="{8701C10C-A421-4070-BD0C-B7A31757DF7A}" srcOrd="2" destOrd="0" parTransId="{462BC4BC-A4B2-42AC-9A57-E51B5A596C9A}" sibTransId="{9D56FD6B-D092-43BF-9643-E3C657C85337}"/>
    <dgm:cxn modelId="{08884040-54DE-4D12-8448-647108613D74}" type="presOf" srcId="{8995CDD5-CCC5-4A6D-A157-ABF183AE0EDA}" destId="{707FC1E4-2F83-4883-97D2-D2E7A24FE042}" srcOrd="1" destOrd="3" presId="urn:microsoft.com/office/officeart/2005/8/layout/vList4"/>
    <dgm:cxn modelId="{F5D71D60-C376-4550-939F-1EB3090D0634}" srcId="{BA6EC5BD-F3DA-48F5-8F5C-358BD1E6EC7F}" destId="{5C0B55AC-06BE-437E-A47B-6605F8CAB70E}" srcOrd="0" destOrd="0" parTransId="{3D866E28-12C0-4583-9BD8-927BBEE20FFE}" sibTransId="{83DB89B4-5FBB-4E2A-B8E1-A1F73638C3B8}"/>
    <dgm:cxn modelId="{E0C04644-7581-41A8-892C-0C7E7AE9EB2D}" srcId="{BA6EC5BD-F3DA-48F5-8F5C-358BD1E6EC7F}" destId="{1DFCF619-5786-4DC3-BB43-8316847CCB8C}" srcOrd="1" destOrd="0" parTransId="{0E2CF378-1840-4CC0-8C84-591CFFA9F490}" sibTransId="{54FD2695-F61C-408B-9667-99FCFA1CE723}"/>
    <dgm:cxn modelId="{C9E22C45-D424-439A-98A9-8E17FAFFC585}" type="presOf" srcId="{4DB61008-996A-4922-8566-428100BA0509}" destId="{0ECF2835-62FA-4E81-AC47-9F726E082FF9}" srcOrd="0" destOrd="2" presId="urn:microsoft.com/office/officeart/2005/8/layout/vList4"/>
    <dgm:cxn modelId="{376E516D-05A0-47FF-9757-7295F502F244}" type="presOf" srcId="{6DC1AE98-72CE-43A3-A4A6-1752C73D872D}" destId="{2B31CDDC-5140-48DE-B120-C67323158B65}" srcOrd="0" destOrd="2" presId="urn:microsoft.com/office/officeart/2005/8/layout/vList4"/>
    <dgm:cxn modelId="{6CF23770-7D80-457D-AAF3-97C2901BC4DE}" type="presOf" srcId="{1DFCF619-5786-4DC3-BB43-8316847CCB8C}" destId="{BA5C292D-67E6-4FEF-8C1D-A141130B5D91}" srcOrd="0" destOrd="2" presId="urn:microsoft.com/office/officeart/2005/8/layout/vList4"/>
    <dgm:cxn modelId="{29A39173-A477-4236-B64A-DD14A631BB7C}" srcId="{2A0FCD50-1E0E-41DE-A932-C72E0DD1AF21}" destId="{E6124D05-AE3A-4552-86C4-1316292EFE90}" srcOrd="0" destOrd="0" parTransId="{5D0A2CD3-D8A9-4DA6-8542-B16335EBBEE9}" sibTransId="{6F0C2662-0563-4A6F-9457-4D93A66395B2}"/>
    <dgm:cxn modelId="{D9F8E654-5F8B-4120-AF27-EAAC8D133175}" type="presOf" srcId="{16140597-7790-49F5-B078-BB335E6E1C49}" destId="{161EF041-26BB-4C43-B871-EEAF3CFF6B51}" srcOrd="1" destOrd="0" presId="urn:microsoft.com/office/officeart/2005/8/layout/vList4"/>
    <dgm:cxn modelId="{88480358-A205-4AC2-B1D0-C5CC6EE310F7}" type="presOf" srcId="{78F5100C-75CC-4055-8A0D-A03375C02053}" destId="{18CDC134-EC26-4302-8A80-A2B1CFFDBA0C}" srcOrd="1" destOrd="1" presId="urn:microsoft.com/office/officeart/2005/8/layout/vList4"/>
    <dgm:cxn modelId="{F91D305A-2283-40CD-86B0-B32A6820EC47}" srcId="{8490202C-8AB3-4F6B-9610-42F16D78046A}" destId="{78F5100C-75CC-4055-8A0D-A03375C02053}" srcOrd="0" destOrd="0" parTransId="{19D33E91-2D51-443F-BC82-F4A9BA661696}" sibTransId="{0C679D1B-D2F6-413F-9E68-140B5B07855C}"/>
    <dgm:cxn modelId="{D806FB7C-CCFF-4BC2-9710-26907A7E93B4}" type="presOf" srcId="{C80E153C-661C-4E82-BE1F-EF3384EF7041}" destId="{0ECF2835-62FA-4E81-AC47-9F726E082FF9}" srcOrd="0" destOrd="4" presId="urn:microsoft.com/office/officeart/2005/8/layout/vList4"/>
    <dgm:cxn modelId="{408A527F-7A6C-47C0-A842-2EEC2E1EAB80}" type="presOf" srcId="{8701C10C-A421-4070-BD0C-B7A31757DF7A}" destId="{18CDC134-EC26-4302-8A80-A2B1CFFDBA0C}" srcOrd="1" destOrd="3" presId="urn:microsoft.com/office/officeart/2005/8/layout/vList4"/>
    <dgm:cxn modelId="{0503348E-6448-46D9-B3D9-32AC8652143D}" type="presOf" srcId="{1DFCF619-5786-4DC3-BB43-8316847CCB8C}" destId="{8E658DD8-FBB0-490F-9430-04E5E22A0775}" srcOrd="1" destOrd="2" presId="urn:microsoft.com/office/officeart/2005/8/layout/vList4"/>
    <dgm:cxn modelId="{ADD7CD8E-7797-4FB3-8C5B-78BC7A4220C6}" type="presOf" srcId="{8701C10C-A421-4070-BD0C-B7A31757DF7A}" destId="{4E802B98-7045-4C4B-88D9-C1B9A1FF9E37}" srcOrd="0" destOrd="3" presId="urn:microsoft.com/office/officeart/2005/8/layout/vList4"/>
    <dgm:cxn modelId="{FD86F78F-72C3-4D6D-85C6-D73658630818}" srcId="{16140597-7790-49F5-B078-BB335E6E1C49}" destId="{B1172ED6-3F76-4BAD-9667-77D22C8A093F}" srcOrd="4" destOrd="0" parTransId="{D3CF25C6-5BC9-4638-B46C-1E71FBA8B238}" sibTransId="{A4CCFA66-3EA9-4E03-850C-F792781458F9}"/>
    <dgm:cxn modelId="{DAB55394-6F2A-4BE1-99A5-1099AD16862D}" srcId="{2A0FCD50-1E0E-41DE-A932-C72E0DD1AF21}" destId="{6DC1AE98-72CE-43A3-A4A6-1752C73D872D}" srcOrd="1" destOrd="0" parTransId="{65F5DF9D-C188-4E69-9AC2-E7C6938C8B36}" sibTransId="{EAEAED37-9C2D-4FD7-9B20-FDAFC4CBC808}"/>
    <dgm:cxn modelId="{532B6A9C-2BA3-4F4D-A2EC-547FAC4C0E4D}" type="presOf" srcId="{1309CABA-2B62-4077-9DBF-0CC97AA98F93}" destId="{18CDC134-EC26-4302-8A80-A2B1CFFDBA0C}" srcOrd="1" destOrd="2" presId="urn:microsoft.com/office/officeart/2005/8/layout/vList4"/>
    <dgm:cxn modelId="{C12C249D-56A4-4537-B5B7-05FDF21CEB7D}" type="presOf" srcId="{8995CDD5-CCC5-4A6D-A157-ABF183AE0EDA}" destId="{2B31CDDC-5140-48DE-B120-C67323158B65}" srcOrd="0" destOrd="3" presId="urn:microsoft.com/office/officeart/2005/8/layout/vList4"/>
    <dgm:cxn modelId="{1670EC9E-AF6A-460F-B98B-667E1C3F82E5}" type="presOf" srcId="{B1172ED6-3F76-4BAD-9667-77D22C8A093F}" destId="{0ECF2835-62FA-4E81-AC47-9F726E082FF9}" srcOrd="0" destOrd="5" presId="urn:microsoft.com/office/officeart/2005/8/layout/vList4"/>
    <dgm:cxn modelId="{F66545A6-7BF8-463C-A4EE-F9F91081990A}" srcId="{101F90D4-541D-4355-B1E3-E9DD0EB05D94}" destId="{16140597-7790-49F5-B078-BB335E6E1C49}" srcOrd="3" destOrd="0" parTransId="{79DD2BC2-8E3D-4DD1-9A21-BA9FB45693B4}" sibTransId="{37748454-247D-4234-B235-B9C75D6FC83F}"/>
    <dgm:cxn modelId="{63BD22AF-6303-4BFA-A7ED-A2CAA98DADA7}" srcId="{2A0FCD50-1E0E-41DE-A932-C72E0DD1AF21}" destId="{8995CDD5-CCC5-4A6D-A157-ABF183AE0EDA}" srcOrd="2" destOrd="0" parTransId="{74653CA2-04B8-47A1-A75D-4BCAA53F7C6D}" sibTransId="{EA5321BB-5749-43D3-A494-B67A0C2AB50F}"/>
    <dgm:cxn modelId="{826326B1-6A60-486B-AA0D-B65B857CCDEF}" type="presOf" srcId="{101F90D4-541D-4355-B1E3-E9DD0EB05D94}" destId="{F1CA93E0-677A-4973-83CA-68D7B63BBDA4}" srcOrd="0" destOrd="0" presId="urn:microsoft.com/office/officeart/2005/8/layout/vList4"/>
    <dgm:cxn modelId="{845C4DB7-C18A-442F-B602-C2AD4882423C}" srcId="{16140597-7790-49F5-B078-BB335E6E1C49}" destId="{4DB61008-996A-4922-8566-428100BA0509}" srcOrd="1" destOrd="0" parTransId="{41229090-F45F-4832-88F6-759DFADFD347}" sibTransId="{74386AB4-D1C5-4A5D-8B00-37E3CCEB7D69}"/>
    <dgm:cxn modelId="{75FFF8BA-9A29-4941-96D8-42C66C349892}" type="presOf" srcId="{16140597-7790-49F5-B078-BB335E6E1C49}" destId="{0ECF2835-62FA-4E81-AC47-9F726E082FF9}" srcOrd="0" destOrd="0" presId="urn:microsoft.com/office/officeart/2005/8/layout/vList4"/>
    <dgm:cxn modelId="{03623BBD-A62B-48E4-9702-30199F3AFD63}" type="presOf" srcId="{78F5100C-75CC-4055-8A0D-A03375C02053}" destId="{4E802B98-7045-4C4B-88D9-C1B9A1FF9E37}" srcOrd="0" destOrd="1" presId="urn:microsoft.com/office/officeart/2005/8/layout/vList4"/>
    <dgm:cxn modelId="{57D1A4BF-D22D-448B-A157-8ED3365C9E1D}" srcId="{101F90D4-541D-4355-B1E3-E9DD0EB05D94}" destId="{8490202C-8AB3-4F6B-9610-42F16D78046A}" srcOrd="2" destOrd="0" parTransId="{02323AF9-E020-42C6-922E-8B4B76A01299}" sibTransId="{61070395-3615-4FE7-8E07-DC1C23F27B78}"/>
    <dgm:cxn modelId="{87B5B9BF-3E58-4D6C-8203-AC010926E12E}" srcId="{BA6EC5BD-F3DA-48F5-8F5C-358BD1E6EC7F}" destId="{CB9F7AA4-1EAD-499A-8CEB-29D7E36EC512}" srcOrd="2" destOrd="0" parTransId="{F5B5F0DC-0470-4297-A041-3BD13050955F}" sibTransId="{466B3465-D127-48F4-9968-C17283F4FB36}"/>
    <dgm:cxn modelId="{B8A3F1C3-3ADB-4B10-89EC-97DAA36AC776}" type="presOf" srcId="{2A0FCD50-1E0E-41DE-A932-C72E0DD1AF21}" destId="{2B31CDDC-5140-48DE-B120-C67323158B65}" srcOrd="0" destOrd="0" presId="urn:microsoft.com/office/officeart/2005/8/layout/vList4"/>
    <dgm:cxn modelId="{67F756CC-6D1E-45F2-B780-55E02DF390E5}" srcId="{101F90D4-541D-4355-B1E3-E9DD0EB05D94}" destId="{2A0FCD50-1E0E-41DE-A932-C72E0DD1AF21}" srcOrd="0" destOrd="0" parTransId="{E409A17C-600D-46F6-80C5-97D183ED9244}" sibTransId="{2428CD6B-AFE8-4B70-A653-44CD65E6BE4B}"/>
    <dgm:cxn modelId="{75D0A7D1-807D-4BCA-85C7-121D7CE15314}" type="presOf" srcId="{7D991A65-901F-4AF2-AD97-F95C5E560B51}" destId="{161EF041-26BB-4C43-B871-EEAF3CFF6B51}" srcOrd="1" destOrd="3" presId="urn:microsoft.com/office/officeart/2005/8/layout/vList4"/>
    <dgm:cxn modelId="{0CFCC8D9-D634-46DD-8629-9E64ADC12671}" type="presOf" srcId="{CB9F7AA4-1EAD-499A-8CEB-29D7E36EC512}" destId="{BA5C292D-67E6-4FEF-8C1D-A141130B5D91}" srcOrd="0" destOrd="3" presId="urn:microsoft.com/office/officeart/2005/8/layout/vList4"/>
    <dgm:cxn modelId="{A8EC34DE-ABEF-4985-B60E-56DC9DF62D55}" type="presOf" srcId="{8490202C-8AB3-4F6B-9610-42F16D78046A}" destId="{18CDC134-EC26-4302-8A80-A2B1CFFDBA0C}" srcOrd="1" destOrd="0" presId="urn:microsoft.com/office/officeart/2005/8/layout/vList4"/>
    <dgm:cxn modelId="{DB345DE0-D4C0-416F-BB38-09960B5680C4}" srcId="{16140597-7790-49F5-B078-BB335E6E1C49}" destId="{A3449FD4-FC0A-4DD8-96FD-A9A996695610}" srcOrd="0" destOrd="0" parTransId="{E9CC05F2-3B07-4BF7-8E20-912030EE466B}" sibTransId="{4A97309B-B892-41C6-82B0-226601C41AB6}"/>
    <dgm:cxn modelId="{98E9F3E1-B1BB-40C7-8033-99B4D31D7143}" type="presOf" srcId="{E6124D05-AE3A-4552-86C4-1316292EFE90}" destId="{707FC1E4-2F83-4883-97D2-D2E7A24FE042}" srcOrd="1" destOrd="1" presId="urn:microsoft.com/office/officeart/2005/8/layout/vList4"/>
    <dgm:cxn modelId="{53D8A7EB-C3E6-4E9A-BDD4-EFF97A181F98}" type="presOf" srcId="{4DB61008-996A-4922-8566-428100BA0509}" destId="{161EF041-26BB-4C43-B871-EEAF3CFF6B51}" srcOrd="1" destOrd="2" presId="urn:microsoft.com/office/officeart/2005/8/layout/vList4"/>
    <dgm:cxn modelId="{0BC0E6F2-3942-45FE-A7BE-BE33C091BB20}" type="presOf" srcId="{2A0FCD50-1E0E-41DE-A932-C72E0DD1AF21}" destId="{707FC1E4-2F83-4883-97D2-D2E7A24FE042}" srcOrd="1" destOrd="0" presId="urn:microsoft.com/office/officeart/2005/8/layout/vList4"/>
    <dgm:cxn modelId="{246806F9-9BC1-4371-B4FC-5A3C0D9D9F75}" srcId="{16140597-7790-49F5-B078-BB335E6E1C49}" destId="{7D991A65-901F-4AF2-AD97-F95C5E560B51}" srcOrd="2" destOrd="0" parTransId="{2F5D011D-E1B1-4AAD-9EE3-C2589AE3240C}" sibTransId="{5F95FBEA-BA83-450C-A0E2-F5563A1FB022}"/>
    <dgm:cxn modelId="{1F43C9CD-D327-4CDF-BAC4-A1D42270F8C6}" type="presParOf" srcId="{F1CA93E0-677A-4973-83CA-68D7B63BBDA4}" destId="{83513E13-FBFC-4DD6-A0BE-57273BA6F14B}" srcOrd="0" destOrd="0" presId="urn:microsoft.com/office/officeart/2005/8/layout/vList4"/>
    <dgm:cxn modelId="{1AC62768-A02C-469C-B070-E757E4F112F2}" type="presParOf" srcId="{83513E13-FBFC-4DD6-A0BE-57273BA6F14B}" destId="{2B31CDDC-5140-48DE-B120-C67323158B65}" srcOrd="0" destOrd="0" presId="urn:microsoft.com/office/officeart/2005/8/layout/vList4"/>
    <dgm:cxn modelId="{8D875E2A-EF18-4AE9-8CF2-150A6F9172DF}" type="presParOf" srcId="{83513E13-FBFC-4DD6-A0BE-57273BA6F14B}" destId="{3825FDF5-EEEE-4D60-8D6E-E6CF01ABCE94}" srcOrd="1" destOrd="0" presId="urn:microsoft.com/office/officeart/2005/8/layout/vList4"/>
    <dgm:cxn modelId="{E8DE652A-A610-4670-981A-9FA7727E9E6D}" type="presParOf" srcId="{83513E13-FBFC-4DD6-A0BE-57273BA6F14B}" destId="{707FC1E4-2F83-4883-97D2-D2E7A24FE042}" srcOrd="2" destOrd="0" presId="urn:microsoft.com/office/officeart/2005/8/layout/vList4"/>
    <dgm:cxn modelId="{00F899C6-9E6D-424A-BB53-008EDDC12FBA}" type="presParOf" srcId="{F1CA93E0-677A-4973-83CA-68D7B63BBDA4}" destId="{B816521C-7770-4C05-8FAB-1E552AF4D255}" srcOrd="1" destOrd="0" presId="urn:microsoft.com/office/officeart/2005/8/layout/vList4"/>
    <dgm:cxn modelId="{1EA9D936-A5CC-47BB-A477-E4D581F81992}" type="presParOf" srcId="{F1CA93E0-677A-4973-83CA-68D7B63BBDA4}" destId="{795A46E4-B9F9-42BF-A130-B63F4CB5880E}" srcOrd="2" destOrd="0" presId="urn:microsoft.com/office/officeart/2005/8/layout/vList4"/>
    <dgm:cxn modelId="{B1A2D753-5C1F-45E7-AB8F-B6F404F6D5F6}" type="presParOf" srcId="{795A46E4-B9F9-42BF-A130-B63F4CB5880E}" destId="{BA5C292D-67E6-4FEF-8C1D-A141130B5D91}" srcOrd="0" destOrd="0" presId="urn:microsoft.com/office/officeart/2005/8/layout/vList4"/>
    <dgm:cxn modelId="{CC45A781-E465-44C2-8482-525BDEE5EC88}" type="presParOf" srcId="{795A46E4-B9F9-42BF-A130-B63F4CB5880E}" destId="{75F5D493-8462-4D1A-81D2-88D6E2760892}" srcOrd="1" destOrd="0" presId="urn:microsoft.com/office/officeart/2005/8/layout/vList4"/>
    <dgm:cxn modelId="{5C70C2D8-303F-418C-A866-1CD531D45B5A}" type="presParOf" srcId="{795A46E4-B9F9-42BF-A130-B63F4CB5880E}" destId="{8E658DD8-FBB0-490F-9430-04E5E22A0775}" srcOrd="2" destOrd="0" presId="urn:microsoft.com/office/officeart/2005/8/layout/vList4"/>
    <dgm:cxn modelId="{51575E76-63DC-404C-933B-FDE9D0DD616A}" type="presParOf" srcId="{F1CA93E0-677A-4973-83CA-68D7B63BBDA4}" destId="{778CB53F-485B-4B6B-8548-8BA276654903}" srcOrd="3" destOrd="0" presId="urn:microsoft.com/office/officeart/2005/8/layout/vList4"/>
    <dgm:cxn modelId="{13D623D1-E572-4160-A15E-C9B7D9F8D362}" type="presParOf" srcId="{F1CA93E0-677A-4973-83CA-68D7B63BBDA4}" destId="{F8D520D6-1F86-402E-AFD6-3309E5CEBBED}" srcOrd="4" destOrd="0" presId="urn:microsoft.com/office/officeart/2005/8/layout/vList4"/>
    <dgm:cxn modelId="{8F0A3D1B-8AF3-440A-B470-3CAFB68E277A}" type="presParOf" srcId="{F8D520D6-1F86-402E-AFD6-3309E5CEBBED}" destId="{4E802B98-7045-4C4B-88D9-C1B9A1FF9E37}" srcOrd="0" destOrd="0" presId="urn:microsoft.com/office/officeart/2005/8/layout/vList4"/>
    <dgm:cxn modelId="{2DF6C24B-FCE5-4404-80E3-D5247002B199}" type="presParOf" srcId="{F8D520D6-1F86-402E-AFD6-3309E5CEBBED}" destId="{AE8F8CC7-A87E-42D2-9128-6A1B5CF9B515}" srcOrd="1" destOrd="0" presId="urn:microsoft.com/office/officeart/2005/8/layout/vList4"/>
    <dgm:cxn modelId="{1B13F629-FEC1-4D5B-89DE-D9AA601715C5}" type="presParOf" srcId="{F8D520D6-1F86-402E-AFD6-3309E5CEBBED}" destId="{18CDC134-EC26-4302-8A80-A2B1CFFDBA0C}" srcOrd="2" destOrd="0" presId="urn:microsoft.com/office/officeart/2005/8/layout/vList4"/>
    <dgm:cxn modelId="{5FEA8360-432E-4504-9CE6-6EBDB6E9AE88}" type="presParOf" srcId="{F1CA93E0-677A-4973-83CA-68D7B63BBDA4}" destId="{28B69B4F-4BD9-430F-988B-90D6F4B1B75F}" srcOrd="5" destOrd="0" presId="urn:microsoft.com/office/officeart/2005/8/layout/vList4"/>
    <dgm:cxn modelId="{C53FF374-72EA-400D-969B-A403FB7A85A9}" type="presParOf" srcId="{F1CA93E0-677A-4973-83CA-68D7B63BBDA4}" destId="{7BDE7453-AB22-4431-8E86-6141CDE8D805}" srcOrd="6" destOrd="0" presId="urn:microsoft.com/office/officeart/2005/8/layout/vList4"/>
    <dgm:cxn modelId="{EA4EC3F3-D895-4914-9857-AC7C8214C27D}" type="presParOf" srcId="{7BDE7453-AB22-4431-8E86-6141CDE8D805}" destId="{0ECF2835-62FA-4E81-AC47-9F726E082FF9}" srcOrd="0" destOrd="0" presId="urn:microsoft.com/office/officeart/2005/8/layout/vList4"/>
    <dgm:cxn modelId="{E7EAE44C-755C-4923-ACF3-5E1B2083BDCC}" type="presParOf" srcId="{7BDE7453-AB22-4431-8E86-6141CDE8D805}" destId="{6A5A5512-135D-41BE-969D-852AA632924F}" srcOrd="1" destOrd="0" presId="urn:microsoft.com/office/officeart/2005/8/layout/vList4"/>
    <dgm:cxn modelId="{7D1AA19F-39B5-4CAC-BED7-81F5E933F0E0}" type="presParOf" srcId="{7BDE7453-AB22-4431-8E86-6141CDE8D805}" destId="{161EF041-26BB-4C43-B871-EEAF3CFF6B51}" srcOrd="2" destOrd="0" presId="urn:microsoft.com/office/officeart/2005/8/layout/vList4"/>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31CDDC-5140-48DE-B120-C67323158B65}">
      <dsp:nvSpPr>
        <dsp:cNvPr id="0" name=""/>
        <dsp:cNvSpPr/>
      </dsp:nvSpPr>
      <dsp:spPr>
        <a:xfrm>
          <a:off x="0" y="0"/>
          <a:ext cx="10515600" cy="101134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s-CO" sz="1100" kern="1200" dirty="0"/>
            <a:t>RGB</a:t>
          </a:r>
        </a:p>
        <a:p>
          <a:pPr marL="57150" lvl="1" indent="-57150" algn="l" defTabSz="400050">
            <a:lnSpc>
              <a:spcPct val="90000"/>
            </a:lnSpc>
            <a:spcBef>
              <a:spcPct val="0"/>
            </a:spcBef>
            <a:spcAft>
              <a:spcPct val="15000"/>
            </a:spcAft>
            <a:buChar char="•"/>
          </a:pPr>
          <a:r>
            <a:rPr lang="es-ES" sz="900" kern="1200"/>
            <a:t>Captura imágenes en color real.</a:t>
          </a:r>
          <a:endParaRPr lang="es-CO" sz="900" kern="1200"/>
        </a:p>
        <a:p>
          <a:pPr marL="57150" lvl="1" indent="-57150" algn="l" defTabSz="400050">
            <a:lnSpc>
              <a:spcPct val="90000"/>
            </a:lnSpc>
            <a:spcBef>
              <a:spcPct val="0"/>
            </a:spcBef>
            <a:spcAft>
              <a:spcPct val="15000"/>
            </a:spcAft>
            <a:buChar char="•"/>
          </a:pPr>
          <a:r>
            <a:rPr lang="es-ES" sz="900" kern="1200"/>
            <a:t>Ideal para fotografía y videografía estándar.</a:t>
          </a:r>
        </a:p>
        <a:p>
          <a:pPr marL="57150" lvl="1" indent="-57150" algn="l" defTabSz="400050">
            <a:lnSpc>
              <a:spcPct val="90000"/>
            </a:lnSpc>
            <a:spcBef>
              <a:spcPct val="0"/>
            </a:spcBef>
            <a:spcAft>
              <a:spcPct val="15000"/>
            </a:spcAft>
            <a:buChar char="•"/>
          </a:pPr>
          <a:r>
            <a:rPr lang="es-ES" sz="900" kern="1200" dirty="0"/>
            <a:t>Ejemplo de Uso: Creación de mapas visuales y seguimiento de objetos.</a:t>
          </a:r>
        </a:p>
      </dsp:txBody>
      <dsp:txXfrm>
        <a:off x="2204254" y="0"/>
        <a:ext cx="8311345" cy="1011346"/>
      </dsp:txXfrm>
    </dsp:sp>
    <dsp:sp modelId="{3825FDF5-EEEE-4D60-8D6E-E6CF01ABCE94}">
      <dsp:nvSpPr>
        <dsp:cNvPr id="0" name=""/>
        <dsp:cNvSpPr/>
      </dsp:nvSpPr>
      <dsp:spPr>
        <a:xfrm>
          <a:off x="101134" y="101134"/>
          <a:ext cx="2103120" cy="809076"/>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5000" r="-1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A5C292D-67E6-4FEF-8C1D-A141130B5D91}">
      <dsp:nvSpPr>
        <dsp:cNvPr id="0" name=""/>
        <dsp:cNvSpPr/>
      </dsp:nvSpPr>
      <dsp:spPr>
        <a:xfrm>
          <a:off x="0" y="1112480"/>
          <a:ext cx="10515600" cy="1011346"/>
        </a:xfrm>
        <a:prstGeom prst="roundRect">
          <a:avLst>
            <a:gd name="adj" fmla="val 10000"/>
          </a:avLst>
        </a:prstGeom>
        <a:solidFill>
          <a:schemeClr val="accent5">
            <a:hueOff val="-2451115"/>
            <a:satOff val="-3409"/>
            <a:lumOff val="-130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s-CO" sz="1100" kern="1200" dirty="0"/>
            <a:t>Cámara Multiespectral</a:t>
          </a:r>
        </a:p>
        <a:p>
          <a:pPr marL="57150" lvl="1" indent="-57150" algn="l" defTabSz="400050">
            <a:lnSpc>
              <a:spcPct val="90000"/>
            </a:lnSpc>
            <a:spcBef>
              <a:spcPct val="0"/>
            </a:spcBef>
            <a:spcAft>
              <a:spcPct val="15000"/>
            </a:spcAft>
            <a:buChar char="•"/>
          </a:pPr>
          <a:r>
            <a:rPr lang="es-ES" sz="900" kern="1200"/>
            <a:t>Captura imágenes en varios espectros de luz.</a:t>
          </a:r>
          <a:endParaRPr lang="es-CO" sz="900" kern="1200" dirty="0"/>
        </a:p>
        <a:p>
          <a:pPr marL="57150" lvl="1" indent="-57150" algn="l" defTabSz="400050">
            <a:lnSpc>
              <a:spcPct val="90000"/>
            </a:lnSpc>
            <a:spcBef>
              <a:spcPct val="0"/>
            </a:spcBef>
            <a:spcAft>
              <a:spcPct val="15000"/>
            </a:spcAft>
            <a:buChar char="•"/>
          </a:pPr>
          <a:r>
            <a:rPr lang="es-ES" sz="900" kern="1200"/>
            <a:t>Permite análisis detallado de vegetación y salud de cultivos.</a:t>
          </a:r>
        </a:p>
        <a:p>
          <a:pPr marL="57150" lvl="1" indent="-57150" algn="l" defTabSz="400050">
            <a:lnSpc>
              <a:spcPct val="90000"/>
            </a:lnSpc>
            <a:spcBef>
              <a:spcPct val="0"/>
            </a:spcBef>
            <a:spcAft>
              <a:spcPct val="15000"/>
            </a:spcAft>
            <a:buChar char="•"/>
          </a:pPr>
          <a:r>
            <a:rPr lang="es-ES" sz="900" kern="1200"/>
            <a:t>Ejemplo de Uso: Agricultura de precisión y detección de estrés en plantas.</a:t>
          </a:r>
        </a:p>
      </dsp:txBody>
      <dsp:txXfrm>
        <a:off x="2204254" y="1112480"/>
        <a:ext cx="8311345" cy="1011346"/>
      </dsp:txXfrm>
    </dsp:sp>
    <dsp:sp modelId="{75F5D493-8462-4D1A-81D2-88D6E2760892}">
      <dsp:nvSpPr>
        <dsp:cNvPr id="0" name=""/>
        <dsp:cNvSpPr/>
      </dsp:nvSpPr>
      <dsp:spPr>
        <a:xfrm>
          <a:off x="101134" y="1213615"/>
          <a:ext cx="2103120" cy="809076"/>
        </a:xfrm>
        <a:prstGeom prst="roundRect">
          <a:avLst>
            <a:gd name="adj" fmla="val 1000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39000" r="-39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E802B98-7045-4C4B-88D9-C1B9A1FF9E37}">
      <dsp:nvSpPr>
        <dsp:cNvPr id="0" name=""/>
        <dsp:cNvSpPr/>
      </dsp:nvSpPr>
      <dsp:spPr>
        <a:xfrm>
          <a:off x="0" y="2224961"/>
          <a:ext cx="10515600" cy="1011346"/>
        </a:xfrm>
        <a:prstGeom prst="roundRect">
          <a:avLst>
            <a:gd name="adj" fmla="val 10000"/>
          </a:avLst>
        </a:prstGeom>
        <a:solidFill>
          <a:schemeClr val="accent5">
            <a:hueOff val="-4902230"/>
            <a:satOff val="-6819"/>
            <a:lumOff val="-26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s-CO" sz="1100" kern="1200" dirty="0"/>
            <a:t>Cámara Térmica</a:t>
          </a:r>
        </a:p>
        <a:p>
          <a:pPr marL="57150" lvl="1" indent="-57150" algn="l" defTabSz="400050">
            <a:lnSpc>
              <a:spcPct val="90000"/>
            </a:lnSpc>
            <a:spcBef>
              <a:spcPct val="0"/>
            </a:spcBef>
            <a:spcAft>
              <a:spcPct val="15000"/>
            </a:spcAft>
            <a:buChar char="•"/>
          </a:pPr>
          <a:r>
            <a:rPr lang="es-ES" sz="900" kern="1200" dirty="0"/>
            <a:t>Detecta y mide la radiación infrarroja emitida por objetos.</a:t>
          </a:r>
          <a:endParaRPr lang="es-CO" sz="900" kern="1200" dirty="0"/>
        </a:p>
        <a:p>
          <a:pPr marL="57150" lvl="1" indent="-57150" algn="l" defTabSz="400050">
            <a:lnSpc>
              <a:spcPct val="90000"/>
            </a:lnSpc>
            <a:spcBef>
              <a:spcPct val="0"/>
            </a:spcBef>
            <a:spcAft>
              <a:spcPct val="15000"/>
            </a:spcAft>
            <a:buChar char="•"/>
          </a:pPr>
          <a:r>
            <a:rPr lang="es-ES" sz="900" kern="1200" dirty="0"/>
            <a:t>Útil para detectar cambios de temperatura y localizar puntos calientes.</a:t>
          </a:r>
        </a:p>
        <a:p>
          <a:pPr marL="57150" lvl="1" indent="-57150" algn="l" defTabSz="400050">
            <a:lnSpc>
              <a:spcPct val="90000"/>
            </a:lnSpc>
            <a:spcBef>
              <a:spcPct val="0"/>
            </a:spcBef>
            <a:spcAft>
              <a:spcPct val="15000"/>
            </a:spcAft>
            <a:buChar char="•"/>
          </a:pPr>
          <a:r>
            <a:rPr lang="es-ES" sz="900" kern="1200" dirty="0"/>
            <a:t>Ejemplo de Uso: Inspección de infraestructuras, búsqueda y rescate.</a:t>
          </a:r>
        </a:p>
      </dsp:txBody>
      <dsp:txXfrm>
        <a:off x="2204254" y="2224961"/>
        <a:ext cx="8311345" cy="1011346"/>
      </dsp:txXfrm>
    </dsp:sp>
    <dsp:sp modelId="{AE8F8CC7-A87E-42D2-9128-6A1B5CF9B515}">
      <dsp:nvSpPr>
        <dsp:cNvPr id="0" name=""/>
        <dsp:cNvSpPr/>
      </dsp:nvSpPr>
      <dsp:spPr>
        <a:xfrm>
          <a:off x="101134" y="2326096"/>
          <a:ext cx="2103120" cy="809076"/>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54000" r="-54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CF2835-62FA-4E81-AC47-9F726E082FF9}">
      <dsp:nvSpPr>
        <dsp:cNvPr id="0" name=""/>
        <dsp:cNvSpPr/>
      </dsp:nvSpPr>
      <dsp:spPr>
        <a:xfrm>
          <a:off x="0" y="3337442"/>
          <a:ext cx="10515600" cy="1011346"/>
        </a:xfrm>
        <a:prstGeom prst="roundRect">
          <a:avLst>
            <a:gd name="adj" fmla="val 10000"/>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s-ES" sz="1100" kern="1200" dirty="0"/>
            <a:t>LIDAR</a:t>
          </a:r>
        </a:p>
        <a:p>
          <a:pPr marL="57150" lvl="1" indent="-57150" algn="l" defTabSz="400050">
            <a:lnSpc>
              <a:spcPct val="90000"/>
            </a:lnSpc>
            <a:spcBef>
              <a:spcPct val="0"/>
            </a:spcBef>
            <a:spcAft>
              <a:spcPct val="15000"/>
            </a:spcAft>
            <a:buChar char="•"/>
          </a:pPr>
          <a:r>
            <a:rPr lang="es-ES" sz="900" kern="1200" dirty="0"/>
            <a:t>Emite pulsos láser para medir distancias y crear mapas 3D.</a:t>
          </a:r>
        </a:p>
        <a:p>
          <a:pPr marL="57150" lvl="1" indent="-57150" algn="l" defTabSz="400050">
            <a:lnSpc>
              <a:spcPct val="90000"/>
            </a:lnSpc>
            <a:spcBef>
              <a:spcPct val="0"/>
            </a:spcBef>
            <a:spcAft>
              <a:spcPct val="15000"/>
            </a:spcAft>
            <a:buChar char="•"/>
          </a:pPr>
          <a:r>
            <a:rPr lang="es-ES" sz="900" kern="1200"/>
            <a:t>Alta precisión en la detección de obstáculos y modelado del terreno.</a:t>
          </a:r>
          <a:endParaRPr lang="es-ES" sz="900" kern="1200" dirty="0"/>
        </a:p>
        <a:p>
          <a:pPr marL="57150" lvl="1" indent="-57150" algn="l" defTabSz="400050">
            <a:lnSpc>
              <a:spcPct val="90000"/>
            </a:lnSpc>
            <a:spcBef>
              <a:spcPct val="0"/>
            </a:spcBef>
            <a:spcAft>
              <a:spcPct val="15000"/>
            </a:spcAft>
            <a:buChar char="•"/>
          </a:pPr>
          <a:r>
            <a:rPr lang="es-ES" sz="900" kern="1200"/>
            <a:t>Ejemplo de Uso: Mapeo topográfico, inspección de edificios y detección de vegetación.</a:t>
          </a:r>
        </a:p>
        <a:p>
          <a:pPr marL="57150" lvl="1" indent="-57150" algn="l" defTabSz="400050">
            <a:lnSpc>
              <a:spcPct val="90000"/>
            </a:lnSpc>
            <a:spcBef>
              <a:spcPct val="0"/>
            </a:spcBef>
            <a:spcAft>
              <a:spcPct val="15000"/>
            </a:spcAft>
            <a:buChar char="•"/>
          </a:pPr>
          <a:endParaRPr lang="es-ES" sz="900" kern="1200" dirty="0"/>
        </a:p>
        <a:p>
          <a:pPr marL="57150" lvl="1" indent="-57150" algn="l" defTabSz="400050">
            <a:lnSpc>
              <a:spcPct val="90000"/>
            </a:lnSpc>
            <a:spcBef>
              <a:spcPct val="0"/>
            </a:spcBef>
            <a:spcAft>
              <a:spcPct val="15000"/>
            </a:spcAft>
            <a:buChar char="•"/>
          </a:pPr>
          <a:endParaRPr lang="es-ES" sz="900" kern="1200" dirty="0"/>
        </a:p>
      </dsp:txBody>
      <dsp:txXfrm>
        <a:off x="2204254" y="3337442"/>
        <a:ext cx="8311345" cy="1011346"/>
      </dsp:txXfrm>
    </dsp:sp>
    <dsp:sp modelId="{6A5A5512-135D-41BE-969D-852AA632924F}">
      <dsp:nvSpPr>
        <dsp:cNvPr id="0" name=""/>
        <dsp:cNvSpPr/>
      </dsp:nvSpPr>
      <dsp:spPr>
        <a:xfrm>
          <a:off x="101134" y="3438576"/>
          <a:ext cx="2103120" cy="809076"/>
        </a:xfrm>
        <a:prstGeom prst="roundRect">
          <a:avLst>
            <a:gd name="adj" fmla="val 10000"/>
          </a:avLst>
        </a:prstGeom>
        <a:blipFill>
          <a:blip xmlns:r="http://schemas.openxmlformats.org/officeDocument/2006/relationships" r:embed="rId4"/>
          <a:srcRect/>
          <a:stretch>
            <a:fillRect l="-46000" r="-46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684446-62C8-4C50-8DCF-2AB0F3D6429D}" type="datetimeFigureOut">
              <a:rPr lang="es-CO" smtClean="0"/>
              <a:t>17/09/2026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DF21EC-FE6F-4F6C-AED3-62F30E5F853E}" type="slidenum">
              <a:rPr lang="es-CO" smtClean="0"/>
              <a:t>‹Nº›</a:t>
            </a:fld>
            <a:endParaRPr lang="es-CO"/>
          </a:p>
        </p:txBody>
      </p:sp>
    </p:spTree>
    <p:extLst>
      <p:ext uri="{BB962C8B-B14F-4D97-AF65-F5344CB8AC3E}">
        <p14:creationId xmlns:p14="http://schemas.microsoft.com/office/powerpoint/2010/main" val="3700051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mobatime.com/es/tecnologia/gnss-guia-del-sistema-mundial-de-navegacion-por-satelite/"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rtl="0"/>
            <a:r>
              <a:rPr lang="es-ES" sz="1200" dirty="0" err="1">
                <a:latin typeface="Humanst521 BT" panose="020B0602020204020204" pitchFamily="34" charset="0"/>
              </a:rPr>
              <a:t>Multirrotor</a:t>
            </a:r>
            <a:r>
              <a:rPr lang="es-ES" sz="1200" dirty="0">
                <a:latin typeface="Humanst521 BT" panose="020B0602020204020204" pitchFamily="34" charset="0"/>
              </a:rPr>
              <a:t>: inspección, fotografía/video, agricultura de precisión a pequeña escala, levantamientos topográficos puntuales.</a:t>
            </a:r>
          </a:p>
          <a:p>
            <a:pPr algn="just" rtl="0"/>
            <a:r>
              <a:rPr lang="es-ES" sz="1200" dirty="0">
                <a:latin typeface="Humanst521 BT" panose="020B0602020204020204" pitchFamily="34" charset="0"/>
              </a:rPr>
              <a:t>Ala fija: levantamientos fotogramétricos de grandes extensiones, monitoreo agrícola o ambiental a gran escala, donde la autonomía importa más que la maniobrabilidad.</a:t>
            </a:r>
          </a:p>
          <a:p>
            <a:pPr algn="just" rtl="0"/>
            <a:r>
              <a:rPr lang="es-ES" sz="1200" dirty="0">
                <a:latin typeface="Humanst521 BT" panose="020B0602020204020204" pitchFamily="34" charset="0"/>
              </a:rPr>
              <a:t>Híbridos (VTOL de ala fija): combinan despegue/aterrizaje vertical con vuelo de crucero eficiente — útiles cuando no hay espacio para pista pero se necesita cubrir área extensa.</a:t>
            </a:r>
          </a:p>
          <a:p>
            <a:endParaRPr lang="es-CO"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6</a:t>
            </a:fld>
            <a:endParaRPr lang="es-CO"/>
          </a:p>
        </p:txBody>
      </p:sp>
    </p:spTree>
    <p:extLst>
      <p:ext uri="{BB962C8B-B14F-4D97-AF65-F5344CB8AC3E}">
        <p14:creationId xmlns:p14="http://schemas.microsoft.com/office/powerpoint/2010/main" val="758855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por ejemplo, "un estudiante que vuela su dron de 500 gramos como hobby" (categoría abierta, sin registro por debajo de 200g solo si aplica) vs. "una empresa que hace inspección de torres eléctricas con un dron de 8 kg" (categoría específica, por ser actividad comercial).</a:t>
            </a:r>
          </a:p>
          <a:p>
            <a:r>
              <a:rPr lang="es-CO" sz="1800" b="1" i="0" u="none" strike="noStrike" baseline="0" dirty="0">
                <a:solidFill>
                  <a:srgbClr val="000000"/>
                </a:solidFill>
                <a:latin typeface="Arial" panose="020B0604020202020204" pitchFamily="34" charset="0"/>
              </a:rPr>
              <a:t>Inspección operacional </a:t>
            </a:r>
            <a:endParaRPr lang="es-CO" sz="1800" b="0" i="0" u="none" strike="noStrike" baseline="0" dirty="0">
              <a:solidFill>
                <a:srgbClr val="000000"/>
              </a:solidFill>
              <a:latin typeface="Arial" panose="020B0604020202020204" pitchFamily="34" charset="0"/>
            </a:endParaRPr>
          </a:p>
          <a:p>
            <a:r>
              <a:rPr lang="es-ES" sz="1800" b="0" i="0" u="none" strike="noStrike" baseline="0" dirty="0">
                <a:solidFill>
                  <a:srgbClr val="000000"/>
                </a:solidFill>
                <a:latin typeface="Arial" panose="020B0604020202020204" pitchFamily="34" charset="0"/>
              </a:rPr>
              <a:t>(a) Toda operación UAS es susceptible de ser inspeccionada de manera aleatoria por parte de la UAEAC. </a:t>
            </a:r>
          </a:p>
          <a:p>
            <a:pPr algn="l"/>
            <a:endParaRPr lang="es-CO" sz="1800" b="0" i="0" u="none" strike="noStrike" baseline="0" dirty="0">
              <a:solidFill>
                <a:srgbClr val="000000"/>
              </a:solidFill>
              <a:latin typeface="Arial" panose="020B0604020202020204" pitchFamily="34" charset="0"/>
            </a:endParaRPr>
          </a:p>
          <a:p>
            <a:r>
              <a:rPr lang="es-ES" sz="1800" b="0" i="0" u="none" strike="noStrike" baseline="0" dirty="0">
                <a:solidFill>
                  <a:srgbClr val="000000"/>
                </a:solidFill>
                <a:latin typeface="Arial" panose="020B0604020202020204" pitchFamily="34" charset="0"/>
              </a:rPr>
              <a:t>(b) Todo operador UA (categoría abierta) debe tener consigo y disponible durante el desarrollo de una operación UA el correspondiente certificado de registro de la UA expedido por la UAEAC. </a:t>
            </a:r>
          </a:p>
          <a:p>
            <a:endParaRPr lang="es-CO"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8</a:t>
            </a:fld>
            <a:endParaRPr lang="es-CO"/>
          </a:p>
        </p:txBody>
      </p:sp>
    </p:spTree>
    <p:extLst>
      <p:ext uri="{BB962C8B-B14F-4D97-AF65-F5344CB8AC3E}">
        <p14:creationId xmlns:p14="http://schemas.microsoft.com/office/powerpoint/2010/main" val="687140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endParaRPr lang="es-CO" sz="1800" b="0" i="0" u="none" strike="noStrike" baseline="0" dirty="0">
              <a:solidFill>
                <a:srgbClr val="000000"/>
              </a:solidFill>
              <a:latin typeface="Arial" panose="020B0604020202020204" pitchFamily="34" charset="0"/>
            </a:endParaRPr>
          </a:p>
          <a:p>
            <a:r>
              <a:rPr lang="es-ES" sz="1800" b="0" i="0" u="none" strike="noStrike" baseline="0" dirty="0">
                <a:solidFill>
                  <a:srgbClr val="000000"/>
                </a:solidFill>
                <a:latin typeface="Arial" panose="020B0604020202020204" pitchFamily="34" charset="0"/>
              </a:rPr>
              <a:t>(c) Todo piloto UAS (categoría específica) o explotador UAS debe tener consigo y disponible durante el desarrollo de una operación UAS los siguientes documentos: </a:t>
            </a:r>
          </a:p>
          <a:p>
            <a:endParaRPr lang="es-CO" sz="1800" b="0" i="0" u="none" strike="noStrike" baseline="0" dirty="0">
              <a:solidFill>
                <a:srgbClr val="000000"/>
              </a:solidFill>
              <a:latin typeface="Arial" panose="020B0604020202020204" pitchFamily="34" charset="0"/>
            </a:endParaRPr>
          </a:p>
          <a:p>
            <a:r>
              <a:rPr lang="es-CO" sz="1800" b="0" i="0" u="none" strike="noStrike" baseline="0" dirty="0">
                <a:solidFill>
                  <a:srgbClr val="000000"/>
                </a:solidFill>
                <a:latin typeface="Arial" panose="020B0604020202020204" pitchFamily="34" charset="0"/>
              </a:rPr>
              <a:t>(1) Certificado de registro del UAS expedido por la UAEAC; </a:t>
            </a:r>
          </a:p>
          <a:p>
            <a:endParaRPr lang="es-CO" sz="1800" b="0" i="0" u="none" strike="noStrike" baseline="0" dirty="0">
              <a:solidFill>
                <a:srgbClr val="000000"/>
              </a:solidFill>
              <a:latin typeface="Arial" panose="020B0604020202020204" pitchFamily="34" charset="0"/>
            </a:endParaRPr>
          </a:p>
          <a:p>
            <a:r>
              <a:rPr lang="es-ES" sz="1800" b="0" i="0" u="none" strike="noStrike" baseline="0" dirty="0">
                <a:solidFill>
                  <a:srgbClr val="000000"/>
                </a:solidFill>
                <a:latin typeface="Arial" panose="020B0604020202020204" pitchFamily="34" charset="0"/>
              </a:rPr>
              <a:t>(2) Copia de la póliza de responsabilidad civil extracontractual en los términos de este reglamento; </a:t>
            </a:r>
          </a:p>
          <a:p>
            <a:endParaRPr lang="es-CO" sz="1800" b="0" i="0" u="none" strike="noStrike" baseline="0" dirty="0">
              <a:solidFill>
                <a:srgbClr val="000000"/>
              </a:solidFill>
              <a:latin typeface="Arial" panose="020B0604020202020204" pitchFamily="34" charset="0"/>
            </a:endParaRPr>
          </a:p>
          <a:p>
            <a:r>
              <a:rPr lang="es-ES" sz="1800" b="0" i="0" u="none" strike="noStrike" baseline="0" dirty="0">
                <a:solidFill>
                  <a:srgbClr val="000000"/>
                </a:solidFill>
                <a:latin typeface="Arial" panose="020B0604020202020204" pitchFamily="34" charset="0"/>
              </a:rPr>
              <a:t>(3) Certificado de idoneidad de cada piloto UAS que participe en la operación, expedido por la UAEAC; </a:t>
            </a:r>
          </a:p>
          <a:p>
            <a:endParaRPr lang="es-CO" sz="1800" b="0" i="0" u="none" strike="noStrike" baseline="0" dirty="0">
              <a:solidFill>
                <a:srgbClr val="000000"/>
              </a:solidFill>
              <a:latin typeface="Arial" panose="020B0604020202020204" pitchFamily="34" charset="0"/>
            </a:endParaRPr>
          </a:p>
          <a:p>
            <a:r>
              <a:rPr lang="es-ES" sz="1800" b="0" i="0" u="none" strike="noStrike" baseline="0" dirty="0">
                <a:solidFill>
                  <a:srgbClr val="000000"/>
                </a:solidFill>
                <a:latin typeface="Arial" panose="020B0604020202020204" pitchFamily="34" charset="0"/>
              </a:rPr>
              <a:t>(4) Copia del certificado de explotador UAS expedido por la UAEAC; </a:t>
            </a:r>
          </a:p>
          <a:p>
            <a:endParaRPr lang="es-CO" sz="1800" b="0" i="0" u="none" strike="noStrike" baseline="0" dirty="0">
              <a:solidFill>
                <a:srgbClr val="000000"/>
              </a:solidFill>
              <a:latin typeface="Arial" panose="020B0604020202020204" pitchFamily="34" charset="0"/>
            </a:endParaRPr>
          </a:p>
          <a:p>
            <a:r>
              <a:rPr lang="es-ES" sz="1800" b="0" i="0" u="none" strike="noStrike" baseline="0" dirty="0">
                <a:solidFill>
                  <a:srgbClr val="000000"/>
                </a:solidFill>
                <a:latin typeface="Arial" panose="020B0604020202020204" pitchFamily="34" charset="0"/>
              </a:rPr>
              <a:t>(5) Autorización de vuelo UAS expedido por la UAEAC; </a:t>
            </a:r>
          </a:p>
          <a:p>
            <a:endParaRPr lang="es-CO" sz="1800" b="0" i="0" u="none" strike="noStrike" baseline="0" dirty="0">
              <a:solidFill>
                <a:srgbClr val="000000"/>
              </a:solidFill>
              <a:latin typeface="Arial" panose="020B0604020202020204" pitchFamily="34" charset="0"/>
            </a:endParaRPr>
          </a:p>
          <a:p>
            <a:r>
              <a:rPr lang="es-ES" sz="1800" b="0" i="0" u="none" strike="noStrike" baseline="0" dirty="0">
                <a:solidFill>
                  <a:srgbClr val="000000"/>
                </a:solidFill>
                <a:latin typeface="Arial" panose="020B0604020202020204" pitchFamily="34" charset="0"/>
              </a:rPr>
              <a:t>(6) Libro de vuelo y mantenimiento de cada UA que esté siendo utilizada en la operación. </a:t>
            </a:r>
          </a:p>
          <a:p>
            <a:endParaRPr lang="es-ES" sz="1800" b="0" i="0" u="none" strike="noStrike" baseline="0" dirty="0">
              <a:solidFill>
                <a:srgbClr val="000000"/>
              </a:solidFill>
              <a:latin typeface="Arial" panose="020B0604020202020204" pitchFamily="34" charset="0"/>
            </a:endParaRPr>
          </a:p>
        </p:txBody>
      </p:sp>
      <p:sp>
        <p:nvSpPr>
          <p:cNvPr id="4" name="Marcador de número de diapositiva 3"/>
          <p:cNvSpPr>
            <a:spLocks noGrp="1"/>
          </p:cNvSpPr>
          <p:nvPr>
            <p:ph type="sldNum" sz="quarter" idx="5"/>
          </p:nvPr>
        </p:nvSpPr>
        <p:spPr/>
        <p:txBody>
          <a:bodyPr/>
          <a:lstStyle/>
          <a:p>
            <a:fld id="{2ADF21EC-FE6F-4F6C-AED3-62F30E5F853E}" type="slidenum">
              <a:rPr lang="es-CO" smtClean="0"/>
              <a:t>9</a:t>
            </a:fld>
            <a:endParaRPr lang="es-CO"/>
          </a:p>
        </p:txBody>
      </p:sp>
    </p:spTree>
    <p:extLst>
      <p:ext uri="{BB962C8B-B14F-4D97-AF65-F5344CB8AC3E}">
        <p14:creationId xmlns:p14="http://schemas.microsoft.com/office/powerpoint/2010/main" val="2391299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endParaRPr lang="es-CO" sz="1800" b="0" i="0" u="none" strike="noStrike" baseline="0" dirty="0">
              <a:solidFill>
                <a:srgbClr val="000000"/>
              </a:solidFill>
              <a:latin typeface="Arial" panose="020B0604020202020204" pitchFamily="34" charset="0"/>
            </a:endParaRPr>
          </a:p>
          <a:p>
            <a:r>
              <a:rPr lang="es-ES" sz="1800" b="0" i="0" u="none" strike="noStrike" baseline="0" dirty="0">
                <a:solidFill>
                  <a:srgbClr val="000000"/>
                </a:solidFill>
                <a:latin typeface="Arial" panose="020B0604020202020204" pitchFamily="34" charset="0"/>
              </a:rPr>
              <a:t>Todo explotador UAS (categoría específica) debe tener disponibles y actualizados en sus instalaciones los siguientes documentos: </a:t>
            </a:r>
          </a:p>
          <a:p>
            <a:endParaRPr lang="es-CO" sz="1800" b="0" i="0" u="none" strike="noStrike" baseline="0" dirty="0">
              <a:solidFill>
                <a:srgbClr val="000000"/>
              </a:solidFill>
              <a:latin typeface="Arial" panose="020B0604020202020204" pitchFamily="34" charset="0"/>
            </a:endParaRPr>
          </a:p>
          <a:p>
            <a:r>
              <a:rPr lang="es-ES" sz="1800" b="0" i="0" u="none" strike="noStrike" baseline="0" dirty="0">
                <a:solidFill>
                  <a:srgbClr val="000000"/>
                </a:solidFill>
                <a:latin typeface="Arial" panose="020B0604020202020204" pitchFamily="34" charset="0"/>
              </a:rPr>
              <a:t>(1) Certificado de explotador UAS expedido por la UAEAC vigente; una copia de este deberá estar exhibido en un sitio visible en las instalaciones del explotador UA; </a:t>
            </a:r>
          </a:p>
          <a:p>
            <a:endParaRPr lang="es-CO" sz="1800" b="0" i="0" u="none" strike="noStrike" baseline="0" dirty="0">
              <a:solidFill>
                <a:srgbClr val="000000"/>
              </a:solidFill>
              <a:latin typeface="Arial" panose="020B0604020202020204" pitchFamily="34" charset="0"/>
            </a:endParaRPr>
          </a:p>
          <a:p>
            <a:r>
              <a:rPr lang="es-ES" sz="1800" b="0" i="0" u="none" strike="noStrike" baseline="0" dirty="0">
                <a:solidFill>
                  <a:srgbClr val="000000"/>
                </a:solidFill>
                <a:latin typeface="Arial" panose="020B0604020202020204" pitchFamily="34" charset="0"/>
              </a:rPr>
              <a:t>(2) Certificado de registro de cada UAS y de los equipos tecnológicos asociados expedido por la UAEAC; </a:t>
            </a:r>
          </a:p>
          <a:p>
            <a:endParaRPr lang="es-CO" sz="1800" b="0" i="0" u="none" strike="noStrike" baseline="0" dirty="0">
              <a:solidFill>
                <a:srgbClr val="000000"/>
              </a:solidFill>
              <a:latin typeface="Arial" panose="020B0604020202020204" pitchFamily="34" charset="0"/>
            </a:endParaRPr>
          </a:p>
          <a:p>
            <a:r>
              <a:rPr lang="es-ES" sz="1800" b="0" i="0" u="none" strike="noStrike" baseline="0" dirty="0">
                <a:solidFill>
                  <a:srgbClr val="000000"/>
                </a:solidFill>
                <a:latin typeface="Arial" panose="020B0604020202020204" pitchFamily="34" charset="0"/>
              </a:rPr>
              <a:t>(3) Copia de la póliza de responsabilidad civil extracontractual vigente por cada UAS que se encuentre operativo y/o relacionado dentro de una autorización de vuelo UAS; </a:t>
            </a:r>
          </a:p>
          <a:p>
            <a:endParaRPr lang="es-CO" sz="1800" b="0" i="0" u="none" strike="noStrike" baseline="0" dirty="0">
              <a:solidFill>
                <a:srgbClr val="000000"/>
              </a:solidFill>
              <a:latin typeface="Arial" panose="020B0604020202020204" pitchFamily="34" charset="0"/>
            </a:endParaRPr>
          </a:p>
          <a:p>
            <a:r>
              <a:rPr lang="es-ES" sz="1800" b="0" i="0" u="none" strike="noStrike" baseline="0" dirty="0">
                <a:solidFill>
                  <a:srgbClr val="000000"/>
                </a:solidFill>
                <a:latin typeface="Arial" panose="020B0604020202020204" pitchFamily="34" charset="0"/>
              </a:rPr>
              <a:t>(4) Copia del certificado de idoneidad de cada uno de los pilotos UA vinculados con el explotador; </a:t>
            </a:r>
          </a:p>
          <a:p>
            <a:endParaRPr lang="es-CO" sz="1800" b="0" i="0" u="none" strike="noStrike" baseline="0" dirty="0">
              <a:solidFill>
                <a:srgbClr val="000000"/>
              </a:solidFill>
              <a:latin typeface="Arial" panose="020B0604020202020204" pitchFamily="34" charset="0"/>
            </a:endParaRPr>
          </a:p>
          <a:p>
            <a:r>
              <a:rPr lang="es-ES" sz="1800" b="0" i="0" u="none" strike="noStrike" baseline="0" dirty="0">
                <a:solidFill>
                  <a:srgbClr val="000000"/>
                </a:solidFill>
                <a:latin typeface="Arial" panose="020B0604020202020204" pitchFamily="34" charset="0"/>
              </a:rPr>
              <a:t>(5) Manual de operaciones (MO); </a:t>
            </a:r>
          </a:p>
          <a:p>
            <a:endParaRPr lang="es-CO" sz="1800" b="0" i="0" u="none" strike="noStrike" baseline="0" dirty="0">
              <a:solidFill>
                <a:srgbClr val="000000"/>
              </a:solidFill>
              <a:latin typeface="Arial" panose="020B0604020202020204" pitchFamily="34" charset="0"/>
            </a:endParaRPr>
          </a:p>
          <a:p>
            <a:r>
              <a:rPr lang="es-CO" sz="1800" b="0" i="0" u="none" strike="noStrike" baseline="0" dirty="0">
                <a:solidFill>
                  <a:srgbClr val="000000"/>
                </a:solidFill>
                <a:latin typeface="Arial" panose="020B0604020202020204" pitchFamily="34" charset="0"/>
              </a:rPr>
              <a:t>(6) Manual de control de mantenimiento (MCM); </a:t>
            </a:r>
          </a:p>
          <a:p>
            <a:endParaRPr lang="es-CO" sz="1800" b="0" i="0" u="none" strike="noStrike" baseline="0" dirty="0">
              <a:solidFill>
                <a:srgbClr val="000000"/>
              </a:solidFill>
              <a:latin typeface="Arial" panose="020B0604020202020204" pitchFamily="34" charset="0"/>
            </a:endParaRPr>
          </a:p>
          <a:p>
            <a:r>
              <a:rPr lang="es-ES" sz="1800" b="0" i="0" u="none" strike="noStrike" baseline="0" dirty="0">
                <a:solidFill>
                  <a:srgbClr val="000000"/>
                </a:solidFill>
                <a:latin typeface="Arial" panose="020B0604020202020204" pitchFamily="34" charset="0"/>
              </a:rPr>
              <a:t>(7) Cualquier otro documento, registro o informe que deba conservarse en virtud de esta reglamentación o de la operación aérea que realiza. </a:t>
            </a:r>
          </a:p>
          <a:p>
            <a:endParaRPr lang="es-ES" sz="1800" b="0" i="0" u="none" strike="noStrike" baseline="0" dirty="0">
              <a:solidFill>
                <a:srgbClr val="000000"/>
              </a:solidFill>
              <a:latin typeface="Arial" panose="020B0604020202020204" pitchFamily="34" charset="0"/>
            </a:endParaRPr>
          </a:p>
          <a:p>
            <a:pPr algn="l"/>
            <a:endParaRPr lang="es-CO" sz="1800" b="0" i="0" u="none" strike="noStrike" baseline="0" dirty="0">
              <a:solidFill>
                <a:srgbClr val="000000"/>
              </a:solidFill>
              <a:latin typeface="Arial" panose="020B0604020202020204" pitchFamily="34" charset="0"/>
            </a:endParaRPr>
          </a:p>
          <a:p>
            <a:r>
              <a:rPr lang="es-CO" sz="1800" b="0" i="0" u="none" strike="noStrike" baseline="0" dirty="0">
                <a:solidFill>
                  <a:srgbClr val="000000"/>
                </a:solidFill>
                <a:latin typeface="Arial" panose="020B0604020202020204" pitchFamily="34" charset="0"/>
              </a:rPr>
              <a:t>(a) Ninguna persona actuará como operador UA o piloto UAS, observador UA o participará en una operación UAS: </a:t>
            </a:r>
          </a:p>
          <a:p>
            <a:endParaRPr lang="es-CO" sz="1800" b="0" i="0" u="none" strike="noStrike" baseline="0" dirty="0">
              <a:solidFill>
                <a:srgbClr val="000000"/>
              </a:solidFill>
              <a:latin typeface="Arial" panose="020B0604020202020204" pitchFamily="34" charset="0"/>
            </a:endParaRPr>
          </a:p>
          <a:p>
            <a:r>
              <a:rPr lang="es-ES" sz="1800" b="0" i="0" u="none" strike="noStrike" baseline="0" dirty="0">
                <a:solidFill>
                  <a:srgbClr val="000000"/>
                </a:solidFill>
                <a:latin typeface="Arial" panose="020B0604020202020204" pitchFamily="34" charset="0"/>
              </a:rPr>
              <a:t>(1) Dentro de las 12 horas siguientes al consumo de bebidas alcohólicas, mientras esté bajo la influencia del alcohol; o </a:t>
            </a:r>
          </a:p>
          <a:p>
            <a:r>
              <a:rPr lang="es-ES" sz="1800" b="0" i="0" u="none" strike="noStrike" baseline="0" dirty="0">
                <a:solidFill>
                  <a:srgbClr val="000000"/>
                </a:solidFill>
                <a:latin typeface="Arial" panose="020B0604020202020204" pitchFamily="34" charset="0"/>
              </a:rPr>
              <a:t>(2) Mientras utilice o haya utilizado cualquier sustancia psicoactiva que perjudique las facultades humanas en su desempeño, de manera que pueda afectar la seguridad operacional o pueda poner en peligro a cualquier persona o infraestructura, o que genere un uso problemático de estas sustancias. </a:t>
            </a:r>
          </a:p>
          <a:p>
            <a:endParaRPr lang="es-ES" sz="1800" b="0" i="0" u="none" strike="noStrike" baseline="0" dirty="0">
              <a:solidFill>
                <a:srgbClr val="000000"/>
              </a:solidFill>
              <a:latin typeface="Arial" panose="020B0604020202020204" pitchFamily="34" charset="0"/>
            </a:endParaRPr>
          </a:p>
        </p:txBody>
      </p:sp>
      <p:sp>
        <p:nvSpPr>
          <p:cNvPr id="4" name="Marcador de número de diapositiva 3"/>
          <p:cNvSpPr>
            <a:spLocks noGrp="1"/>
          </p:cNvSpPr>
          <p:nvPr>
            <p:ph type="sldNum" sz="quarter" idx="5"/>
          </p:nvPr>
        </p:nvSpPr>
        <p:spPr/>
        <p:txBody>
          <a:bodyPr/>
          <a:lstStyle/>
          <a:p>
            <a:fld id="{2ADF21EC-FE6F-4F6C-AED3-62F30E5F853E}" type="slidenum">
              <a:rPr lang="es-CO" smtClean="0"/>
              <a:t>10</a:t>
            </a:fld>
            <a:endParaRPr lang="es-CO"/>
          </a:p>
        </p:txBody>
      </p:sp>
    </p:spTree>
    <p:extLst>
      <p:ext uri="{BB962C8B-B14F-4D97-AF65-F5344CB8AC3E}">
        <p14:creationId xmlns:p14="http://schemas.microsoft.com/office/powerpoint/2010/main" val="33305052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por ejemplo, "un estudiante que vuela su dron de 500 gramos como hobby" (categoría abierta, sin registro por debajo de 200g solo si aplica) vs. "una empresa que hace inspección de torres eléctricas con un dron de 8 kg" (categoría específica, por ser actividad comercial).</a:t>
            </a:r>
            <a:endParaRPr lang="es-CO"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11</a:t>
            </a:fld>
            <a:endParaRPr lang="es-CO"/>
          </a:p>
        </p:txBody>
      </p:sp>
    </p:spTree>
    <p:extLst>
      <p:ext uri="{BB962C8B-B14F-4D97-AF65-F5344CB8AC3E}">
        <p14:creationId xmlns:p14="http://schemas.microsoft.com/office/powerpoint/2010/main" val="1093981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a:t>Idea para reforzar:</a:t>
            </a:r>
            <a:r>
              <a:rPr lang="es-ES" dirty="0"/>
              <a:t> estas responsabilidades no dependen de tener o no un "permiso especial" — son obligaciones básicas de cualquier persona que opere un UAS, incluso en categoría abierta y sin fines comerciales.</a:t>
            </a:r>
            <a:endParaRPr lang="es-CO"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14</a:t>
            </a:fld>
            <a:endParaRPr lang="es-CO"/>
          </a:p>
        </p:txBody>
      </p:sp>
    </p:spTree>
    <p:extLst>
      <p:ext uri="{BB962C8B-B14F-4D97-AF65-F5344CB8AC3E}">
        <p14:creationId xmlns:p14="http://schemas.microsoft.com/office/powerpoint/2010/main" val="3876645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ES" b="1" dirty="0"/>
              <a:t>VLOS — Visibilidad en línea de vista</a:t>
            </a:r>
            <a:r>
              <a:rPr lang="es-ES" dirty="0"/>
              <a:t> </a:t>
            </a:r>
            <a:r>
              <a:rPr lang="es-ES" i="1" dirty="0"/>
              <a:t>(el modo por defecto de operación)</a:t>
            </a:r>
            <a:endParaRPr lang="es-ES" dirty="0"/>
          </a:p>
          <a:p>
            <a:pPr rtl="0">
              <a:buFont typeface="Arial" panose="020B0604020202020204" pitchFamily="34" charset="0"/>
              <a:buChar char="•"/>
            </a:pPr>
            <a:r>
              <a:rPr lang="es-ES" dirty="0"/>
              <a:t>Vuelo realizado a una distancia máxima de </a:t>
            </a:r>
            <a:r>
              <a:rPr lang="es-ES" b="1" dirty="0"/>
              <a:t>750 metros</a:t>
            </a:r>
            <a:r>
              <a:rPr lang="es-ES" dirty="0"/>
              <a:t> medida horizontalmente desde la posición fija del operador/piloto.</a:t>
            </a:r>
          </a:p>
          <a:p>
            <a:pPr rtl="0">
              <a:buFont typeface="Arial" panose="020B0604020202020204" pitchFamily="34" charset="0"/>
              <a:buChar char="•"/>
            </a:pPr>
            <a:r>
              <a:rPr lang="es-ES" dirty="0"/>
              <a:t>No se permite el uso de dispositivos ópticos o electrónicos para "extender" la vista (binoculares, por ejemplo) — solo lentes correctivos normales (gafas, lentes de contacto).</a:t>
            </a:r>
          </a:p>
          <a:p>
            <a:pPr rtl="0">
              <a:buFont typeface="Arial" panose="020B0604020202020204" pitchFamily="34" charset="0"/>
              <a:buChar char="•"/>
            </a:pPr>
            <a:r>
              <a:rPr lang="es-ES" dirty="0"/>
              <a:t>El operador debe: mantener línea de vista con la UA (directamente o a través de un observador UA en comunicación constante), tener acceso visual al espacio aéreo circundante, y operar siempre por debajo de la base de la primera capa de nubes.</a:t>
            </a:r>
          </a:p>
          <a:p>
            <a:pPr rtl="0">
              <a:buFont typeface="Arial" panose="020B0604020202020204" pitchFamily="34" charset="0"/>
              <a:buChar char="•"/>
            </a:pPr>
            <a:r>
              <a:rPr lang="es-ES" dirty="0"/>
              <a:t>Si se usa un sistema de vista en primera persona (FPV), es obligatorio contar con un observador UA que mantenga la línea de vista real y esté en comunicación constante — y ese observador debe tener las cualificaciones de un piloto UAS de categoría certificada.</a:t>
            </a:r>
          </a:p>
          <a:p>
            <a:pPr rtl="0"/>
            <a:r>
              <a:rPr lang="es-ES" b="1" dirty="0"/>
              <a:t>EVLOS — Visibilidad en línea de vista extendida</a:t>
            </a:r>
            <a:endParaRPr lang="es-ES" dirty="0"/>
          </a:p>
          <a:p>
            <a:pPr rtl="0">
              <a:buFont typeface="Arial" panose="020B0604020202020204" pitchFamily="34" charset="0"/>
              <a:buChar char="•"/>
            </a:pPr>
            <a:r>
              <a:rPr lang="es-ES" dirty="0"/>
              <a:t>Es una extensión del VLOS que permite operar más allá de los 750 metros usando uno o más </a:t>
            </a:r>
            <a:r>
              <a:rPr lang="es-ES" b="1" dirty="0"/>
              <a:t>observadores UA</a:t>
            </a:r>
            <a:r>
              <a:rPr lang="es-ES" dirty="0"/>
              <a:t>, hasta un radio máximo de </a:t>
            </a:r>
            <a:r>
              <a:rPr lang="es-ES" b="1" dirty="0"/>
              <a:t>3 kilómetros</a:t>
            </a:r>
            <a:r>
              <a:rPr lang="es-ES" dirty="0"/>
              <a:t> desde la posición del piloto/operador.</a:t>
            </a:r>
          </a:p>
          <a:p>
            <a:pPr rtl="0">
              <a:buFont typeface="Arial" panose="020B0604020202020204" pitchFamily="34" charset="0"/>
              <a:buChar char="•"/>
            </a:pPr>
            <a:r>
              <a:rPr lang="es-ES" dirty="0"/>
              <a:t>Cada observador debe garantizar una distancia de línea de vista a la UA menor a 750 metros, y mantenerse en comunicación constante con el piloto UAS.</a:t>
            </a:r>
          </a:p>
          <a:p>
            <a:pPr rtl="0">
              <a:buFont typeface="Arial" panose="020B0604020202020204" pitchFamily="34" charset="0"/>
              <a:buChar char="•"/>
            </a:pPr>
            <a:r>
              <a:rPr lang="es-ES" dirty="0"/>
              <a:t>Si el observador pierde la línea de vista, la operación </a:t>
            </a:r>
            <a:r>
              <a:rPr lang="es-ES" b="1" dirty="0"/>
              <a:t>debe cancelarse</a:t>
            </a:r>
            <a:r>
              <a:rPr lang="es-ES" dirty="0"/>
              <a:t> hasta que se restablezcan las condiciones.</a:t>
            </a:r>
          </a:p>
          <a:p>
            <a:pPr rtl="0"/>
            <a:r>
              <a:rPr lang="es-ES" b="1" dirty="0"/>
              <a:t>BVLOS — Visibilidad más allá de la línea de vista</a:t>
            </a:r>
            <a:endParaRPr lang="es-ES" dirty="0"/>
          </a:p>
          <a:p>
            <a:pPr rtl="0">
              <a:buFont typeface="Arial" panose="020B0604020202020204" pitchFamily="34" charset="0"/>
              <a:buChar char="•"/>
            </a:pPr>
            <a:r>
              <a:rPr lang="es-ES" dirty="0"/>
              <a:t>Es la condición en la que no hay ningún tipo de contacto visual con la UA — ni directo ni por observadores.</a:t>
            </a:r>
          </a:p>
          <a:p>
            <a:pPr rtl="0">
              <a:buFont typeface="Arial" panose="020B0604020202020204" pitchFamily="34" charset="0"/>
              <a:buChar char="•"/>
            </a:pPr>
            <a:r>
              <a:rPr lang="es-ES" dirty="0"/>
              <a:t>Exige el uso de un sistema tecnológico de gestión de vuelo UAS (el que se conecta al UTM) y el cumplimiento de requisitos adicionales específicos del reglamento.</a:t>
            </a:r>
          </a:p>
          <a:p>
            <a:pPr rtl="0">
              <a:buFont typeface="Arial" panose="020B0604020202020204" pitchFamily="34" charset="0"/>
              <a:buChar char="•"/>
            </a:pPr>
            <a:r>
              <a:rPr lang="es-ES" dirty="0"/>
              <a:t>Es, en términos generales, la operación de mayor complejidad regulatoria.</a:t>
            </a:r>
          </a:p>
        </p:txBody>
      </p:sp>
      <p:sp>
        <p:nvSpPr>
          <p:cNvPr id="4" name="Marcador de número de diapositiva 3"/>
          <p:cNvSpPr>
            <a:spLocks noGrp="1"/>
          </p:cNvSpPr>
          <p:nvPr>
            <p:ph type="sldNum" sz="quarter" idx="5"/>
          </p:nvPr>
        </p:nvSpPr>
        <p:spPr/>
        <p:txBody>
          <a:bodyPr/>
          <a:lstStyle/>
          <a:p>
            <a:fld id="{2ADF21EC-FE6F-4F6C-AED3-62F30E5F853E}" type="slidenum">
              <a:rPr lang="es-CO" smtClean="0"/>
              <a:t>15</a:t>
            </a:fld>
            <a:endParaRPr lang="es-CO"/>
          </a:p>
        </p:txBody>
      </p:sp>
    </p:spTree>
    <p:extLst>
      <p:ext uri="{BB962C8B-B14F-4D97-AF65-F5344CB8AC3E}">
        <p14:creationId xmlns:p14="http://schemas.microsoft.com/office/powerpoint/2010/main" val="8928960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a:t>Vuelo nocturno:</a:t>
            </a:r>
            <a:r>
              <a:rPr lang="es-ES" dirty="0"/>
              <a:t> exige luces de navegación permanentemente encendidas y apoyo de un observador UA; en categoría específica el piloto necesita una adición de vuelo nocturno en su certificado. </a:t>
            </a:r>
            <a:r>
              <a:rPr lang="es-ES" b="1" dirty="0"/>
              <a:t>Nunca se autoriza</a:t>
            </a:r>
            <a:r>
              <a:rPr lang="es-ES" dirty="0"/>
              <a:t> para operaciones de transporte de carga ("</a:t>
            </a:r>
            <a:r>
              <a:rPr lang="es-ES" dirty="0" err="1"/>
              <a:t>drone</a:t>
            </a:r>
            <a:r>
              <a:rPr lang="es-ES" dirty="0"/>
              <a:t> </a:t>
            </a:r>
            <a:r>
              <a:rPr lang="es-ES" dirty="0" err="1"/>
              <a:t>delivery</a:t>
            </a:r>
            <a:r>
              <a:rPr lang="es-ES" dirty="0"/>
              <a:t>"). </a:t>
            </a:r>
          </a:p>
          <a:p>
            <a:r>
              <a:rPr lang="es-ES" b="1" dirty="0"/>
              <a:t>Vuelo en zona urbana:</a:t>
            </a:r>
            <a:r>
              <a:rPr lang="es-ES" dirty="0"/>
              <a:t> no se puede volar a menos de 30 metros horizontales de una persona ajena a la operación, ni a menos de 30 metros de una edificación (sin superar 400 pies / 122 m sobre el terreno), y solo se permite VLOS — salvo en operaciones de atención de emergencias o desastres. </a:t>
            </a:r>
          </a:p>
          <a:p>
            <a:r>
              <a:rPr lang="es-ES" b="1" dirty="0"/>
              <a:t>Vuelo autónomo:</a:t>
            </a:r>
            <a:r>
              <a:rPr lang="es-ES" dirty="0"/>
              <a:t> la responsabilidad recae sobre quien diseñó el plan de vuelo y programó la UA. Se debe poder tomar el control en cualquier momento y hacer seguimiento en tiempo real. Está limitado a 750 metros del punto de despegue, salvo autorización específica. </a:t>
            </a:r>
          </a:p>
          <a:p>
            <a:r>
              <a:rPr lang="es-ES" b="1" dirty="0"/>
              <a:t>Demostraciones comerciales o de capacidad tecnológica:</a:t>
            </a:r>
            <a:r>
              <a:rPr lang="es-ES" dirty="0"/>
              <a:t> requieren piloto UAS con adición correspondiente, UAS registrado, y póliza de responsabilidad civil extracontractual vigente. </a:t>
            </a:r>
          </a:p>
          <a:p>
            <a:r>
              <a:rPr lang="es-ES" b="1" dirty="0"/>
              <a:t>Competencias y actividades deportivas/recreativas:</a:t>
            </a:r>
            <a:r>
              <a:rPr lang="es-ES" dirty="0"/>
              <a:t> los organizadores deben delimitar una zona de seguridad para el público y no permitir vuelo sobre personas ajenas a la operación. </a:t>
            </a:r>
          </a:p>
          <a:p>
            <a:r>
              <a:rPr lang="es-ES" b="1" dirty="0"/>
              <a:t>Vuelo cautivo</a:t>
            </a:r>
            <a:r>
              <a:rPr lang="es-ES" dirty="0"/>
              <a:t> (UA anclada físicamente al suelo con cable u otro elemento): debe mantenerse dentro de las alturas operacionales del reglamento y con el área de desplazamiento libre de personas. </a:t>
            </a:r>
          </a:p>
          <a:p>
            <a:r>
              <a:rPr lang="es-ES" b="1" dirty="0"/>
              <a:t>Vuelos en espacios cerrados o confinados:</a:t>
            </a:r>
            <a:r>
              <a:rPr lang="es-ES" dirty="0"/>
              <a:t> requieren barrera física que delimite el área de vuelo; si hay público, zona de seguridad. Curiosamente, el reglamento aclara que estas operaciones </a:t>
            </a:r>
            <a:r>
              <a:rPr lang="es-ES" b="1" dirty="0"/>
              <a:t>no se consideran "operación aérea"</a:t>
            </a:r>
            <a:r>
              <a:rPr lang="es-ES" dirty="0"/>
              <a:t> en sentido estricto (no usan espacio aéreo), pero igual deben cumplir estas reglas de seguridad.</a:t>
            </a:r>
            <a:endParaRPr lang="es-CO"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16</a:t>
            </a:fld>
            <a:endParaRPr lang="es-CO"/>
          </a:p>
        </p:txBody>
      </p:sp>
    </p:spTree>
    <p:extLst>
      <p:ext uri="{BB962C8B-B14F-4D97-AF65-F5344CB8AC3E}">
        <p14:creationId xmlns:p14="http://schemas.microsoft.com/office/powerpoint/2010/main" val="394769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ES" dirty="0" err="1"/>
              <a:t>Metashape</a:t>
            </a:r>
            <a:r>
              <a:rPr lang="es-ES" dirty="0"/>
              <a:t> Professional, por su parte, tiene un enfoque particularmente flexible: además de fotogrametría UAV, permite trabajar con imágenes satelitales, cámaras múltiples, térmicas, multiespectrales, datos </a:t>
            </a:r>
            <a:r>
              <a:rPr lang="es-ES" dirty="0" err="1"/>
              <a:t>LiDAR</a:t>
            </a:r>
            <a:r>
              <a:rPr lang="es-ES" dirty="0"/>
              <a:t>, clasificación de nubes, edición de DEM, scripting Python/Java y procesamiento distribuido en red.</a:t>
            </a:r>
          </a:p>
          <a:p>
            <a:pPr rtl="0"/>
            <a:endParaRPr lang="es-ES" dirty="0"/>
          </a:p>
          <a:p>
            <a:pPr rtl="0"/>
            <a:r>
              <a:rPr lang="es-ES" dirty="0"/>
              <a:t>PIX4Dmapper ofrece plantillas automáticas y configuraciones personalizadas, control de GCP, edición de nubes/DSM/</a:t>
            </a:r>
            <a:r>
              <a:rPr lang="es-ES" dirty="0" err="1"/>
              <a:t>ortomosaicos</a:t>
            </a:r>
            <a:r>
              <a:rPr lang="es-ES" dirty="0"/>
              <a:t> y su entorno </a:t>
            </a:r>
            <a:r>
              <a:rPr lang="es-ES" b="1" dirty="0" err="1"/>
              <a:t>rayCloud</a:t>
            </a:r>
            <a:r>
              <a:rPr lang="es-ES" dirty="0"/>
              <a:t>, que vincula las fotografías originales con la reconstrucción 3D para revisar visualmente los resultados.</a:t>
            </a:r>
          </a:p>
        </p:txBody>
      </p:sp>
      <p:sp>
        <p:nvSpPr>
          <p:cNvPr id="4" name="Marcador de número de diapositiva 3"/>
          <p:cNvSpPr>
            <a:spLocks noGrp="1"/>
          </p:cNvSpPr>
          <p:nvPr>
            <p:ph type="sldNum" sz="quarter" idx="5"/>
          </p:nvPr>
        </p:nvSpPr>
        <p:spPr/>
        <p:txBody>
          <a:bodyPr/>
          <a:lstStyle/>
          <a:p>
            <a:fld id="{2ADF21EC-FE6F-4F6C-AED3-62F30E5F853E}" type="slidenum">
              <a:rPr lang="es-CO" smtClean="0"/>
              <a:t>17</a:t>
            </a:fld>
            <a:endParaRPr lang="es-CO"/>
          </a:p>
        </p:txBody>
      </p:sp>
    </p:spTree>
    <p:extLst>
      <p:ext uri="{BB962C8B-B14F-4D97-AF65-F5344CB8AC3E}">
        <p14:creationId xmlns:p14="http://schemas.microsoft.com/office/powerpoint/2010/main" val="2613842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ES" dirty="0"/>
              <a:t>Todo objeto que vuela —tripulado o no— está sometido a cuatro fuerzas:</a:t>
            </a:r>
          </a:p>
          <a:p>
            <a:pPr rtl="0">
              <a:buFont typeface="Arial" panose="020B0604020202020204" pitchFamily="34" charset="0"/>
              <a:buChar char="•"/>
            </a:pPr>
            <a:r>
              <a:rPr lang="es-ES" b="1" dirty="0"/>
              <a:t>Sustentación (</a:t>
            </a:r>
            <a:r>
              <a:rPr lang="es-ES" b="1" dirty="0" err="1"/>
              <a:t>lift</a:t>
            </a:r>
            <a:r>
              <a:rPr lang="es-ES" b="1" dirty="0"/>
              <a:t>):</a:t>
            </a:r>
            <a:r>
              <a:rPr lang="es-ES" dirty="0"/>
              <a:t> fuerza hacia arriba generada por el movimiento del aire sobre las superficies aerodinámicas (alas o hélices).</a:t>
            </a:r>
          </a:p>
          <a:p>
            <a:pPr rtl="0">
              <a:buFont typeface="Arial" panose="020B0604020202020204" pitchFamily="34" charset="0"/>
              <a:buChar char="•"/>
            </a:pPr>
            <a:r>
              <a:rPr lang="es-ES" b="1" dirty="0"/>
              <a:t>Peso (</a:t>
            </a:r>
            <a:r>
              <a:rPr lang="es-ES" b="1" dirty="0" err="1"/>
              <a:t>weight</a:t>
            </a:r>
            <a:r>
              <a:rPr lang="es-ES" b="1" dirty="0"/>
              <a:t>):</a:t>
            </a:r>
            <a:r>
              <a:rPr lang="es-ES" dirty="0"/>
              <a:t> fuerza hacia abajo, producto de la gravedad sobre la masa de la aeronave.</a:t>
            </a:r>
          </a:p>
          <a:p>
            <a:pPr rtl="0">
              <a:buFont typeface="Arial" panose="020B0604020202020204" pitchFamily="34" charset="0"/>
              <a:buChar char="•"/>
            </a:pPr>
            <a:r>
              <a:rPr lang="es-ES" b="1" dirty="0"/>
              <a:t>Empuje (</a:t>
            </a:r>
            <a:r>
              <a:rPr lang="es-ES" b="1" dirty="0" err="1"/>
              <a:t>thrust</a:t>
            </a:r>
            <a:r>
              <a:rPr lang="es-ES" b="1" dirty="0"/>
              <a:t>):</a:t>
            </a:r>
            <a:r>
              <a:rPr lang="es-ES" dirty="0"/>
              <a:t> fuerza hacia adelante generada por los motores/hélices.</a:t>
            </a:r>
          </a:p>
          <a:p>
            <a:pPr rtl="0">
              <a:buFont typeface="Arial" panose="020B0604020202020204" pitchFamily="34" charset="0"/>
              <a:buChar char="•"/>
            </a:pPr>
            <a:r>
              <a:rPr lang="es-ES" b="1" dirty="0"/>
              <a:t>Resistencia (drag):</a:t>
            </a:r>
            <a:r>
              <a:rPr lang="es-ES" dirty="0"/>
              <a:t> fuerza que se opone al movimiento, producto de la fricción del aire.</a:t>
            </a:r>
          </a:p>
          <a:p>
            <a:pPr rtl="0">
              <a:buFont typeface="Arial" panose="020B0604020202020204" pitchFamily="34" charset="0"/>
              <a:buChar char="•"/>
            </a:pPr>
            <a:endParaRPr lang="es-ES" dirty="0"/>
          </a:p>
          <a:p>
            <a:pPr rtl="0"/>
            <a:r>
              <a:rPr lang="es-ES" dirty="0"/>
              <a:t>El vuelo estable ocurre cuando estas fuerzas están en equilibrio; cualquier maniobra (ascenso, descenso, aceleración) implica romper deliberadamente ese equilibrio.</a:t>
            </a:r>
          </a:p>
          <a:p>
            <a:pPr rtl="0"/>
            <a:endParaRPr lang="es-ES" dirty="0"/>
          </a:p>
          <a:p>
            <a:pPr rtl="0"/>
            <a:r>
              <a:rPr lang="es-ES" dirty="0"/>
              <a:t>https://aiflightops.com/sistemas-uas-funcionamiento-aerodinamico/</a:t>
            </a:r>
          </a:p>
        </p:txBody>
      </p:sp>
      <p:sp>
        <p:nvSpPr>
          <p:cNvPr id="4" name="Marcador de número de diapositiva 3"/>
          <p:cNvSpPr>
            <a:spLocks noGrp="1"/>
          </p:cNvSpPr>
          <p:nvPr>
            <p:ph type="sldNum" sz="quarter" idx="5"/>
          </p:nvPr>
        </p:nvSpPr>
        <p:spPr/>
        <p:txBody>
          <a:bodyPr/>
          <a:lstStyle/>
          <a:p>
            <a:fld id="{2ADF21EC-FE6F-4F6C-AED3-62F30E5F853E}" type="slidenum">
              <a:rPr lang="es-CO" smtClean="0"/>
              <a:t>18</a:t>
            </a:fld>
            <a:endParaRPr lang="es-CO"/>
          </a:p>
        </p:txBody>
      </p:sp>
    </p:spTree>
    <p:extLst>
      <p:ext uri="{BB962C8B-B14F-4D97-AF65-F5344CB8AC3E}">
        <p14:creationId xmlns:p14="http://schemas.microsoft.com/office/powerpoint/2010/main" val="20301974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ES" dirty="0"/>
              <a:t>https://aiflightops.com/sistemas-uas-funcionamiento-aerodinamico/</a:t>
            </a:r>
          </a:p>
          <a:p>
            <a:pPr rtl="0"/>
            <a:r>
              <a:rPr lang="es-ES" dirty="0"/>
              <a:t>cuando el aire fluye más rápido sobre una superficie curva (como la parte superior de un ala), su presión disminuye respecto al aire que fluye más lento por debajo. Esa diferencia de presión genera la sustentación. </a:t>
            </a:r>
          </a:p>
        </p:txBody>
      </p:sp>
      <p:sp>
        <p:nvSpPr>
          <p:cNvPr id="4" name="Marcador de número de diapositiva 3"/>
          <p:cNvSpPr>
            <a:spLocks noGrp="1"/>
          </p:cNvSpPr>
          <p:nvPr>
            <p:ph type="sldNum" sz="quarter" idx="5"/>
          </p:nvPr>
        </p:nvSpPr>
        <p:spPr/>
        <p:txBody>
          <a:bodyPr/>
          <a:lstStyle/>
          <a:p>
            <a:fld id="{2ADF21EC-FE6F-4F6C-AED3-62F30E5F853E}" type="slidenum">
              <a:rPr lang="es-CO" smtClean="0"/>
              <a:t>19</a:t>
            </a:fld>
            <a:endParaRPr lang="es-CO"/>
          </a:p>
        </p:txBody>
      </p:sp>
    </p:spTree>
    <p:extLst>
      <p:ext uri="{BB962C8B-B14F-4D97-AF65-F5344CB8AC3E}">
        <p14:creationId xmlns:p14="http://schemas.microsoft.com/office/powerpoint/2010/main" val="4251158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ES" dirty="0"/>
              <a:t>https://aiflightops.com/sistemas-uas-funcionamiento-aerodinamico/</a:t>
            </a:r>
          </a:p>
          <a:p>
            <a:pPr rtl="0"/>
            <a:r>
              <a:rPr lang="es-ES" b="1" dirty="0"/>
              <a:t>Cabeceo (pitch):</a:t>
            </a:r>
            <a:r>
              <a:rPr lang="es-ES" dirty="0"/>
              <a:t> eje lateral — sube o baja el morro/frente de la aeronave. </a:t>
            </a:r>
          </a:p>
          <a:p>
            <a:pPr rtl="0"/>
            <a:r>
              <a:rPr lang="es-ES" b="1" dirty="0"/>
              <a:t>Alabeo (roll):</a:t>
            </a:r>
            <a:r>
              <a:rPr lang="es-ES" dirty="0"/>
              <a:t> eje longitudinal — inclina la aeronave hacia un lado u otro.</a:t>
            </a:r>
          </a:p>
          <a:p>
            <a:pPr rtl="0"/>
            <a:r>
              <a:rPr lang="es-ES" b="1" dirty="0"/>
              <a:t>Guiñada (</a:t>
            </a:r>
            <a:r>
              <a:rPr lang="es-ES" b="1" dirty="0" err="1"/>
              <a:t>yaw</a:t>
            </a:r>
            <a:r>
              <a:rPr lang="es-ES" b="1" dirty="0"/>
              <a:t>):</a:t>
            </a:r>
            <a:r>
              <a:rPr lang="es-ES" dirty="0"/>
              <a:t> eje vertical — gira la aeronave hacia la izquierda o derecha sin inclinarla.</a:t>
            </a:r>
          </a:p>
          <a:p>
            <a:pPr rtl="0"/>
            <a:endParaRPr lang="es-ES" dirty="0"/>
          </a:p>
          <a:p>
            <a:pPr rtl="0"/>
            <a:r>
              <a:rPr lang="es-ES" dirty="0"/>
              <a:t>En un </a:t>
            </a:r>
            <a:r>
              <a:rPr lang="es-ES" dirty="0" err="1"/>
              <a:t>multirrotor</a:t>
            </a:r>
            <a:r>
              <a:rPr lang="es-ES" dirty="0"/>
              <a:t> estos movimientos se logran variando la velocidad relativa de cada hélice, no mediante superficies de control móviles como en un avión convencional.</a:t>
            </a:r>
          </a:p>
        </p:txBody>
      </p:sp>
      <p:sp>
        <p:nvSpPr>
          <p:cNvPr id="4" name="Marcador de número de diapositiva 3"/>
          <p:cNvSpPr>
            <a:spLocks noGrp="1"/>
          </p:cNvSpPr>
          <p:nvPr>
            <p:ph type="sldNum" sz="quarter" idx="5"/>
          </p:nvPr>
        </p:nvSpPr>
        <p:spPr/>
        <p:txBody>
          <a:bodyPr/>
          <a:lstStyle/>
          <a:p>
            <a:fld id="{2ADF21EC-FE6F-4F6C-AED3-62F30E5F853E}" type="slidenum">
              <a:rPr lang="es-CO" smtClean="0"/>
              <a:t>20</a:t>
            </a:fld>
            <a:endParaRPr lang="es-CO"/>
          </a:p>
        </p:txBody>
      </p:sp>
    </p:spTree>
    <p:extLst>
      <p:ext uri="{BB962C8B-B14F-4D97-AF65-F5344CB8AC3E}">
        <p14:creationId xmlns:p14="http://schemas.microsoft.com/office/powerpoint/2010/main" val="699034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ES" dirty="0"/>
              <a:t>https://aiflightops.com/sistemas-uas-funcionamiento-aerodinamico/</a:t>
            </a:r>
          </a:p>
          <a:p>
            <a:pPr rtl="0"/>
            <a:r>
              <a:rPr lang="es-ES" b="1" dirty="0"/>
              <a:t>Cabeceo (pitch):</a:t>
            </a:r>
            <a:r>
              <a:rPr lang="es-ES" dirty="0"/>
              <a:t> eje lateral — sube o baja el morro/frente de la aeronave. </a:t>
            </a:r>
          </a:p>
          <a:p>
            <a:pPr rtl="0"/>
            <a:r>
              <a:rPr lang="es-ES" b="1" dirty="0"/>
              <a:t>Alabeo (roll):</a:t>
            </a:r>
            <a:r>
              <a:rPr lang="es-ES" dirty="0"/>
              <a:t> eje longitudinal — inclina la aeronave hacia un lado u otro.</a:t>
            </a:r>
          </a:p>
          <a:p>
            <a:pPr rtl="0"/>
            <a:r>
              <a:rPr lang="es-ES" b="1" dirty="0"/>
              <a:t>Guiñada (</a:t>
            </a:r>
            <a:r>
              <a:rPr lang="es-ES" b="1" dirty="0" err="1"/>
              <a:t>yaw</a:t>
            </a:r>
            <a:r>
              <a:rPr lang="es-ES" b="1" dirty="0"/>
              <a:t>):</a:t>
            </a:r>
            <a:r>
              <a:rPr lang="es-ES" dirty="0"/>
              <a:t> eje vertical — gira la aeronave hacia la izquierda o derecha sin inclinarla.</a:t>
            </a:r>
          </a:p>
        </p:txBody>
      </p:sp>
      <p:sp>
        <p:nvSpPr>
          <p:cNvPr id="4" name="Marcador de número de diapositiva 3"/>
          <p:cNvSpPr>
            <a:spLocks noGrp="1"/>
          </p:cNvSpPr>
          <p:nvPr>
            <p:ph type="sldNum" sz="quarter" idx="5"/>
          </p:nvPr>
        </p:nvSpPr>
        <p:spPr/>
        <p:txBody>
          <a:bodyPr/>
          <a:lstStyle/>
          <a:p>
            <a:fld id="{2ADF21EC-FE6F-4F6C-AED3-62F30E5F853E}" type="slidenum">
              <a:rPr lang="es-CO" smtClean="0"/>
              <a:t>21</a:t>
            </a:fld>
            <a:endParaRPr lang="es-CO"/>
          </a:p>
        </p:txBody>
      </p:sp>
    </p:spTree>
    <p:extLst>
      <p:ext uri="{BB962C8B-B14F-4D97-AF65-F5344CB8AC3E}">
        <p14:creationId xmlns:p14="http://schemas.microsoft.com/office/powerpoint/2010/main" val="3851707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ES" dirty="0"/>
              <a:t>El GNSS (Global </a:t>
            </a:r>
            <a:r>
              <a:rPr lang="es-ES" dirty="0" err="1"/>
              <a:t>Navigation</a:t>
            </a:r>
            <a:r>
              <a:rPr lang="es-ES" dirty="0"/>
              <a:t> </a:t>
            </a:r>
            <a:r>
              <a:rPr lang="es-ES" dirty="0" err="1"/>
              <a:t>Satellite</a:t>
            </a:r>
            <a:r>
              <a:rPr lang="es-ES" dirty="0"/>
              <a:t> </a:t>
            </a:r>
            <a:r>
              <a:rPr lang="es-ES" dirty="0" err="1"/>
              <a:t>System</a:t>
            </a:r>
            <a:r>
              <a:rPr lang="es-ES" dirty="0"/>
              <a:t>, del cual el GPS estadounidense es el más conocido) permite que la UA determine su posición mediante señales de múltiples satélites.</a:t>
            </a:r>
          </a:p>
          <a:p>
            <a:pPr rtl="0"/>
            <a:r>
              <a:rPr lang="es-ES" b="1" i="0" u="none" strike="noStrike" dirty="0">
                <a:solidFill>
                  <a:srgbClr val="004183"/>
                </a:solidFill>
                <a:effectLst/>
                <a:latin typeface="Roboto" panose="02000000000000000000" pitchFamily="2" charset="0"/>
                <a:hlinkClick r:id="rId3"/>
              </a:rPr>
              <a:t>Sistema Mundial de Navegación por </a:t>
            </a:r>
            <a:r>
              <a:rPr lang="es-ES" b="1" i="0" u="none" strike="noStrike" dirty="0" err="1">
                <a:solidFill>
                  <a:srgbClr val="004183"/>
                </a:solidFill>
                <a:effectLst/>
                <a:latin typeface="Roboto" panose="02000000000000000000" pitchFamily="2" charset="0"/>
                <a:hlinkClick r:id="rId3"/>
              </a:rPr>
              <a:t>Satélite</a:t>
            </a:r>
            <a:r>
              <a:rPr lang="es-ES" b="0" i="0" dirty="0" err="1">
                <a:solidFill>
                  <a:srgbClr val="000000"/>
                </a:solidFill>
                <a:effectLst/>
                <a:latin typeface="Roboto" panose="02000000000000000000" pitchFamily="2" charset="0"/>
              </a:rPr>
              <a:t>y</a:t>
            </a:r>
            <a:r>
              <a:rPr lang="es-ES" b="0" i="0" dirty="0">
                <a:solidFill>
                  <a:srgbClr val="000000"/>
                </a:solidFill>
                <a:effectLst/>
                <a:latin typeface="Roboto" panose="02000000000000000000" pitchFamily="2" charset="0"/>
              </a:rPr>
              <a:t> es un término general que engloba todos los sistemas de posicionamiento global por satélite. Incluye varias constelaciones de satélites que orbitan sobre la superficie terrestre y transmiten continuamente señales que proporcionan un posicionamiento geoespacial autónomo con cobertura mundial.</a:t>
            </a:r>
          </a:p>
          <a:p>
            <a:pPr rtl="0"/>
            <a:r>
              <a:rPr lang="es-ES" b="0" i="0" dirty="0">
                <a:solidFill>
                  <a:srgbClr val="000000"/>
                </a:solidFill>
                <a:effectLst/>
                <a:latin typeface="Roboto" panose="02000000000000000000" pitchFamily="2" charset="0"/>
              </a:rPr>
              <a:t>El GNSS se utiliza en colaboración con los sistemas GPS, donde todos los receptores GNSS son compatibles con el GPS, pero los receptores GPS no son necesariamente compatibles con el GNSS.</a:t>
            </a:r>
          </a:p>
          <a:p>
            <a:pPr rtl="0"/>
            <a:r>
              <a:rPr lang="es-ES" dirty="0"/>
              <a:t>Limitaciones importantes a mencionar:</a:t>
            </a:r>
          </a:p>
          <a:p>
            <a:pPr rtl="0">
              <a:buFont typeface="Arial" panose="020B0604020202020204" pitchFamily="34" charset="0"/>
              <a:buChar char="•"/>
            </a:pPr>
            <a:r>
              <a:rPr lang="es-ES" b="1" dirty="0"/>
              <a:t>Pérdida de señal:</a:t>
            </a:r>
            <a:r>
              <a:rPr lang="es-ES" dirty="0"/>
              <a:t> en zonas urbanas densas, cañones o interiores, la señal puede debilitarse o perderse.</a:t>
            </a:r>
          </a:p>
          <a:p>
            <a:pPr rtl="0">
              <a:buFont typeface="Arial" panose="020B0604020202020204" pitchFamily="34" charset="0"/>
              <a:buChar char="•"/>
            </a:pPr>
            <a:r>
              <a:rPr lang="es-ES" b="1" dirty="0" err="1"/>
              <a:t>Multipath</a:t>
            </a:r>
            <a:r>
              <a:rPr lang="es-ES" b="1" dirty="0"/>
              <a:t>:</a:t>
            </a:r>
            <a:r>
              <a:rPr lang="es-ES" dirty="0"/>
              <a:t> la señal rebota en edificios o estructuras antes de llegar al receptor, generando errores de posición.</a:t>
            </a:r>
          </a:p>
          <a:p>
            <a:pPr rtl="0">
              <a:buFont typeface="Arial" panose="020B0604020202020204" pitchFamily="34" charset="0"/>
              <a:buChar char="•"/>
            </a:pPr>
            <a:r>
              <a:rPr lang="es-ES" dirty="0"/>
              <a:t>La mayoría de UAS modernos tienen modos de "retorno al hogar" (RTH) dependientes de GNSS — si se pierde la señal, el comportamiento de la aeronave puede volverse impredecible.</a:t>
            </a:r>
          </a:p>
          <a:p>
            <a:pPr rtl="0"/>
            <a:endParaRPr lang="es-ES"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22</a:t>
            </a:fld>
            <a:endParaRPr lang="es-CO"/>
          </a:p>
        </p:txBody>
      </p:sp>
    </p:spTree>
    <p:extLst>
      <p:ext uri="{BB962C8B-B14F-4D97-AF65-F5344CB8AC3E}">
        <p14:creationId xmlns:p14="http://schemas.microsoft.com/office/powerpoint/2010/main" val="15525355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CO" dirty="0"/>
              <a:t>cualquier señal o campo electromagnético no deseado que perturba, degrada o interrumpe el funcionamiento de un circuito o dispositivo electrónico,</a:t>
            </a:r>
          </a:p>
          <a:p>
            <a:pPr rtl="0"/>
            <a:r>
              <a:rPr lang="es-ES" dirty="0"/>
              <a:t>Fuentes cercanas de radiofrecuencia (líneas de alta tensión, antenas, otros transmisores) pueden interferir con el enlace de control (C2) o con la recepción GNSS de la UA, afectando la estabilidad del vuelo. </a:t>
            </a:r>
            <a:endParaRPr lang="es-CO" dirty="0"/>
          </a:p>
          <a:p>
            <a:r>
              <a:rPr lang="es-ES" b="1" u="none" strike="noStrike" dirty="0">
                <a:effectLst/>
                <a:latin typeface="Google Sans"/>
              </a:rPr>
              <a:t>Principales fuentes</a:t>
            </a:r>
          </a:p>
          <a:p>
            <a:r>
              <a:rPr lang="es-ES" b="1" u="none" strike="noStrike" dirty="0">
                <a:effectLst/>
                <a:latin typeface="Google Sans"/>
              </a:rPr>
              <a:t>Artificiales:</a:t>
            </a:r>
            <a:r>
              <a:rPr lang="es-ES" b="0" u="none" strike="noStrike" dirty="0">
                <a:effectLst/>
                <a:latin typeface="Google Sans"/>
              </a:rPr>
              <a:t> Motores eléctricos, fuentes de alimentación conmutadas, redes </a:t>
            </a:r>
            <a:r>
              <a:rPr lang="es-ES" b="0" u="none" strike="noStrike" dirty="0" err="1">
                <a:effectLst/>
                <a:latin typeface="Google Sans"/>
              </a:rPr>
              <a:t>Wi</a:t>
            </a:r>
            <a:r>
              <a:rPr lang="es-ES" b="0" u="none" strike="noStrike" dirty="0">
                <a:effectLst/>
                <a:latin typeface="Google Sans"/>
              </a:rPr>
              <a:t>-Fi, teléfonos móviles, equipos de soldadura y líneas de alta tensión.</a:t>
            </a:r>
          </a:p>
          <a:p>
            <a:r>
              <a:rPr lang="es-ES" b="1" u="none" strike="noStrike" dirty="0">
                <a:effectLst/>
                <a:latin typeface="Google Sans"/>
              </a:rPr>
              <a:t>Naturales:</a:t>
            </a:r>
            <a:r>
              <a:rPr lang="es-ES" b="0" u="none" strike="noStrike" dirty="0">
                <a:effectLst/>
                <a:latin typeface="Google Sans"/>
              </a:rPr>
              <a:t> Tormentas eléctricas (rayos) y actividad o tormentas solares</a:t>
            </a:r>
          </a:p>
          <a:p>
            <a:pPr rtl="0"/>
            <a:endParaRPr lang="es-ES"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23</a:t>
            </a:fld>
            <a:endParaRPr lang="es-CO"/>
          </a:p>
        </p:txBody>
      </p:sp>
    </p:spTree>
    <p:extLst>
      <p:ext uri="{BB962C8B-B14F-4D97-AF65-F5344CB8AC3E}">
        <p14:creationId xmlns:p14="http://schemas.microsoft.com/office/powerpoint/2010/main" val="3208182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dirty="0">
                <a:latin typeface="Humanst521 BT" panose="020B0602020204020204" pitchFamily="34" charset="0"/>
              </a:rPr>
              <a:t>Se denomina carga útil o carga de pago (</a:t>
            </a:r>
            <a:r>
              <a:rPr lang="es-CO" dirty="0" err="1">
                <a:latin typeface="Humanst521 BT" panose="020B0602020204020204" pitchFamily="34" charset="0"/>
              </a:rPr>
              <a:t>payload</a:t>
            </a:r>
            <a:r>
              <a:rPr lang="es-CO" dirty="0">
                <a:latin typeface="Humanst521 BT" panose="020B0602020204020204" pitchFamily="34" charset="0"/>
              </a:rPr>
              <a:t>) a todos los elementos del RPAS que no son necesarios para volar pero que son transportados para el cumplimiento de la misión específica que tienen encomendada,</a:t>
            </a:r>
          </a:p>
          <a:p>
            <a:pPr marL="0" marR="0" lvl="0" indent="0" algn="l" defTabSz="914400" rtl="0" eaLnBrk="1" fontAlgn="auto" latinLnBrk="0" hangingPunct="1">
              <a:lnSpc>
                <a:spcPct val="100000"/>
              </a:lnSpc>
              <a:spcBef>
                <a:spcPts val="0"/>
              </a:spcBef>
              <a:spcAft>
                <a:spcPts val="0"/>
              </a:spcAft>
              <a:buClrTx/>
              <a:buSzTx/>
              <a:buFontTx/>
              <a:buNone/>
              <a:tabLst/>
              <a:defRPr/>
            </a:pPr>
            <a:r>
              <a:rPr lang="es-CO" dirty="0">
                <a:latin typeface="Humanst521 BT" panose="020B0602020204020204" pitchFamily="34" charset="0"/>
              </a:rPr>
              <a:t>Hay RPAS que son capaces de transportar diferentes cargas útiles, de modo que pueden ser configurados para misiones diferentes.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CO" dirty="0">
              <a:latin typeface="Humanst521 BT" panose="020B0602020204020204" pitchFamily="34" charset="0"/>
            </a:endParaRPr>
          </a:p>
          <a:p>
            <a:pPr rtl="0"/>
            <a:endParaRPr lang="es-ES"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24</a:t>
            </a:fld>
            <a:endParaRPr lang="es-CO"/>
          </a:p>
        </p:txBody>
      </p:sp>
    </p:spTree>
    <p:extLst>
      <p:ext uri="{BB962C8B-B14F-4D97-AF65-F5344CB8AC3E}">
        <p14:creationId xmlns:p14="http://schemas.microsoft.com/office/powerpoint/2010/main" val="25027606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endParaRPr lang="es-ES"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25</a:t>
            </a:fld>
            <a:endParaRPr lang="es-CO"/>
          </a:p>
        </p:txBody>
      </p:sp>
    </p:spTree>
    <p:extLst>
      <p:ext uri="{BB962C8B-B14F-4D97-AF65-F5344CB8AC3E}">
        <p14:creationId xmlns:p14="http://schemas.microsoft.com/office/powerpoint/2010/main" val="37970179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endParaRPr lang="es-ES"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26</a:t>
            </a:fld>
            <a:endParaRPr lang="es-CO"/>
          </a:p>
        </p:txBody>
      </p:sp>
    </p:spTree>
    <p:extLst>
      <p:ext uri="{BB962C8B-B14F-4D97-AF65-F5344CB8AC3E}">
        <p14:creationId xmlns:p14="http://schemas.microsoft.com/office/powerpoint/2010/main" val="14393141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endParaRPr lang="es-ES"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27</a:t>
            </a:fld>
            <a:endParaRPr lang="es-CO"/>
          </a:p>
        </p:txBody>
      </p:sp>
    </p:spTree>
    <p:extLst>
      <p:ext uri="{BB962C8B-B14F-4D97-AF65-F5344CB8AC3E}">
        <p14:creationId xmlns:p14="http://schemas.microsoft.com/office/powerpoint/2010/main" val="1798512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ES" b="1" dirty="0"/>
              <a:t>Por qué existe un alfabeto fonético estandarizado</a:t>
            </a:r>
          </a:p>
          <a:p>
            <a:pPr rtl="0"/>
            <a:r>
              <a:rPr lang="es-ES" dirty="0"/>
              <a:t>En comunicaciones por radio, muchas letras suenan parecido bajo ruido o mala calidad de señal ("m" y "n", "b" y "d", etc.). El alfabeto fonético de la OACI elimina esa ambigüedad asignando una palabra reconocible internacionalmente a cada letra.</a:t>
            </a:r>
          </a:p>
          <a:p>
            <a:pPr rtl="0"/>
            <a:endParaRPr lang="es-ES"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28</a:t>
            </a:fld>
            <a:endParaRPr lang="es-CO"/>
          </a:p>
        </p:txBody>
      </p:sp>
    </p:spTree>
    <p:extLst>
      <p:ext uri="{BB962C8B-B14F-4D97-AF65-F5344CB8AC3E}">
        <p14:creationId xmlns:p14="http://schemas.microsoft.com/office/powerpoint/2010/main" val="22190383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endParaRPr lang="es-ES"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29</a:t>
            </a:fld>
            <a:endParaRPr lang="es-CO"/>
          </a:p>
        </p:txBody>
      </p:sp>
    </p:spTree>
    <p:extLst>
      <p:ext uri="{BB962C8B-B14F-4D97-AF65-F5344CB8AC3E}">
        <p14:creationId xmlns:p14="http://schemas.microsoft.com/office/powerpoint/2010/main" val="23778981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endParaRPr lang="es-ES"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30</a:t>
            </a:fld>
            <a:endParaRPr lang="es-CO"/>
          </a:p>
        </p:txBody>
      </p:sp>
    </p:spTree>
    <p:extLst>
      <p:ext uri="{BB962C8B-B14F-4D97-AF65-F5344CB8AC3E}">
        <p14:creationId xmlns:p14="http://schemas.microsoft.com/office/powerpoint/2010/main" val="8791544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endParaRPr lang="es-ES"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31</a:t>
            </a:fld>
            <a:endParaRPr lang="es-CO"/>
          </a:p>
        </p:txBody>
      </p:sp>
    </p:spTree>
    <p:extLst>
      <p:ext uri="{BB962C8B-B14F-4D97-AF65-F5344CB8AC3E}">
        <p14:creationId xmlns:p14="http://schemas.microsoft.com/office/powerpoint/2010/main" val="4203781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endParaRPr lang="es-ES"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32</a:t>
            </a:fld>
            <a:endParaRPr lang="es-CO"/>
          </a:p>
        </p:txBody>
      </p:sp>
    </p:spTree>
    <p:extLst>
      <p:ext uri="{BB962C8B-B14F-4D97-AF65-F5344CB8AC3E}">
        <p14:creationId xmlns:p14="http://schemas.microsoft.com/office/powerpoint/2010/main" val="28373387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endParaRPr lang="es-ES"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33</a:t>
            </a:fld>
            <a:endParaRPr lang="es-CO"/>
          </a:p>
        </p:txBody>
      </p:sp>
    </p:spTree>
    <p:extLst>
      <p:ext uri="{BB962C8B-B14F-4D97-AF65-F5344CB8AC3E}">
        <p14:creationId xmlns:p14="http://schemas.microsoft.com/office/powerpoint/2010/main" val="39746589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800" dirty="0">
                <a:effectLst/>
                <a:latin typeface="Montserrat" panose="00000500000000000000" pitchFamily="2" charset="0"/>
                <a:ea typeface="Humanst521 BT" panose="020B0602020204020204" pitchFamily="34" charset="0"/>
                <a:cs typeface="Times New Roman" panose="02020603050405020304" pitchFamily="18" charset="0"/>
              </a:rPr>
              <a:t>Con el fin de garantizar operaciones seguras, eficientes y prolongar la vida útil del dron, se recomienda el uso de listas de verificación antes y después de cada vuelo. Estas listas ayudan a confirmar que todo el equipo se encuentra en condiciones óptimas y que se han tomado las precauciones necesarias tanto para el piloto como para las personas en el entorno.</a:t>
            </a:r>
            <a:endParaRPr lang="es-CO" sz="1800" dirty="0">
              <a:effectLst/>
              <a:latin typeface="Humanst521 BT" panose="020B0602020204020204" pitchFamily="34" charset="0"/>
              <a:ea typeface="Humanst521 BT" panose="020B0602020204020204" pitchFamily="34" charset="0"/>
              <a:cs typeface="Times New Roman" panose="02020603050405020304" pitchFamily="18" charset="0"/>
            </a:endParaRPr>
          </a:p>
          <a:p>
            <a:endParaRPr lang="es-CO"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34</a:t>
            </a:fld>
            <a:endParaRPr lang="es-CO"/>
          </a:p>
        </p:txBody>
      </p:sp>
    </p:spTree>
    <p:extLst>
      <p:ext uri="{BB962C8B-B14F-4D97-AF65-F5344CB8AC3E}">
        <p14:creationId xmlns:p14="http://schemas.microsoft.com/office/powerpoint/2010/main" val="21408958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41</a:t>
            </a:fld>
            <a:endParaRPr lang="es-CO"/>
          </a:p>
        </p:txBody>
      </p:sp>
    </p:spTree>
    <p:extLst>
      <p:ext uri="{BB962C8B-B14F-4D97-AF65-F5344CB8AC3E}">
        <p14:creationId xmlns:p14="http://schemas.microsoft.com/office/powerpoint/2010/main" val="38418394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2ADF21EC-FE6F-4F6C-AED3-62F30E5F853E}" type="slidenum">
              <a:rPr lang="es-CO" smtClean="0"/>
              <a:t>42</a:t>
            </a:fld>
            <a:endParaRPr lang="es-CO"/>
          </a:p>
        </p:txBody>
      </p:sp>
    </p:spTree>
    <p:extLst>
      <p:ext uri="{BB962C8B-B14F-4D97-AF65-F5344CB8AC3E}">
        <p14:creationId xmlns:p14="http://schemas.microsoft.com/office/powerpoint/2010/main" val="3070299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Clic para editar título</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4412281-1AA8-CE4A-A554-8B9E186C39A7}" type="datetimeFigureOut">
              <a:rPr lang="es-ES_tradnl" smtClean="0"/>
              <a:t>17/09/2026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233B02DB-5781-F943-94F9-873A9A973557}" type="slidenum">
              <a:rPr lang="es-ES_tradnl" smtClean="0"/>
              <a:t>‹Nº›</a:t>
            </a:fld>
            <a:endParaRPr lang="es-ES_tradnl"/>
          </a:p>
        </p:txBody>
      </p:sp>
    </p:spTree>
    <p:extLst>
      <p:ext uri="{BB962C8B-B14F-4D97-AF65-F5344CB8AC3E}">
        <p14:creationId xmlns:p14="http://schemas.microsoft.com/office/powerpoint/2010/main" val="250518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Clic para editar título</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4412281-1AA8-CE4A-A554-8B9E186C39A7}" type="datetimeFigureOut">
              <a:rPr lang="es-ES_tradnl" smtClean="0"/>
              <a:t>17/09/2026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233B02DB-5781-F943-94F9-873A9A973557}" type="slidenum">
              <a:rPr lang="es-ES_tradnl" smtClean="0"/>
              <a:t>‹Nº›</a:t>
            </a:fld>
            <a:endParaRPr lang="es-ES_tradnl"/>
          </a:p>
        </p:txBody>
      </p:sp>
    </p:spTree>
    <p:extLst>
      <p:ext uri="{BB962C8B-B14F-4D97-AF65-F5344CB8AC3E}">
        <p14:creationId xmlns:p14="http://schemas.microsoft.com/office/powerpoint/2010/main" val="1404263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Clic para editar título</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4412281-1AA8-CE4A-A554-8B9E186C39A7}" type="datetimeFigureOut">
              <a:rPr lang="es-ES_tradnl" smtClean="0"/>
              <a:t>17/09/2026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233B02DB-5781-F943-94F9-873A9A973557}" type="slidenum">
              <a:rPr lang="es-ES_tradnl" smtClean="0"/>
              <a:t>‹Nº›</a:t>
            </a:fld>
            <a:endParaRPr lang="es-ES_tradnl"/>
          </a:p>
        </p:txBody>
      </p:sp>
    </p:spTree>
    <p:extLst>
      <p:ext uri="{BB962C8B-B14F-4D97-AF65-F5344CB8AC3E}">
        <p14:creationId xmlns:p14="http://schemas.microsoft.com/office/powerpoint/2010/main" val="603313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Clic para editar título</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4412281-1AA8-CE4A-A554-8B9E186C39A7}" type="datetimeFigureOut">
              <a:rPr lang="es-ES_tradnl" smtClean="0"/>
              <a:t>17/09/2026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233B02DB-5781-F943-94F9-873A9A973557}" type="slidenum">
              <a:rPr lang="es-ES_tradnl" smtClean="0"/>
              <a:t>‹Nº›</a:t>
            </a:fld>
            <a:endParaRPr lang="es-ES_tradnl"/>
          </a:p>
        </p:txBody>
      </p:sp>
    </p:spTree>
    <p:extLst>
      <p:ext uri="{BB962C8B-B14F-4D97-AF65-F5344CB8AC3E}">
        <p14:creationId xmlns:p14="http://schemas.microsoft.com/office/powerpoint/2010/main" val="1618302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Clic para editar título</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4412281-1AA8-CE4A-A554-8B9E186C39A7}" type="datetimeFigureOut">
              <a:rPr lang="es-ES_tradnl" smtClean="0"/>
              <a:t>17/09/2026</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233B02DB-5781-F943-94F9-873A9A973557}" type="slidenum">
              <a:rPr lang="es-ES_tradnl" smtClean="0"/>
              <a:t>‹Nº›</a:t>
            </a:fld>
            <a:endParaRPr lang="es-ES_tradnl"/>
          </a:p>
        </p:txBody>
      </p:sp>
    </p:spTree>
    <p:extLst>
      <p:ext uri="{BB962C8B-B14F-4D97-AF65-F5344CB8AC3E}">
        <p14:creationId xmlns:p14="http://schemas.microsoft.com/office/powerpoint/2010/main" val="921862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Clic para editar título</a:t>
            </a:r>
            <a:endParaRPr lang="en-US" dirty="0"/>
          </a:p>
        </p:txBody>
      </p:sp>
      <p:sp>
        <p:nvSpPr>
          <p:cNvPr id="3" name="Date Placeholder 2"/>
          <p:cNvSpPr>
            <a:spLocks noGrp="1"/>
          </p:cNvSpPr>
          <p:nvPr>
            <p:ph type="dt" sz="half" idx="10"/>
          </p:nvPr>
        </p:nvSpPr>
        <p:spPr/>
        <p:txBody>
          <a:bodyPr/>
          <a:lstStyle/>
          <a:p>
            <a:fld id="{C4412281-1AA8-CE4A-A554-8B9E186C39A7}" type="datetimeFigureOut">
              <a:rPr lang="es-ES_tradnl" smtClean="0"/>
              <a:t>17/09/2026</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233B02DB-5781-F943-94F9-873A9A973557}" type="slidenum">
              <a:rPr lang="es-ES_tradnl" smtClean="0"/>
              <a:t>‹Nº›</a:t>
            </a:fld>
            <a:endParaRPr lang="es-ES_tradnl"/>
          </a:p>
        </p:txBody>
      </p:sp>
    </p:spTree>
    <p:extLst>
      <p:ext uri="{BB962C8B-B14F-4D97-AF65-F5344CB8AC3E}">
        <p14:creationId xmlns:p14="http://schemas.microsoft.com/office/powerpoint/2010/main" val="1797167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412281-1AA8-CE4A-A554-8B9E186C39A7}" type="datetimeFigureOut">
              <a:rPr lang="es-ES_tradnl" smtClean="0"/>
              <a:t>17/09/2026</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233B02DB-5781-F943-94F9-873A9A973557}" type="slidenum">
              <a:rPr lang="es-ES_tradnl" smtClean="0"/>
              <a:t>‹Nº›</a:t>
            </a:fld>
            <a:endParaRPr lang="es-ES_tradnl"/>
          </a:p>
        </p:txBody>
      </p:sp>
    </p:spTree>
    <p:extLst>
      <p:ext uri="{BB962C8B-B14F-4D97-AF65-F5344CB8AC3E}">
        <p14:creationId xmlns:p14="http://schemas.microsoft.com/office/powerpoint/2010/main" val="640459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Clic para editar título</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C4412281-1AA8-CE4A-A554-8B9E186C39A7}" type="datetimeFigureOut">
              <a:rPr lang="es-ES_tradnl" smtClean="0"/>
              <a:t>17/09/2026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233B02DB-5781-F943-94F9-873A9A973557}" type="slidenum">
              <a:rPr lang="es-ES_tradnl" smtClean="0"/>
              <a:t>‹Nº›</a:t>
            </a:fld>
            <a:endParaRPr lang="es-ES_tradnl"/>
          </a:p>
        </p:txBody>
      </p:sp>
    </p:spTree>
    <p:extLst>
      <p:ext uri="{BB962C8B-B14F-4D97-AF65-F5344CB8AC3E}">
        <p14:creationId xmlns:p14="http://schemas.microsoft.com/office/powerpoint/2010/main" val="1006710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Clic para editar título</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Arrastre la imagen al marcador de posición o haga clic en el icono para agregar</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C4412281-1AA8-CE4A-A554-8B9E186C39A7}" type="datetimeFigureOut">
              <a:rPr lang="es-ES_tradnl" smtClean="0"/>
              <a:t>17/09/2026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233B02DB-5781-F943-94F9-873A9A973557}" type="slidenum">
              <a:rPr lang="es-ES_tradnl" smtClean="0"/>
              <a:t>‹Nº›</a:t>
            </a:fld>
            <a:endParaRPr lang="es-ES_tradnl"/>
          </a:p>
        </p:txBody>
      </p:sp>
    </p:spTree>
    <p:extLst>
      <p:ext uri="{BB962C8B-B14F-4D97-AF65-F5344CB8AC3E}">
        <p14:creationId xmlns:p14="http://schemas.microsoft.com/office/powerpoint/2010/main" val="1905118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Clic para editar título</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4412281-1AA8-CE4A-A554-8B9E186C39A7}" type="datetimeFigureOut">
              <a:rPr lang="es-ES_tradnl" smtClean="0"/>
              <a:t>17/09/2026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233B02DB-5781-F943-94F9-873A9A973557}" type="slidenum">
              <a:rPr lang="es-ES_tradnl" smtClean="0"/>
              <a:t>‹Nº›</a:t>
            </a:fld>
            <a:endParaRPr lang="es-ES_tradnl"/>
          </a:p>
        </p:txBody>
      </p:sp>
    </p:spTree>
    <p:extLst>
      <p:ext uri="{BB962C8B-B14F-4D97-AF65-F5344CB8AC3E}">
        <p14:creationId xmlns:p14="http://schemas.microsoft.com/office/powerpoint/2010/main" val="343200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Clic para editar título</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4412281-1AA8-CE4A-A554-8B9E186C39A7}" type="datetimeFigureOut">
              <a:rPr lang="es-ES_tradnl" smtClean="0"/>
              <a:t>17/09/2026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233B02DB-5781-F943-94F9-873A9A973557}" type="slidenum">
              <a:rPr lang="es-ES_tradnl" smtClean="0"/>
              <a:t>‹Nº›</a:t>
            </a:fld>
            <a:endParaRPr lang="es-ES_tradnl"/>
          </a:p>
        </p:txBody>
      </p:sp>
    </p:spTree>
    <p:extLst>
      <p:ext uri="{BB962C8B-B14F-4D97-AF65-F5344CB8AC3E}">
        <p14:creationId xmlns:p14="http://schemas.microsoft.com/office/powerpoint/2010/main" val="31273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Clic para editar título</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412281-1AA8-CE4A-A554-8B9E186C39A7}" type="datetimeFigureOut">
              <a:rPr lang="es-ES_tradnl" smtClean="0"/>
              <a:t>17/09/2026</a:t>
            </a:fld>
            <a:endParaRPr lang="es-ES_tradnl"/>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_tradnl"/>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3B02DB-5781-F943-94F9-873A9A973557}" type="slidenum">
              <a:rPr lang="es-ES_tradnl" smtClean="0"/>
              <a:t>‹Nº›</a:t>
            </a:fld>
            <a:endParaRPr lang="es-ES_tradnl"/>
          </a:p>
        </p:txBody>
      </p:sp>
    </p:spTree>
    <p:extLst>
      <p:ext uri="{BB962C8B-B14F-4D97-AF65-F5344CB8AC3E}">
        <p14:creationId xmlns:p14="http://schemas.microsoft.com/office/powerpoint/2010/main" val="142008590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microsoft.com/office/2007/relationships/hdphoto" Target="../media/hdphoto1.wdp"/><Relationship Id="rId9" Type="http://schemas.openxmlformats.org/officeDocument/2006/relationships/image" Target="../media/image8.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7.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8.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jpeg"/><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1.jpe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2.jpe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24.jpeg"/><Relationship Id="rId5" Type="http://schemas.openxmlformats.org/officeDocument/2006/relationships/image" Target="../media/image23.jpe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5.pn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6.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7.jpeg"/><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7" Type="http://schemas.microsoft.com/office/2007/relationships/hdphoto" Target="../media/hdphoto3.wdp"/><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29.png"/><Relationship Id="rId5" Type="http://schemas.openxmlformats.org/officeDocument/2006/relationships/image" Target="../media/image28.jpg"/><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png"/><Relationship Id="rId7" Type="http://schemas.openxmlformats.org/officeDocument/2006/relationships/diagramQuickStyle" Target="../diagrams/quickStyle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microsoft.com/office/2007/relationships/hdphoto" Target="../media/hdphoto1.wdp"/><Relationship Id="rId9" Type="http://schemas.microsoft.com/office/2007/relationships/diagramDrawing" Target="../diagrams/drawing1.xml"/></Relationships>
</file>

<file path=ppt/slides/_rels/slide2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png"/><Relationship Id="rId7" Type="http://schemas.openxmlformats.org/officeDocument/2006/relationships/image" Target="../media/image36.jpeg"/><Relationship Id="rId12"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35.jpeg"/><Relationship Id="rId11" Type="http://schemas.openxmlformats.org/officeDocument/2006/relationships/image" Target="../media/image40.jpeg"/><Relationship Id="rId5" Type="http://schemas.openxmlformats.org/officeDocument/2006/relationships/image" Target="../media/image34.jpeg"/><Relationship Id="rId10" Type="http://schemas.openxmlformats.org/officeDocument/2006/relationships/image" Target="../media/image39.jpeg"/><Relationship Id="rId4" Type="http://schemas.microsoft.com/office/2007/relationships/hdphoto" Target="../media/hdphoto1.wdp"/><Relationship Id="rId9"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2.jpeg"/><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8" Type="http://schemas.openxmlformats.org/officeDocument/2006/relationships/hyperlink" Target="https://www.google.com/goto?url=CAESaQHrOzAVtEkqK6eBvOKfAI-029X1NV6oRyI_FAS34NMzYil6yB45Mqp5-PAGgROmtftbcH3mjIEZQibdFgaGPaTtLbSQEfy1Psu9OtUUu_I1JeHXU-ApAb5FLWmM5lDW_ubMnKKBp4chyg" TargetMode="External"/><Relationship Id="rId3" Type="http://schemas.openxmlformats.org/officeDocument/2006/relationships/image" Target="../media/image3.png"/><Relationship Id="rId7" Type="http://schemas.openxmlformats.org/officeDocument/2006/relationships/hyperlink" Target="https://www.google.com/goto?url=CAESaQHrOzAVj-qKpkyUx7rASV4P2bwF6YlAqoqlxcvcNe4Y72xMl-eFR-0b2A0BvG5D86-_ROTjCZlWLsv65P_0Jz7nykX7BrD5u4gcC1EbftX5oTWF-6b-PXIBQFAEauxWiHlGS3MJw_VBCg" TargetMode="External"/><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hyperlink" Target="https://www.google.com/goto?url=CAESYwHrOzAVwrQ7RhJa8uIVI96SXBMZZ9mDvmt-ZSwdN0gS9gs_LvOGsqWlTnCFjx6wz8UrrqSmZrEZ1A9Nrfr48xP5amghAU6NdNGGmetTGp8HD_-vqqmFozBhwwulTeOB7AMpbw" TargetMode="External"/><Relationship Id="rId5" Type="http://schemas.openxmlformats.org/officeDocument/2006/relationships/hyperlink" Target="https://www.google.com/goto?url=CAESaAHrOzAVGIxionBtDB8w20_KqFukiVZ7rp2lDEof2EEa1GvccUT2bk9_3ozPbAfAN1HvDsojcVh6JkoXteW9P3-EnDQ2p-mWtdR8p8OUcH5prHBGGg39KW2Ss3CjSFWDVuMCJAz0PTB1" TargetMode="External"/><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hyperlink" Target="https://www.google.com/goto?url=CAESaQHrOzAVj-qKpkyUx7rASV4P2bwF6YlAqoqlxcvcNe4Y72xMl-eFR-0b2A0BvG5D86-_ROTjCZlWLsv65P_0Jz7nykX7BrD5u4gcC1EbftX5oTWF-6b-PXIBQFAEauxWiHlGS3MJw_VBCg" TargetMode="External"/><Relationship Id="rId5" Type="http://schemas.openxmlformats.org/officeDocument/2006/relationships/hyperlink" Target="https://www.google.com/goto?url=CAESaQHrOzAVtEkqK6eBvOKfAI-029X1NV6oRyI_FAS34NMzYil6yB45Mqp5-PAGgROmtftbcH3mjIEZQibdFgaGPaTtLbSQEfy1Psu9OtUUu_I1JeHXU-ApAb5FLWmM5lDW_ubMnKKBp4chyg" TargetMode="External"/><Relationship Id="rId4" Type="http://schemas.microsoft.com/office/2007/relationships/hdphoto" Target="../media/hdphoto1.wdp"/></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hyperlink" Target="https://www.google.com/goto?url=CAESaQHrOzAVtEkqK6eBvOKfAI-029X1NV6oRyI_FAS34NMzYil6yB45Mqp5-PAGgROmtftbcH3mjIEZQibdFgaGPaTtLbSQEfy1Psu9OtUUu_I1JeHXU-ApAb5FLWmM5lDW_ubMnKKBp4chyg" TargetMode="External"/><Relationship Id="rId5" Type="http://schemas.openxmlformats.org/officeDocument/2006/relationships/hyperlink" Target="https://www.google.com/goto?url=CAESaAHrOzAVz5vE7nPFDl3vhsVTC9muqEubipi5OjEIi_5t55eUB7I5dy9zGJtHTuOQ0fxTYfL5Gux5cPMe_VpYFsdkJrtYPzNMbrfRYgWfjlP2iX_Eyf-PcU3-sUvSm00fsf9B3_8cs3O1" TargetMode="External"/><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hyperlink" Target="https://aerocivil.maps.arcgis.com/apps/instant/media/index.html?appid=b4be4d501c8d4bcabd0c35297521c16e&amp;center=-74.3578;4.7377&amp;level=10" TargetMode="Externa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6.jpeg"/><Relationship Id="rId4" Type="http://schemas.openxmlformats.org/officeDocument/2006/relationships/hyperlink" Target="https://www.asuntoslegales.com.co/consumidor/por-volar-un-dron-sin-permiso-de-aerocivil-la-multa-puede-ser-de-casi-20-millones-4142980"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47.jpeg"/><Relationship Id="rId4" Type="http://schemas.openxmlformats.org/officeDocument/2006/relationships/hyperlink" Target="https://www.asuntoslegales.com.co/actualidad/estos-son-los-requisitos-que-debe-cumplir-para-volar-un-dron-sin-que-lo-multen-4424371" TargetMode="External"/></Relationships>
</file>

<file path=ppt/slides/_rels/slide4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B8B05767-921E-0444-9C3E-1321A550A635}"/>
              </a:ext>
            </a:extLst>
          </p:cNvPr>
          <p:cNvPicPr>
            <a:picLocks noChangeAspect="1"/>
          </p:cNvPicPr>
          <p:nvPr/>
        </p:nvPicPr>
        <p:blipFill>
          <a:blip r:embed="rId2"/>
          <a:src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BBDB197B-B481-3D49-B7BA-1263A1FA0288}"/>
              </a:ext>
            </a:extLst>
          </p:cNvPr>
          <p:cNvSpPr txBox="1"/>
          <p:nvPr/>
        </p:nvSpPr>
        <p:spPr>
          <a:xfrm>
            <a:off x="5072333" y="3510951"/>
            <a:ext cx="6650966" cy="1938992"/>
          </a:xfrm>
          <a:prstGeom prst="rect">
            <a:avLst/>
          </a:prstGeom>
          <a:noFill/>
        </p:spPr>
        <p:txBody>
          <a:bodyPr wrap="square" rtlCol="0">
            <a:spAutoFit/>
          </a:bodyPr>
          <a:lstStyle/>
          <a:p>
            <a:pPr algn="r"/>
            <a:r>
              <a:rPr lang="es-ES" sz="4000" b="1" dirty="0">
                <a:solidFill>
                  <a:schemeClr val="bg2">
                    <a:lumMod val="50000"/>
                  </a:schemeClr>
                </a:solidFill>
                <a:latin typeface="Myriad Pro Semibold" panose="020B0503030403020204" pitchFamily="34" charset="0"/>
              </a:rPr>
              <a:t>I</a:t>
            </a:r>
            <a:r>
              <a:rPr lang="es-CO" sz="4000" b="1" dirty="0" err="1">
                <a:solidFill>
                  <a:schemeClr val="bg2">
                    <a:lumMod val="50000"/>
                  </a:schemeClr>
                </a:solidFill>
                <a:latin typeface="Myriad Pro Semibold" panose="020B0503030403020204" pitchFamily="34" charset="0"/>
              </a:rPr>
              <a:t>ntroducción</a:t>
            </a:r>
            <a:r>
              <a:rPr lang="es-CO" sz="4000" b="1" dirty="0">
                <a:solidFill>
                  <a:schemeClr val="bg2">
                    <a:lumMod val="50000"/>
                  </a:schemeClr>
                </a:solidFill>
                <a:latin typeface="Myriad Pro Semibold" panose="020B0503030403020204" pitchFamily="34" charset="0"/>
              </a:rPr>
              <a:t> manejo de aeronaves no tripuladas (UAS / UAV)</a:t>
            </a:r>
          </a:p>
        </p:txBody>
      </p:sp>
      <p:pic>
        <p:nvPicPr>
          <p:cNvPr id="1032" name="Picture 8" descr="Vista superior del DJI Mavic Mini PNG transparente - StickPNG">
            <a:extLst>
              <a:ext uri="{FF2B5EF4-FFF2-40B4-BE49-F238E27FC236}">
                <a16:creationId xmlns:a16="http://schemas.microsoft.com/office/drawing/2014/main" id="{BF8EBD73-7BA7-3AD5-A793-2A652BBD3D1E}"/>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468701" y="3264095"/>
            <a:ext cx="3953814" cy="2185848"/>
          </a:xfrm>
          <a:prstGeom prst="rect">
            <a:avLst/>
          </a:prstGeom>
          <a:noFill/>
          <a:extLst>
            <a:ext uri="{909E8E84-426E-40DD-AFC4-6F175D3DCCD1}">
              <a14:hiddenFill xmlns:a14="http://schemas.microsoft.com/office/drawing/2010/main">
                <a:solidFill>
                  <a:srgbClr val="FFFFFF"/>
                </a:solidFill>
              </a14:hiddenFill>
            </a:ext>
          </a:extLst>
        </p:spPr>
      </p:pic>
      <p:sp>
        <p:nvSpPr>
          <p:cNvPr id="4" name="Text 2">
            <a:extLst>
              <a:ext uri="{FF2B5EF4-FFF2-40B4-BE49-F238E27FC236}">
                <a16:creationId xmlns:a16="http://schemas.microsoft.com/office/drawing/2014/main" id="{966E5F3E-3334-2B66-73FA-1BB97FDF1DD7}"/>
              </a:ext>
            </a:extLst>
          </p:cNvPr>
          <p:cNvSpPr txBox="1"/>
          <p:nvPr/>
        </p:nvSpPr>
        <p:spPr>
          <a:xfrm>
            <a:off x="1093417" y="5776819"/>
            <a:ext cx="9601200" cy="548640"/>
          </a:xfrm>
          <a:prstGeom prst="rect">
            <a:avLst/>
          </a:prstGeom>
          <a:noFill/>
          <a:ln/>
        </p:spPr>
        <p:txBody>
          <a:bodyPr wrap="square" lIns="0" tIns="0" rIns="0" bIns="0" rtlCol="0" anchor="ctr"/>
          <a:lstStyle/>
          <a:p>
            <a:pPr marL="0" indent="0">
              <a:buNone/>
            </a:pPr>
            <a:r>
              <a:rPr lang="en-US" sz="1800" i="1" dirty="0">
                <a:latin typeface="Calibri" pitchFamily="34" charset="0"/>
                <a:ea typeface="Calibri" pitchFamily="34" charset="-122"/>
                <a:cs typeface="Calibri" pitchFamily="34" charset="-120"/>
              </a:rPr>
              <a:t>Fundamentos basados en el RAC 100 — Reglamentos Aeronáuticos de Colombia</a:t>
            </a:r>
            <a:endParaRPr lang="en-US" sz="1800" dirty="0"/>
          </a:p>
        </p:txBody>
      </p:sp>
    </p:spTree>
    <p:extLst>
      <p:ext uri="{BB962C8B-B14F-4D97-AF65-F5344CB8AC3E}">
        <p14:creationId xmlns:p14="http://schemas.microsoft.com/office/powerpoint/2010/main" val="632380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B8B05767-921E-0444-9C3E-1321A550A635}"/>
              </a:ext>
            </a:extLst>
          </p:cNvPr>
          <p:cNvPicPr>
            <a:picLocks noChangeAspect="1"/>
          </p:cNvPicPr>
          <p:nvPr/>
        </p:nvPicPr>
        <p:blipFill>
          <a:blip r:embed="rId2"/>
          <a:src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BBDB197B-B481-3D49-B7BA-1263A1FA0288}"/>
              </a:ext>
            </a:extLst>
          </p:cNvPr>
          <p:cNvSpPr txBox="1"/>
          <p:nvPr/>
        </p:nvSpPr>
        <p:spPr>
          <a:xfrm>
            <a:off x="3296993" y="868680"/>
            <a:ext cx="5254580" cy="707886"/>
          </a:xfrm>
          <a:prstGeom prst="rect">
            <a:avLst/>
          </a:prstGeom>
          <a:noFill/>
        </p:spPr>
        <p:txBody>
          <a:bodyPr wrap="square" rtlCol="0">
            <a:spAutoFit/>
          </a:bodyPr>
          <a:lstStyle/>
          <a:p>
            <a:r>
              <a:rPr lang="es-ES" sz="4000" b="1" dirty="0">
                <a:solidFill>
                  <a:schemeClr val="bg2">
                    <a:lumMod val="50000"/>
                  </a:schemeClr>
                </a:solidFill>
                <a:latin typeface="Myriad Pro Semibold" panose="020B0503030403020204" pitchFamily="34" charset="0"/>
              </a:rPr>
              <a:t>Contenido del curso</a:t>
            </a:r>
            <a:endParaRPr lang="es-CO" sz="4000" b="1" dirty="0">
              <a:solidFill>
                <a:schemeClr val="bg2">
                  <a:lumMod val="50000"/>
                </a:schemeClr>
              </a:solidFill>
              <a:latin typeface="Myriad Pro Semibold" panose="020B0503030403020204" pitchFamily="34" charset="0"/>
            </a:endParaRPr>
          </a:p>
        </p:txBody>
      </p:sp>
      <p:pic>
        <p:nvPicPr>
          <p:cNvPr id="1032" name="Picture 8" descr="Vista superior del DJI Mavic Mini PNG transparente - StickPNG">
            <a:extLst>
              <a:ext uri="{FF2B5EF4-FFF2-40B4-BE49-F238E27FC236}">
                <a16:creationId xmlns:a16="http://schemas.microsoft.com/office/drawing/2014/main" id="{BF8EBD73-7BA7-3AD5-A793-2A652BBD3D1E}"/>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108093" y="263318"/>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1046" name="Shape 2">
            <a:extLst>
              <a:ext uri="{FF2B5EF4-FFF2-40B4-BE49-F238E27FC236}">
                <a16:creationId xmlns:a16="http://schemas.microsoft.com/office/drawing/2014/main" id="{7B6E5E71-ED0F-C86E-86ED-E6D1A3673873}"/>
              </a:ext>
            </a:extLst>
          </p:cNvPr>
          <p:cNvSpPr/>
          <p:nvPr/>
        </p:nvSpPr>
        <p:spPr>
          <a:xfrm>
            <a:off x="640080" y="1792224"/>
            <a:ext cx="502920" cy="502920"/>
          </a:xfrm>
          <a:prstGeom prst="ellipse">
            <a:avLst/>
          </a:prstGeom>
          <a:solidFill>
            <a:srgbClr val="065A82"/>
          </a:solidFill>
          <a:ln/>
        </p:spPr>
      </p:sp>
      <p:pic>
        <p:nvPicPr>
          <p:cNvPr id="1047" name="Image 0" descr="preencoded.png">
            <a:extLst>
              <a:ext uri="{FF2B5EF4-FFF2-40B4-BE49-F238E27FC236}">
                <a16:creationId xmlns:a16="http://schemas.microsoft.com/office/drawing/2014/main" id="{AC1B6B96-5DFE-0492-5C0E-A353FEBA2DB4}"/>
              </a:ext>
            </a:extLst>
          </p:cNvPr>
          <p:cNvPicPr>
            <a:picLocks noChangeAspect="1"/>
          </p:cNvPicPr>
          <p:nvPr/>
        </p:nvPicPr>
        <p:blipFill>
          <a:blip r:embed="rId5"/>
          <a:stretch>
            <a:fillRect/>
          </a:stretch>
        </p:blipFill>
        <p:spPr>
          <a:xfrm>
            <a:off x="749808" y="1901952"/>
            <a:ext cx="283464" cy="283464"/>
          </a:xfrm>
          <a:prstGeom prst="rect">
            <a:avLst/>
          </a:prstGeom>
        </p:spPr>
      </p:pic>
      <p:sp>
        <p:nvSpPr>
          <p:cNvPr id="1048" name="Text 3">
            <a:extLst>
              <a:ext uri="{FF2B5EF4-FFF2-40B4-BE49-F238E27FC236}">
                <a16:creationId xmlns:a16="http://schemas.microsoft.com/office/drawing/2014/main" id="{B4C1E940-AE40-B3A0-054F-CA44CF508931}"/>
              </a:ext>
            </a:extLst>
          </p:cNvPr>
          <p:cNvSpPr txBox="1"/>
          <p:nvPr/>
        </p:nvSpPr>
        <p:spPr>
          <a:xfrm>
            <a:off x="1207008" y="1737360"/>
            <a:ext cx="365760" cy="612648"/>
          </a:xfrm>
          <a:prstGeom prst="rect">
            <a:avLst/>
          </a:prstGeom>
          <a:noFill/>
          <a:ln/>
        </p:spPr>
        <p:txBody>
          <a:bodyPr wrap="square" lIns="0" tIns="0" rIns="0" bIns="0" rtlCol="0" anchor="ctr"/>
          <a:lstStyle/>
          <a:p>
            <a:pPr marL="0" indent="0">
              <a:buNone/>
            </a:pPr>
            <a:r>
              <a:rPr lang="en-US" sz="2000" b="1" dirty="0">
                <a:latin typeface="Myriad Pro Semibold" panose="020B0503030403020204"/>
                <a:ea typeface="Cambria" pitchFamily="34" charset="-122"/>
                <a:cs typeface="Cambria" pitchFamily="34" charset="-120"/>
              </a:rPr>
              <a:t>1</a:t>
            </a:r>
            <a:endParaRPr lang="en-US" sz="2000" dirty="0">
              <a:latin typeface="Myriad Pro Semibold" panose="020B0503030403020204"/>
            </a:endParaRPr>
          </a:p>
        </p:txBody>
      </p:sp>
      <p:sp>
        <p:nvSpPr>
          <p:cNvPr id="1049" name="Text 4">
            <a:extLst>
              <a:ext uri="{FF2B5EF4-FFF2-40B4-BE49-F238E27FC236}">
                <a16:creationId xmlns:a16="http://schemas.microsoft.com/office/drawing/2014/main" id="{BE0FAD95-587B-4DA5-DF30-4C37BFB16F1D}"/>
              </a:ext>
            </a:extLst>
          </p:cNvPr>
          <p:cNvSpPr txBox="1"/>
          <p:nvPr/>
        </p:nvSpPr>
        <p:spPr>
          <a:xfrm>
            <a:off x="1600200" y="1737360"/>
            <a:ext cx="4251960" cy="612648"/>
          </a:xfrm>
          <a:prstGeom prst="rect">
            <a:avLst/>
          </a:prstGeom>
          <a:noFill/>
          <a:ln/>
        </p:spPr>
        <p:txBody>
          <a:bodyPr wrap="square" lIns="0" tIns="0" rIns="0" bIns="0" rtlCol="0" anchor="ctr"/>
          <a:lstStyle/>
          <a:p>
            <a:pPr marL="0" indent="0">
              <a:buNone/>
            </a:pPr>
            <a:r>
              <a:rPr lang="en-US" sz="1400" b="1" dirty="0">
                <a:latin typeface="Myriad Pro Semibold" panose="020B0503030403020204"/>
                <a:ea typeface="Calibri" pitchFamily="34" charset="-122"/>
                <a:cs typeface="Calibri" pitchFamily="34" charset="-120"/>
              </a:rPr>
              <a:t>Introducción a UAS y marco regulatorio</a:t>
            </a:r>
            <a:endParaRPr lang="en-US" sz="1400" dirty="0">
              <a:latin typeface="Myriad Pro Semibold" panose="020B0503030403020204"/>
            </a:endParaRPr>
          </a:p>
        </p:txBody>
      </p:sp>
      <p:sp>
        <p:nvSpPr>
          <p:cNvPr id="1050" name="Shape 5">
            <a:extLst>
              <a:ext uri="{FF2B5EF4-FFF2-40B4-BE49-F238E27FC236}">
                <a16:creationId xmlns:a16="http://schemas.microsoft.com/office/drawing/2014/main" id="{288A8E99-D0E8-4E82-B24C-8698A96229A7}"/>
              </a:ext>
            </a:extLst>
          </p:cNvPr>
          <p:cNvSpPr/>
          <p:nvPr/>
        </p:nvSpPr>
        <p:spPr>
          <a:xfrm>
            <a:off x="640080" y="2688336"/>
            <a:ext cx="502920" cy="502920"/>
          </a:xfrm>
          <a:prstGeom prst="ellipse">
            <a:avLst/>
          </a:prstGeom>
          <a:solidFill>
            <a:srgbClr val="065A82"/>
          </a:solidFill>
          <a:ln/>
        </p:spPr>
      </p:sp>
      <p:pic>
        <p:nvPicPr>
          <p:cNvPr id="1051" name="Image 1" descr="preencoded.png">
            <a:extLst>
              <a:ext uri="{FF2B5EF4-FFF2-40B4-BE49-F238E27FC236}">
                <a16:creationId xmlns:a16="http://schemas.microsoft.com/office/drawing/2014/main" id="{D04B5451-C9F6-8CB4-DF8A-566FD8F10FF0}"/>
              </a:ext>
            </a:extLst>
          </p:cNvPr>
          <p:cNvPicPr>
            <a:picLocks noChangeAspect="1"/>
          </p:cNvPicPr>
          <p:nvPr/>
        </p:nvPicPr>
        <p:blipFill>
          <a:blip r:embed="rId6"/>
          <a:stretch>
            <a:fillRect/>
          </a:stretch>
        </p:blipFill>
        <p:spPr>
          <a:xfrm>
            <a:off x="749808" y="2798064"/>
            <a:ext cx="283464" cy="283464"/>
          </a:xfrm>
          <a:prstGeom prst="rect">
            <a:avLst/>
          </a:prstGeom>
        </p:spPr>
      </p:pic>
      <p:sp>
        <p:nvSpPr>
          <p:cNvPr id="1052" name="Text 6">
            <a:extLst>
              <a:ext uri="{FF2B5EF4-FFF2-40B4-BE49-F238E27FC236}">
                <a16:creationId xmlns:a16="http://schemas.microsoft.com/office/drawing/2014/main" id="{F0E000AF-8B4F-88A8-0009-94AB3BA8F337}"/>
              </a:ext>
            </a:extLst>
          </p:cNvPr>
          <p:cNvSpPr txBox="1"/>
          <p:nvPr/>
        </p:nvSpPr>
        <p:spPr>
          <a:xfrm>
            <a:off x="1207008" y="2633472"/>
            <a:ext cx="365760" cy="612648"/>
          </a:xfrm>
          <a:prstGeom prst="rect">
            <a:avLst/>
          </a:prstGeom>
          <a:noFill/>
          <a:ln/>
        </p:spPr>
        <p:txBody>
          <a:bodyPr wrap="square" lIns="0" tIns="0" rIns="0" bIns="0" rtlCol="0" anchor="ctr"/>
          <a:lstStyle/>
          <a:p>
            <a:pPr marL="0" indent="0">
              <a:buNone/>
            </a:pPr>
            <a:r>
              <a:rPr lang="en-US" sz="2000" b="1" dirty="0">
                <a:latin typeface="Myriad Pro Semibold" panose="020B0503030403020204"/>
                <a:ea typeface="Cambria" pitchFamily="34" charset="-122"/>
                <a:cs typeface="Cambria" pitchFamily="34" charset="-120"/>
              </a:rPr>
              <a:t>2</a:t>
            </a:r>
            <a:endParaRPr lang="en-US" sz="2000" dirty="0">
              <a:latin typeface="Myriad Pro Semibold" panose="020B0503030403020204"/>
            </a:endParaRPr>
          </a:p>
        </p:txBody>
      </p:sp>
      <p:sp>
        <p:nvSpPr>
          <p:cNvPr id="1053" name="Text 7">
            <a:extLst>
              <a:ext uri="{FF2B5EF4-FFF2-40B4-BE49-F238E27FC236}">
                <a16:creationId xmlns:a16="http://schemas.microsoft.com/office/drawing/2014/main" id="{D2BA00F4-13B8-3722-850C-78BE2F835FD8}"/>
              </a:ext>
            </a:extLst>
          </p:cNvPr>
          <p:cNvSpPr txBox="1"/>
          <p:nvPr/>
        </p:nvSpPr>
        <p:spPr>
          <a:xfrm>
            <a:off x="1600200" y="2633472"/>
            <a:ext cx="4251960" cy="612648"/>
          </a:xfrm>
          <a:prstGeom prst="rect">
            <a:avLst/>
          </a:prstGeom>
          <a:noFill/>
          <a:ln/>
        </p:spPr>
        <p:txBody>
          <a:bodyPr wrap="square" lIns="0" tIns="0" rIns="0" bIns="0" rtlCol="0" anchor="ctr"/>
          <a:lstStyle/>
          <a:p>
            <a:pPr marL="0" indent="0">
              <a:buNone/>
            </a:pPr>
            <a:r>
              <a:rPr lang="en-US" sz="1400" b="1" dirty="0">
                <a:latin typeface="Myriad Pro Semibold" panose="020B0503030403020204"/>
                <a:ea typeface="Calibri" pitchFamily="34" charset="-122"/>
                <a:cs typeface="Calibri" pitchFamily="34" charset="-120"/>
              </a:rPr>
              <a:t>Derecho aéreo I</a:t>
            </a:r>
            <a:endParaRPr lang="en-US" sz="1400" dirty="0">
              <a:latin typeface="Myriad Pro Semibold" panose="020B0503030403020204"/>
            </a:endParaRPr>
          </a:p>
        </p:txBody>
      </p:sp>
      <p:sp>
        <p:nvSpPr>
          <p:cNvPr id="1054" name="Shape 8">
            <a:extLst>
              <a:ext uri="{FF2B5EF4-FFF2-40B4-BE49-F238E27FC236}">
                <a16:creationId xmlns:a16="http://schemas.microsoft.com/office/drawing/2014/main" id="{CDB30AF2-B9B7-EDFE-0346-C84A9D06546D}"/>
              </a:ext>
            </a:extLst>
          </p:cNvPr>
          <p:cNvSpPr/>
          <p:nvPr/>
        </p:nvSpPr>
        <p:spPr>
          <a:xfrm>
            <a:off x="640080" y="3584448"/>
            <a:ext cx="502920" cy="502920"/>
          </a:xfrm>
          <a:prstGeom prst="ellipse">
            <a:avLst/>
          </a:prstGeom>
          <a:solidFill>
            <a:srgbClr val="065A82"/>
          </a:solidFill>
          <a:ln/>
        </p:spPr>
      </p:sp>
      <p:pic>
        <p:nvPicPr>
          <p:cNvPr id="1055" name="Image 2" descr="preencoded.png">
            <a:extLst>
              <a:ext uri="{FF2B5EF4-FFF2-40B4-BE49-F238E27FC236}">
                <a16:creationId xmlns:a16="http://schemas.microsoft.com/office/drawing/2014/main" id="{BC2BE50C-1CE7-15E5-6E9D-39689607668F}"/>
              </a:ext>
            </a:extLst>
          </p:cNvPr>
          <p:cNvPicPr>
            <a:picLocks noChangeAspect="1"/>
          </p:cNvPicPr>
          <p:nvPr/>
        </p:nvPicPr>
        <p:blipFill>
          <a:blip r:embed="rId7"/>
          <a:stretch>
            <a:fillRect/>
          </a:stretch>
        </p:blipFill>
        <p:spPr>
          <a:xfrm>
            <a:off x="749808" y="3694176"/>
            <a:ext cx="283464" cy="283464"/>
          </a:xfrm>
          <a:prstGeom prst="rect">
            <a:avLst/>
          </a:prstGeom>
        </p:spPr>
      </p:pic>
      <p:sp>
        <p:nvSpPr>
          <p:cNvPr id="1056" name="Text 9">
            <a:extLst>
              <a:ext uri="{FF2B5EF4-FFF2-40B4-BE49-F238E27FC236}">
                <a16:creationId xmlns:a16="http://schemas.microsoft.com/office/drawing/2014/main" id="{39121A30-5B87-A90C-16E9-5E909A3F56DD}"/>
              </a:ext>
            </a:extLst>
          </p:cNvPr>
          <p:cNvSpPr txBox="1"/>
          <p:nvPr/>
        </p:nvSpPr>
        <p:spPr>
          <a:xfrm>
            <a:off x="1207008" y="3529584"/>
            <a:ext cx="365760" cy="612648"/>
          </a:xfrm>
          <a:prstGeom prst="rect">
            <a:avLst/>
          </a:prstGeom>
          <a:noFill/>
          <a:ln/>
        </p:spPr>
        <p:txBody>
          <a:bodyPr wrap="square" lIns="0" tIns="0" rIns="0" bIns="0" rtlCol="0" anchor="ctr"/>
          <a:lstStyle/>
          <a:p>
            <a:pPr marL="0" indent="0">
              <a:buNone/>
            </a:pPr>
            <a:r>
              <a:rPr lang="en-US" sz="2000" b="1" dirty="0">
                <a:latin typeface="Myriad Pro Semibold" panose="020B0503030403020204"/>
                <a:ea typeface="Cambria" pitchFamily="34" charset="-122"/>
                <a:cs typeface="Cambria" pitchFamily="34" charset="-120"/>
              </a:rPr>
              <a:t>3</a:t>
            </a:r>
            <a:endParaRPr lang="en-US" sz="2000" dirty="0">
              <a:latin typeface="Myriad Pro Semibold" panose="020B0503030403020204"/>
            </a:endParaRPr>
          </a:p>
        </p:txBody>
      </p:sp>
      <p:sp>
        <p:nvSpPr>
          <p:cNvPr id="1057" name="Text 10">
            <a:extLst>
              <a:ext uri="{FF2B5EF4-FFF2-40B4-BE49-F238E27FC236}">
                <a16:creationId xmlns:a16="http://schemas.microsoft.com/office/drawing/2014/main" id="{C574CBF9-5A77-9548-68C0-3D7D5AF50239}"/>
              </a:ext>
            </a:extLst>
          </p:cNvPr>
          <p:cNvSpPr txBox="1"/>
          <p:nvPr/>
        </p:nvSpPr>
        <p:spPr>
          <a:xfrm>
            <a:off x="1600200" y="3529584"/>
            <a:ext cx="4251960" cy="612648"/>
          </a:xfrm>
          <a:prstGeom prst="rect">
            <a:avLst/>
          </a:prstGeom>
          <a:noFill/>
          <a:ln/>
        </p:spPr>
        <p:txBody>
          <a:bodyPr wrap="square" lIns="0" tIns="0" rIns="0" bIns="0" rtlCol="0" anchor="ctr"/>
          <a:lstStyle/>
          <a:p>
            <a:pPr marL="0" indent="0">
              <a:buNone/>
            </a:pPr>
            <a:r>
              <a:rPr lang="en-US" sz="1400" b="1" dirty="0">
                <a:latin typeface="Myriad Pro Semibold" panose="020B0503030403020204"/>
                <a:ea typeface="Calibri" pitchFamily="34" charset="-122"/>
                <a:cs typeface="Calibri" pitchFamily="34" charset="-120"/>
              </a:rPr>
              <a:t>Derecho aéreo II</a:t>
            </a:r>
            <a:endParaRPr lang="en-US" sz="1400" dirty="0">
              <a:latin typeface="Myriad Pro Semibold" panose="020B0503030403020204"/>
            </a:endParaRPr>
          </a:p>
        </p:txBody>
      </p:sp>
      <p:sp>
        <p:nvSpPr>
          <p:cNvPr id="1058" name="Shape 11">
            <a:extLst>
              <a:ext uri="{FF2B5EF4-FFF2-40B4-BE49-F238E27FC236}">
                <a16:creationId xmlns:a16="http://schemas.microsoft.com/office/drawing/2014/main" id="{B9D87215-E215-5050-171E-3A28928379A3}"/>
              </a:ext>
            </a:extLst>
          </p:cNvPr>
          <p:cNvSpPr/>
          <p:nvPr/>
        </p:nvSpPr>
        <p:spPr>
          <a:xfrm>
            <a:off x="640080" y="4480560"/>
            <a:ext cx="502920" cy="502920"/>
          </a:xfrm>
          <a:prstGeom prst="ellipse">
            <a:avLst/>
          </a:prstGeom>
          <a:solidFill>
            <a:srgbClr val="065A82"/>
          </a:solidFill>
          <a:ln/>
        </p:spPr>
      </p:sp>
      <p:pic>
        <p:nvPicPr>
          <p:cNvPr id="1059" name="Image 3" descr="preencoded.png">
            <a:extLst>
              <a:ext uri="{FF2B5EF4-FFF2-40B4-BE49-F238E27FC236}">
                <a16:creationId xmlns:a16="http://schemas.microsoft.com/office/drawing/2014/main" id="{4E200777-F114-C4ED-5B37-081E5EF1983B}"/>
              </a:ext>
            </a:extLst>
          </p:cNvPr>
          <p:cNvPicPr>
            <a:picLocks noChangeAspect="1"/>
          </p:cNvPicPr>
          <p:nvPr/>
        </p:nvPicPr>
        <p:blipFill>
          <a:blip r:embed="rId8"/>
          <a:stretch>
            <a:fillRect/>
          </a:stretch>
        </p:blipFill>
        <p:spPr>
          <a:xfrm>
            <a:off x="749808" y="4590288"/>
            <a:ext cx="283464" cy="283464"/>
          </a:xfrm>
          <a:prstGeom prst="rect">
            <a:avLst/>
          </a:prstGeom>
        </p:spPr>
      </p:pic>
      <p:sp>
        <p:nvSpPr>
          <p:cNvPr id="1060" name="Text 12">
            <a:extLst>
              <a:ext uri="{FF2B5EF4-FFF2-40B4-BE49-F238E27FC236}">
                <a16:creationId xmlns:a16="http://schemas.microsoft.com/office/drawing/2014/main" id="{FFDC9D30-2EA3-0F9D-8AE2-CEFE841302D7}"/>
              </a:ext>
            </a:extLst>
          </p:cNvPr>
          <p:cNvSpPr txBox="1"/>
          <p:nvPr/>
        </p:nvSpPr>
        <p:spPr>
          <a:xfrm>
            <a:off x="1207008" y="4425696"/>
            <a:ext cx="365760" cy="612648"/>
          </a:xfrm>
          <a:prstGeom prst="rect">
            <a:avLst/>
          </a:prstGeom>
          <a:noFill/>
          <a:ln/>
        </p:spPr>
        <p:txBody>
          <a:bodyPr wrap="square" lIns="0" tIns="0" rIns="0" bIns="0" rtlCol="0" anchor="ctr"/>
          <a:lstStyle/>
          <a:p>
            <a:pPr marL="0" indent="0">
              <a:buNone/>
            </a:pPr>
            <a:r>
              <a:rPr lang="en-US" sz="2000" b="1" dirty="0">
                <a:latin typeface="Myriad Pro Semibold" panose="020B0503030403020204"/>
                <a:ea typeface="Cambria" pitchFamily="34" charset="-122"/>
                <a:cs typeface="Cambria" pitchFamily="34" charset="-120"/>
              </a:rPr>
              <a:t>4</a:t>
            </a:r>
            <a:endParaRPr lang="en-US" sz="2000" dirty="0">
              <a:latin typeface="Myriad Pro Semibold" panose="020B0503030403020204"/>
            </a:endParaRPr>
          </a:p>
        </p:txBody>
      </p:sp>
      <p:sp>
        <p:nvSpPr>
          <p:cNvPr id="1061" name="Text 13">
            <a:extLst>
              <a:ext uri="{FF2B5EF4-FFF2-40B4-BE49-F238E27FC236}">
                <a16:creationId xmlns:a16="http://schemas.microsoft.com/office/drawing/2014/main" id="{9928033D-3138-8DAC-5431-A8B4F4BF2388}"/>
              </a:ext>
            </a:extLst>
          </p:cNvPr>
          <p:cNvSpPr txBox="1"/>
          <p:nvPr/>
        </p:nvSpPr>
        <p:spPr>
          <a:xfrm>
            <a:off x="1600200" y="4425696"/>
            <a:ext cx="4251960" cy="612648"/>
          </a:xfrm>
          <a:prstGeom prst="rect">
            <a:avLst/>
          </a:prstGeom>
          <a:noFill/>
          <a:ln/>
        </p:spPr>
        <p:txBody>
          <a:bodyPr wrap="square" lIns="0" tIns="0" rIns="0" bIns="0" rtlCol="0" anchor="ctr"/>
          <a:lstStyle/>
          <a:p>
            <a:pPr marL="0" indent="0">
              <a:buNone/>
            </a:pPr>
            <a:r>
              <a:rPr lang="en-US" sz="1400" b="1" dirty="0">
                <a:latin typeface="Myriad Pro Semibold" panose="020B0503030403020204"/>
                <a:ea typeface="Calibri" pitchFamily="34" charset="-122"/>
                <a:cs typeface="Calibri" pitchFamily="34" charset="-120"/>
              </a:rPr>
              <a:t>Aerodinámica básica</a:t>
            </a:r>
            <a:endParaRPr lang="en-US" sz="1400" dirty="0">
              <a:latin typeface="Myriad Pro Semibold" panose="020B0503030403020204"/>
            </a:endParaRPr>
          </a:p>
        </p:txBody>
      </p:sp>
      <p:sp>
        <p:nvSpPr>
          <p:cNvPr id="1062" name="Shape 14">
            <a:extLst>
              <a:ext uri="{FF2B5EF4-FFF2-40B4-BE49-F238E27FC236}">
                <a16:creationId xmlns:a16="http://schemas.microsoft.com/office/drawing/2014/main" id="{675B3E60-AE25-1A2A-7CE4-9C201B48C9AA}"/>
              </a:ext>
            </a:extLst>
          </p:cNvPr>
          <p:cNvSpPr/>
          <p:nvPr/>
        </p:nvSpPr>
        <p:spPr>
          <a:xfrm>
            <a:off x="640080" y="5376672"/>
            <a:ext cx="502920" cy="502920"/>
          </a:xfrm>
          <a:prstGeom prst="ellipse">
            <a:avLst/>
          </a:prstGeom>
          <a:solidFill>
            <a:srgbClr val="065A82"/>
          </a:solidFill>
          <a:ln/>
        </p:spPr>
      </p:sp>
      <p:pic>
        <p:nvPicPr>
          <p:cNvPr id="1063" name="Image 4" descr="preencoded.png">
            <a:extLst>
              <a:ext uri="{FF2B5EF4-FFF2-40B4-BE49-F238E27FC236}">
                <a16:creationId xmlns:a16="http://schemas.microsoft.com/office/drawing/2014/main" id="{76B701E7-6F12-E5F0-2FC6-42925A149D60}"/>
              </a:ext>
            </a:extLst>
          </p:cNvPr>
          <p:cNvPicPr>
            <a:picLocks noChangeAspect="1"/>
          </p:cNvPicPr>
          <p:nvPr/>
        </p:nvPicPr>
        <p:blipFill>
          <a:blip r:embed="rId9"/>
          <a:stretch>
            <a:fillRect/>
          </a:stretch>
        </p:blipFill>
        <p:spPr>
          <a:xfrm>
            <a:off x="749808" y="5486400"/>
            <a:ext cx="283464" cy="283464"/>
          </a:xfrm>
          <a:prstGeom prst="rect">
            <a:avLst/>
          </a:prstGeom>
        </p:spPr>
      </p:pic>
      <p:sp>
        <p:nvSpPr>
          <p:cNvPr id="1064" name="Text 15">
            <a:extLst>
              <a:ext uri="{FF2B5EF4-FFF2-40B4-BE49-F238E27FC236}">
                <a16:creationId xmlns:a16="http://schemas.microsoft.com/office/drawing/2014/main" id="{56075572-446B-F8EC-A54E-F4ACDC3EFC91}"/>
              </a:ext>
            </a:extLst>
          </p:cNvPr>
          <p:cNvSpPr txBox="1"/>
          <p:nvPr/>
        </p:nvSpPr>
        <p:spPr>
          <a:xfrm>
            <a:off x="1207008" y="5321808"/>
            <a:ext cx="365760" cy="612648"/>
          </a:xfrm>
          <a:prstGeom prst="rect">
            <a:avLst/>
          </a:prstGeom>
          <a:noFill/>
          <a:ln/>
        </p:spPr>
        <p:txBody>
          <a:bodyPr wrap="square" lIns="0" tIns="0" rIns="0" bIns="0" rtlCol="0" anchor="ctr"/>
          <a:lstStyle/>
          <a:p>
            <a:pPr marL="0" indent="0">
              <a:buNone/>
            </a:pPr>
            <a:r>
              <a:rPr lang="en-US" sz="2000" b="1" dirty="0">
                <a:latin typeface="Myriad Pro Semibold" panose="020B0503030403020204"/>
                <a:ea typeface="Cambria" pitchFamily="34" charset="-122"/>
                <a:cs typeface="Cambria" pitchFamily="34" charset="-120"/>
              </a:rPr>
              <a:t>5</a:t>
            </a:r>
            <a:endParaRPr lang="en-US" sz="2000" dirty="0">
              <a:latin typeface="Myriad Pro Semibold" panose="020B0503030403020204"/>
            </a:endParaRPr>
          </a:p>
        </p:txBody>
      </p:sp>
      <p:sp>
        <p:nvSpPr>
          <p:cNvPr id="1065" name="Text 16">
            <a:extLst>
              <a:ext uri="{FF2B5EF4-FFF2-40B4-BE49-F238E27FC236}">
                <a16:creationId xmlns:a16="http://schemas.microsoft.com/office/drawing/2014/main" id="{4C3CA052-92AD-01CD-34AE-DBBF6A8F7162}"/>
              </a:ext>
            </a:extLst>
          </p:cNvPr>
          <p:cNvSpPr txBox="1"/>
          <p:nvPr/>
        </p:nvSpPr>
        <p:spPr>
          <a:xfrm>
            <a:off x="1600200" y="5321808"/>
            <a:ext cx="4251960" cy="612648"/>
          </a:xfrm>
          <a:prstGeom prst="rect">
            <a:avLst/>
          </a:prstGeom>
          <a:noFill/>
          <a:ln/>
        </p:spPr>
        <p:txBody>
          <a:bodyPr wrap="square" lIns="0" tIns="0" rIns="0" bIns="0" rtlCol="0" anchor="ctr"/>
          <a:lstStyle/>
          <a:p>
            <a:pPr marL="0" indent="0">
              <a:buNone/>
            </a:pPr>
            <a:r>
              <a:rPr lang="en-US" sz="1400" b="1" dirty="0">
                <a:latin typeface="Myriad Pro Semibold" panose="020B0503030403020204"/>
                <a:ea typeface="Calibri" pitchFamily="34" charset="-122"/>
                <a:cs typeface="Calibri" pitchFamily="34" charset="-120"/>
              </a:rPr>
              <a:t>Meteorología aeronáutica</a:t>
            </a:r>
            <a:endParaRPr lang="en-US" sz="1400" dirty="0">
              <a:latin typeface="Myriad Pro Semibold" panose="020B0503030403020204"/>
            </a:endParaRPr>
          </a:p>
        </p:txBody>
      </p:sp>
      <p:sp>
        <p:nvSpPr>
          <p:cNvPr id="1066" name="Shape 17">
            <a:extLst>
              <a:ext uri="{FF2B5EF4-FFF2-40B4-BE49-F238E27FC236}">
                <a16:creationId xmlns:a16="http://schemas.microsoft.com/office/drawing/2014/main" id="{71572F5A-FEA1-847A-4918-8FD349E5D5A6}"/>
              </a:ext>
            </a:extLst>
          </p:cNvPr>
          <p:cNvSpPr/>
          <p:nvPr/>
        </p:nvSpPr>
        <p:spPr>
          <a:xfrm>
            <a:off x="6309360" y="1792224"/>
            <a:ext cx="502920" cy="502920"/>
          </a:xfrm>
          <a:prstGeom prst="ellipse">
            <a:avLst/>
          </a:prstGeom>
          <a:solidFill>
            <a:srgbClr val="065A82"/>
          </a:solidFill>
          <a:ln/>
        </p:spPr>
      </p:sp>
      <p:pic>
        <p:nvPicPr>
          <p:cNvPr id="1067" name="Image 5" descr="preencoded.png">
            <a:extLst>
              <a:ext uri="{FF2B5EF4-FFF2-40B4-BE49-F238E27FC236}">
                <a16:creationId xmlns:a16="http://schemas.microsoft.com/office/drawing/2014/main" id="{1EBA3E1F-3658-7931-19D7-03BF96578131}"/>
              </a:ext>
            </a:extLst>
          </p:cNvPr>
          <p:cNvPicPr>
            <a:picLocks noChangeAspect="1"/>
          </p:cNvPicPr>
          <p:nvPr/>
        </p:nvPicPr>
        <p:blipFill>
          <a:blip r:embed="rId10"/>
          <a:stretch>
            <a:fillRect/>
          </a:stretch>
        </p:blipFill>
        <p:spPr>
          <a:xfrm>
            <a:off x="6419088" y="1901952"/>
            <a:ext cx="283464" cy="283464"/>
          </a:xfrm>
          <a:prstGeom prst="rect">
            <a:avLst/>
          </a:prstGeom>
        </p:spPr>
      </p:pic>
      <p:sp>
        <p:nvSpPr>
          <p:cNvPr id="1068" name="Text 18">
            <a:extLst>
              <a:ext uri="{FF2B5EF4-FFF2-40B4-BE49-F238E27FC236}">
                <a16:creationId xmlns:a16="http://schemas.microsoft.com/office/drawing/2014/main" id="{7F89B184-1F0B-A39D-B9D4-F1AEB046A772}"/>
              </a:ext>
            </a:extLst>
          </p:cNvPr>
          <p:cNvSpPr txBox="1"/>
          <p:nvPr/>
        </p:nvSpPr>
        <p:spPr>
          <a:xfrm>
            <a:off x="6876288" y="1737360"/>
            <a:ext cx="365760" cy="612648"/>
          </a:xfrm>
          <a:prstGeom prst="rect">
            <a:avLst/>
          </a:prstGeom>
          <a:noFill/>
          <a:ln/>
        </p:spPr>
        <p:txBody>
          <a:bodyPr wrap="square" lIns="0" tIns="0" rIns="0" bIns="0" rtlCol="0" anchor="ctr"/>
          <a:lstStyle/>
          <a:p>
            <a:pPr marL="0" indent="0">
              <a:buNone/>
            </a:pPr>
            <a:r>
              <a:rPr lang="en-US" sz="2000" b="1" dirty="0">
                <a:latin typeface="Myriad Pro Semibold" panose="020B0503030403020204"/>
                <a:ea typeface="Cambria" pitchFamily="34" charset="-122"/>
                <a:cs typeface="Cambria" pitchFamily="34" charset="-120"/>
              </a:rPr>
              <a:t>6</a:t>
            </a:r>
            <a:endParaRPr lang="en-US" sz="2000" dirty="0">
              <a:latin typeface="Myriad Pro Semibold" panose="020B0503030403020204"/>
            </a:endParaRPr>
          </a:p>
        </p:txBody>
      </p:sp>
      <p:sp>
        <p:nvSpPr>
          <p:cNvPr id="1069" name="Text 19">
            <a:extLst>
              <a:ext uri="{FF2B5EF4-FFF2-40B4-BE49-F238E27FC236}">
                <a16:creationId xmlns:a16="http://schemas.microsoft.com/office/drawing/2014/main" id="{EBE4C231-4F68-9643-805E-967274F19584}"/>
              </a:ext>
            </a:extLst>
          </p:cNvPr>
          <p:cNvSpPr txBox="1"/>
          <p:nvPr/>
        </p:nvSpPr>
        <p:spPr>
          <a:xfrm>
            <a:off x="7269480" y="1737360"/>
            <a:ext cx="4251960" cy="612648"/>
          </a:xfrm>
          <a:prstGeom prst="rect">
            <a:avLst/>
          </a:prstGeom>
          <a:noFill/>
          <a:ln/>
        </p:spPr>
        <p:txBody>
          <a:bodyPr wrap="square" lIns="0" tIns="0" rIns="0" bIns="0" rtlCol="0" anchor="ctr"/>
          <a:lstStyle/>
          <a:p>
            <a:pPr marL="0" indent="0">
              <a:buNone/>
            </a:pPr>
            <a:r>
              <a:rPr lang="en-US" sz="1400" b="1" dirty="0">
                <a:latin typeface="Myriad Pro Semibold" panose="020B0503030403020204"/>
                <a:ea typeface="Calibri" pitchFamily="34" charset="-122"/>
                <a:cs typeface="Calibri" pitchFamily="34" charset="-120"/>
              </a:rPr>
              <a:t>Navegación aérea</a:t>
            </a:r>
            <a:endParaRPr lang="en-US" sz="1400" dirty="0">
              <a:latin typeface="Myriad Pro Semibold" panose="020B0503030403020204"/>
            </a:endParaRPr>
          </a:p>
        </p:txBody>
      </p:sp>
      <p:sp>
        <p:nvSpPr>
          <p:cNvPr id="1070" name="Shape 20">
            <a:extLst>
              <a:ext uri="{FF2B5EF4-FFF2-40B4-BE49-F238E27FC236}">
                <a16:creationId xmlns:a16="http://schemas.microsoft.com/office/drawing/2014/main" id="{E4B016DF-48D6-38F4-30B1-1D64D42E054E}"/>
              </a:ext>
            </a:extLst>
          </p:cNvPr>
          <p:cNvSpPr/>
          <p:nvPr/>
        </p:nvSpPr>
        <p:spPr>
          <a:xfrm>
            <a:off x="6309360" y="2688336"/>
            <a:ext cx="502920" cy="502920"/>
          </a:xfrm>
          <a:prstGeom prst="ellipse">
            <a:avLst/>
          </a:prstGeom>
          <a:solidFill>
            <a:srgbClr val="065A82"/>
          </a:solidFill>
          <a:ln/>
        </p:spPr>
      </p:sp>
      <p:pic>
        <p:nvPicPr>
          <p:cNvPr id="1071" name="Image 6" descr="preencoded.png">
            <a:extLst>
              <a:ext uri="{FF2B5EF4-FFF2-40B4-BE49-F238E27FC236}">
                <a16:creationId xmlns:a16="http://schemas.microsoft.com/office/drawing/2014/main" id="{91B2A1C8-6133-4F4A-8C90-8F140C1F6A83}"/>
              </a:ext>
            </a:extLst>
          </p:cNvPr>
          <p:cNvPicPr>
            <a:picLocks noChangeAspect="1"/>
          </p:cNvPicPr>
          <p:nvPr/>
        </p:nvPicPr>
        <p:blipFill>
          <a:blip r:embed="rId11"/>
          <a:stretch>
            <a:fillRect/>
          </a:stretch>
        </p:blipFill>
        <p:spPr>
          <a:xfrm>
            <a:off x="6419088" y="2798064"/>
            <a:ext cx="283464" cy="283464"/>
          </a:xfrm>
          <a:prstGeom prst="rect">
            <a:avLst/>
          </a:prstGeom>
        </p:spPr>
      </p:pic>
      <p:sp>
        <p:nvSpPr>
          <p:cNvPr id="1072" name="Text 21">
            <a:extLst>
              <a:ext uri="{FF2B5EF4-FFF2-40B4-BE49-F238E27FC236}">
                <a16:creationId xmlns:a16="http://schemas.microsoft.com/office/drawing/2014/main" id="{7A1E468D-F46E-B638-DBDF-0C19346716A2}"/>
              </a:ext>
            </a:extLst>
          </p:cNvPr>
          <p:cNvSpPr txBox="1"/>
          <p:nvPr/>
        </p:nvSpPr>
        <p:spPr>
          <a:xfrm>
            <a:off x="6876288" y="2633472"/>
            <a:ext cx="365760" cy="612648"/>
          </a:xfrm>
          <a:prstGeom prst="rect">
            <a:avLst/>
          </a:prstGeom>
          <a:noFill/>
          <a:ln/>
        </p:spPr>
        <p:txBody>
          <a:bodyPr wrap="square" lIns="0" tIns="0" rIns="0" bIns="0" rtlCol="0" anchor="ctr"/>
          <a:lstStyle/>
          <a:p>
            <a:pPr marL="0" indent="0">
              <a:buNone/>
            </a:pPr>
            <a:r>
              <a:rPr lang="en-US" sz="2000" b="1" dirty="0">
                <a:latin typeface="Myriad Pro Semibold" panose="020B0503030403020204"/>
                <a:ea typeface="Cambria" pitchFamily="34" charset="-122"/>
                <a:cs typeface="Cambria" pitchFamily="34" charset="-120"/>
              </a:rPr>
              <a:t>7</a:t>
            </a:r>
            <a:endParaRPr lang="en-US" sz="2000" dirty="0">
              <a:latin typeface="Myriad Pro Semibold" panose="020B0503030403020204"/>
            </a:endParaRPr>
          </a:p>
        </p:txBody>
      </p:sp>
      <p:sp>
        <p:nvSpPr>
          <p:cNvPr id="1073" name="Text 22">
            <a:extLst>
              <a:ext uri="{FF2B5EF4-FFF2-40B4-BE49-F238E27FC236}">
                <a16:creationId xmlns:a16="http://schemas.microsoft.com/office/drawing/2014/main" id="{393447EF-7404-716F-AED2-69C68A2EFCEE}"/>
              </a:ext>
            </a:extLst>
          </p:cNvPr>
          <p:cNvSpPr txBox="1"/>
          <p:nvPr/>
        </p:nvSpPr>
        <p:spPr>
          <a:xfrm>
            <a:off x="7269480" y="2633472"/>
            <a:ext cx="4251960" cy="612648"/>
          </a:xfrm>
          <a:prstGeom prst="rect">
            <a:avLst/>
          </a:prstGeom>
          <a:noFill/>
          <a:ln/>
        </p:spPr>
        <p:txBody>
          <a:bodyPr wrap="square" lIns="0" tIns="0" rIns="0" bIns="0" rtlCol="0" anchor="ctr"/>
          <a:lstStyle/>
          <a:p>
            <a:pPr marL="0" indent="0">
              <a:buNone/>
            </a:pPr>
            <a:r>
              <a:rPr lang="en-US" sz="1400" b="1" dirty="0">
                <a:latin typeface="Myriad Pro Semibold" panose="020B0503030403020204"/>
                <a:ea typeface="Calibri" pitchFamily="34" charset="-122"/>
                <a:cs typeface="Calibri" pitchFamily="34" charset="-120"/>
              </a:rPr>
              <a:t>Comunicaciones aeronáuticas</a:t>
            </a:r>
            <a:endParaRPr lang="en-US" sz="1400" dirty="0">
              <a:latin typeface="Myriad Pro Semibold" panose="020B0503030403020204"/>
            </a:endParaRPr>
          </a:p>
        </p:txBody>
      </p:sp>
      <p:sp>
        <p:nvSpPr>
          <p:cNvPr id="1074" name="Shape 23">
            <a:extLst>
              <a:ext uri="{FF2B5EF4-FFF2-40B4-BE49-F238E27FC236}">
                <a16:creationId xmlns:a16="http://schemas.microsoft.com/office/drawing/2014/main" id="{1BEEBB3C-63D4-F284-D8BB-572C63B8A9D6}"/>
              </a:ext>
            </a:extLst>
          </p:cNvPr>
          <p:cNvSpPr/>
          <p:nvPr/>
        </p:nvSpPr>
        <p:spPr>
          <a:xfrm>
            <a:off x="6309360" y="3584448"/>
            <a:ext cx="502920" cy="502920"/>
          </a:xfrm>
          <a:prstGeom prst="ellipse">
            <a:avLst/>
          </a:prstGeom>
          <a:solidFill>
            <a:srgbClr val="065A82"/>
          </a:solidFill>
          <a:ln/>
        </p:spPr>
      </p:sp>
      <p:pic>
        <p:nvPicPr>
          <p:cNvPr id="1075" name="Image 7" descr="preencoded.png">
            <a:extLst>
              <a:ext uri="{FF2B5EF4-FFF2-40B4-BE49-F238E27FC236}">
                <a16:creationId xmlns:a16="http://schemas.microsoft.com/office/drawing/2014/main" id="{D8B3475C-C9AB-2A0F-4DF5-0D9861BB05FE}"/>
              </a:ext>
            </a:extLst>
          </p:cNvPr>
          <p:cNvPicPr>
            <a:picLocks noChangeAspect="1"/>
          </p:cNvPicPr>
          <p:nvPr/>
        </p:nvPicPr>
        <p:blipFill>
          <a:blip r:embed="rId12"/>
          <a:stretch>
            <a:fillRect/>
          </a:stretch>
        </p:blipFill>
        <p:spPr>
          <a:xfrm>
            <a:off x="6419088" y="3694176"/>
            <a:ext cx="283464" cy="283464"/>
          </a:xfrm>
          <a:prstGeom prst="rect">
            <a:avLst/>
          </a:prstGeom>
        </p:spPr>
      </p:pic>
      <p:sp>
        <p:nvSpPr>
          <p:cNvPr id="1076" name="Text 24">
            <a:extLst>
              <a:ext uri="{FF2B5EF4-FFF2-40B4-BE49-F238E27FC236}">
                <a16:creationId xmlns:a16="http://schemas.microsoft.com/office/drawing/2014/main" id="{BACCE360-6492-BDD4-49DB-84C860087ED2}"/>
              </a:ext>
            </a:extLst>
          </p:cNvPr>
          <p:cNvSpPr txBox="1"/>
          <p:nvPr/>
        </p:nvSpPr>
        <p:spPr>
          <a:xfrm>
            <a:off x="6876288" y="3529584"/>
            <a:ext cx="365760" cy="612648"/>
          </a:xfrm>
          <a:prstGeom prst="rect">
            <a:avLst/>
          </a:prstGeom>
          <a:noFill/>
          <a:ln/>
        </p:spPr>
        <p:txBody>
          <a:bodyPr wrap="square" lIns="0" tIns="0" rIns="0" bIns="0" rtlCol="0" anchor="ctr"/>
          <a:lstStyle/>
          <a:p>
            <a:pPr marL="0" indent="0">
              <a:buNone/>
            </a:pPr>
            <a:r>
              <a:rPr lang="en-US" sz="2000" b="1" dirty="0">
                <a:latin typeface="Myriad Pro Semibold" panose="020B0503030403020204"/>
                <a:ea typeface="Cambria" pitchFamily="34" charset="-122"/>
                <a:cs typeface="Cambria" pitchFamily="34" charset="-120"/>
              </a:rPr>
              <a:t>8</a:t>
            </a:r>
            <a:endParaRPr lang="en-US" sz="2000" dirty="0">
              <a:latin typeface="Myriad Pro Semibold" panose="020B0503030403020204"/>
            </a:endParaRPr>
          </a:p>
        </p:txBody>
      </p:sp>
      <p:sp>
        <p:nvSpPr>
          <p:cNvPr id="1077" name="Text 25">
            <a:extLst>
              <a:ext uri="{FF2B5EF4-FFF2-40B4-BE49-F238E27FC236}">
                <a16:creationId xmlns:a16="http://schemas.microsoft.com/office/drawing/2014/main" id="{E0C4B150-B451-3B70-CF90-7F0CD878D9E7}"/>
              </a:ext>
            </a:extLst>
          </p:cNvPr>
          <p:cNvSpPr txBox="1"/>
          <p:nvPr/>
        </p:nvSpPr>
        <p:spPr>
          <a:xfrm>
            <a:off x="7269480" y="3529584"/>
            <a:ext cx="4251960" cy="612648"/>
          </a:xfrm>
          <a:prstGeom prst="rect">
            <a:avLst/>
          </a:prstGeom>
          <a:noFill/>
          <a:ln/>
        </p:spPr>
        <p:txBody>
          <a:bodyPr wrap="square" lIns="0" tIns="0" rIns="0" bIns="0" rtlCol="0" anchor="ctr"/>
          <a:lstStyle/>
          <a:p>
            <a:pPr marL="0" indent="0">
              <a:buNone/>
            </a:pPr>
            <a:r>
              <a:rPr lang="en-US" sz="1400" b="1" dirty="0">
                <a:latin typeface="Myriad Pro Semibold" panose="020B0503030403020204"/>
                <a:ea typeface="Calibri" pitchFamily="34" charset="-122"/>
                <a:cs typeface="Calibri" pitchFamily="34" charset="-120"/>
              </a:rPr>
              <a:t>Factores humanos</a:t>
            </a:r>
            <a:endParaRPr lang="en-US" sz="1400" dirty="0">
              <a:latin typeface="Myriad Pro Semibold" panose="020B0503030403020204"/>
            </a:endParaRPr>
          </a:p>
        </p:txBody>
      </p:sp>
      <p:sp>
        <p:nvSpPr>
          <p:cNvPr id="1078" name="Shape 26">
            <a:extLst>
              <a:ext uri="{FF2B5EF4-FFF2-40B4-BE49-F238E27FC236}">
                <a16:creationId xmlns:a16="http://schemas.microsoft.com/office/drawing/2014/main" id="{85E8B0DE-5EE0-D12A-BD4C-4DF2A1BCC016}"/>
              </a:ext>
            </a:extLst>
          </p:cNvPr>
          <p:cNvSpPr/>
          <p:nvPr/>
        </p:nvSpPr>
        <p:spPr>
          <a:xfrm>
            <a:off x="6309360" y="4480560"/>
            <a:ext cx="502920" cy="502920"/>
          </a:xfrm>
          <a:prstGeom prst="ellipse">
            <a:avLst/>
          </a:prstGeom>
          <a:solidFill>
            <a:srgbClr val="065A82"/>
          </a:solidFill>
          <a:ln/>
        </p:spPr>
      </p:sp>
      <p:pic>
        <p:nvPicPr>
          <p:cNvPr id="1079" name="Image 8" descr="preencoded.png">
            <a:extLst>
              <a:ext uri="{FF2B5EF4-FFF2-40B4-BE49-F238E27FC236}">
                <a16:creationId xmlns:a16="http://schemas.microsoft.com/office/drawing/2014/main" id="{57BA672D-C949-4228-FD84-ADD15D9202D4}"/>
              </a:ext>
            </a:extLst>
          </p:cNvPr>
          <p:cNvPicPr>
            <a:picLocks noChangeAspect="1"/>
          </p:cNvPicPr>
          <p:nvPr/>
        </p:nvPicPr>
        <p:blipFill>
          <a:blip r:embed="rId13"/>
          <a:stretch>
            <a:fillRect/>
          </a:stretch>
        </p:blipFill>
        <p:spPr>
          <a:xfrm>
            <a:off x="6419088" y="4590288"/>
            <a:ext cx="283464" cy="283464"/>
          </a:xfrm>
          <a:prstGeom prst="rect">
            <a:avLst/>
          </a:prstGeom>
        </p:spPr>
      </p:pic>
      <p:sp>
        <p:nvSpPr>
          <p:cNvPr id="1080" name="Text 27">
            <a:extLst>
              <a:ext uri="{FF2B5EF4-FFF2-40B4-BE49-F238E27FC236}">
                <a16:creationId xmlns:a16="http://schemas.microsoft.com/office/drawing/2014/main" id="{22F21E59-B733-BF02-20C3-26FD52B4AD2C}"/>
              </a:ext>
            </a:extLst>
          </p:cNvPr>
          <p:cNvSpPr txBox="1"/>
          <p:nvPr/>
        </p:nvSpPr>
        <p:spPr>
          <a:xfrm>
            <a:off x="6876288" y="4425696"/>
            <a:ext cx="365760" cy="612648"/>
          </a:xfrm>
          <a:prstGeom prst="rect">
            <a:avLst/>
          </a:prstGeom>
          <a:noFill/>
          <a:ln/>
        </p:spPr>
        <p:txBody>
          <a:bodyPr wrap="square" lIns="0" tIns="0" rIns="0" bIns="0" rtlCol="0" anchor="ctr"/>
          <a:lstStyle/>
          <a:p>
            <a:pPr marL="0" indent="0">
              <a:buNone/>
            </a:pPr>
            <a:r>
              <a:rPr lang="en-US" sz="2000" b="1" dirty="0">
                <a:latin typeface="Myriad Pro Semibold" panose="020B0503030403020204"/>
                <a:ea typeface="Cambria" pitchFamily="34" charset="-122"/>
                <a:cs typeface="Cambria" pitchFamily="34" charset="-120"/>
              </a:rPr>
              <a:t>9</a:t>
            </a:r>
            <a:endParaRPr lang="en-US" sz="2000" dirty="0">
              <a:latin typeface="Myriad Pro Semibold" panose="020B0503030403020204"/>
            </a:endParaRPr>
          </a:p>
        </p:txBody>
      </p:sp>
      <p:sp>
        <p:nvSpPr>
          <p:cNvPr id="1081" name="Text 28">
            <a:extLst>
              <a:ext uri="{FF2B5EF4-FFF2-40B4-BE49-F238E27FC236}">
                <a16:creationId xmlns:a16="http://schemas.microsoft.com/office/drawing/2014/main" id="{B3798773-A04B-FA10-4EA2-ED38E848240E}"/>
              </a:ext>
            </a:extLst>
          </p:cNvPr>
          <p:cNvSpPr txBox="1"/>
          <p:nvPr/>
        </p:nvSpPr>
        <p:spPr>
          <a:xfrm>
            <a:off x="7269480" y="4425696"/>
            <a:ext cx="4251960" cy="612648"/>
          </a:xfrm>
          <a:prstGeom prst="rect">
            <a:avLst/>
          </a:prstGeom>
          <a:noFill/>
          <a:ln/>
        </p:spPr>
        <p:txBody>
          <a:bodyPr wrap="square" lIns="0" tIns="0" rIns="0" bIns="0" rtlCol="0" anchor="ctr"/>
          <a:lstStyle/>
          <a:p>
            <a:pPr marL="0" indent="0">
              <a:buNone/>
            </a:pPr>
            <a:r>
              <a:rPr lang="en-US" sz="1400" b="1" dirty="0">
                <a:latin typeface="Myriad Pro Semibold" panose="020B0503030403020204"/>
                <a:ea typeface="Calibri" pitchFamily="34" charset="-122"/>
                <a:cs typeface="Calibri" pitchFamily="34" charset="-120"/>
              </a:rPr>
              <a:t>Gestión de la seguridad operacional (SMS)</a:t>
            </a:r>
            <a:endParaRPr lang="en-US" sz="1400" dirty="0">
              <a:latin typeface="Myriad Pro Semibold" panose="020B0503030403020204"/>
            </a:endParaRPr>
          </a:p>
        </p:txBody>
      </p:sp>
      <p:sp>
        <p:nvSpPr>
          <p:cNvPr id="1082" name="Shape 29">
            <a:extLst>
              <a:ext uri="{FF2B5EF4-FFF2-40B4-BE49-F238E27FC236}">
                <a16:creationId xmlns:a16="http://schemas.microsoft.com/office/drawing/2014/main" id="{60CDCBD7-0BA7-D5F0-6A2E-2E0E47259E31}"/>
              </a:ext>
            </a:extLst>
          </p:cNvPr>
          <p:cNvSpPr/>
          <p:nvPr/>
        </p:nvSpPr>
        <p:spPr>
          <a:xfrm>
            <a:off x="6309360" y="5376672"/>
            <a:ext cx="502920" cy="502920"/>
          </a:xfrm>
          <a:prstGeom prst="ellipse">
            <a:avLst/>
          </a:prstGeom>
          <a:solidFill>
            <a:srgbClr val="065A82"/>
          </a:solidFill>
          <a:ln/>
        </p:spPr>
      </p:sp>
      <p:pic>
        <p:nvPicPr>
          <p:cNvPr id="1083" name="Image 9" descr="preencoded.png">
            <a:extLst>
              <a:ext uri="{FF2B5EF4-FFF2-40B4-BE49-F238E27FC236}">
                <a16:creationId xmlns:a16="http://schemas.microsoft.com/office/drawing/2014/main" id="{203E0527-8BFE-CD87-27DF-AF5F5C9B84A0}"/>
              </a:ext>
            </a:extLst>
          </p:cNvPr>
          <p:cNvPicPr>
            <a:picLocks noChangeAspect="1"/>
          </p:cNvPicPr>
          <p:nvPr/>
        </p:nvPicPr>
        <p:blipFill>
          <a:blip r:embed="rId14"/>
          <a:stretch>
            <a:fillRect/>
          </a:stretch>
        </p:blipFill>
        <p:spPr>
          <a:xfrm>
            <a:off x="6419088" y="5486400"/>
            <a:ext cx="283464" cy="283464"/>
          </a:xfrm>
          <a:prstGeom prst="rect">
            <a:avLst/>
          </a:prstGeom>
        </p:spPr>
      </p:pic>
      <p:sp>
        <p:nvSpPr>
          <p:cNvPr id="1084" name="Text 30">
            <a:extLst>
              <a:ext uri="{FF2B5EF4-FFF2-40B4-BE49-F238E27FC236}">
                <a16:creationId xmlns:a16="http://schemas.microsoft.com/office/drawing/2014/main" id="{FC688C2E-3DBD-E894-1A25-7BC897D8DC7B}"/>
              </a:ext>
            </a:extLst>
          </p:cNvPr>
          <p:cNvSpPr txBox="1"/>
          <p:nvPr/>
        </p:nvSpPr>
        <p:spPr>
          <a:xfrm>
            <a:off x="6876288" y="5321808"/>
            <a:ext cx="365760" cy="612648"/>
          </a:xfrm>
          <a:prstGeom prst="rect">
            <a:avLst/>
          </a:prstGeom>
          <a:noFill/>
          <a:ln/>
        </p:spPr>
        <p:txBody>
          <a:bodyPr wrap="square" lIns="0" tIns="0" rIns="0" bIns="0" rtlCol="0" anchor="ctr"/>
          <a:lstStyle/>
          <a:p>
            <a:pPr marL="0" indent="0">
              <a:buNone/>
            </a:pPr>
            <a:r>
              <a:rPr lang="en-US" sz="2000" b="1" dirty="0">
                <a:latin typeface="Myriad Pro Semibold" panose="020B0503030403020204"/>
                <a:ea typeface="Cambria" pitchFamily="34" charset="-122"/>
                <a:cs typeface="Cambria" pitchFamily="34" charset="-120"/>
              </a:rPr>
              <a:t>10</a:t>
            </a:r>
            <a:endParaRPr lang="en-US" sz="2000" dirty="0">
              <a:latin typeface="Myriad Pro Semibold" panose="020B0503030403020204"/>
            </a:endParaRPr>
          </a:p>
        </p:txBody>
      </p:sp>
      <p:sp>
        <p:nvSpPr>
          <p:cNvPr id="1085" name="Text 31">
            <a:extLst>
              <a:ext uri="{FF2B5EF4-FFF2-40B4-BE49-F238E27FC236}">
                <a16:creationId xmlns:a16="http://schemas.microsoft.com/office/drawing/2014/main" id="{51EA238A-C551-0686-38E0-E4F9AFA05EFD}"/>
              </a:ext>
            </a:extLst>
          </p:cNvPr>
          <p:cNvSpPr txBox="1"/>
          <p:nvPr/>
        </p:nvSpPr>
        <p:spPr>
          <a:xfrm>
            <a:off x="7269480" y="5321808"/>
            <a:ext cx="4251960" cy="612648"/>
          </a:xfrm>
          <a:prstGeom prst="rect">
            <a:avLst/>
          </a:prstGeom>
          <a:noFill/>
          <a:ln/>
        </p:spPr>
        <p:txBody>
          <a:bodyPr wrap="square" lIns="0" tIns="0" rIns="0" bIns="0" rtlCol="0" anchor="ctr"/>
          <a:lstStyle/>
          <a:p>
            <a:pPr marL="0" indent="0">
              <a:buNone/>
            </a:pPr>
            <a:r>
              <a:rPr lang="en-US" sz="1400" b="1" dirty="0">
                <a:latin typeface="Myriad Pro Semibold" panose="020B0503030403020204"/>
                <a:ea typeface="Calibri" pitchFamily="34" charset="-122"/>
                <a:cs typeface="Calibri" pitchFamily="34" charset="-120"/>
              </a:rPr>
              <a:t>Componentes UAS, planificación y cierre</a:t>
            </a:r>
            <a:endParaRPr lang="en-US" sz="1400" dirty="0">
              <a:latin typeface="Myriad Pro Semibold" panose="020B0503030403020204"/>
            </a:endParaRPr>
          </a:p>
        </p:txBody>
      </p:sp>
    </p:spTree>
    <p:extLst>
      <p:ext uri="{BB962C8B-B14F-4D97-AF65-F5344CB8AC3E}">
        <p14:creationId xmlns:p14="http://schemas.microsoft.com/office/powerpoint/2010/main" val="2751073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B8B05767-921E-0444-9C3E-1321A550A635}"/>
              </a:ext>
            </a:extLst>
          </p:cNvPr>
          <p:cNvPicPr>
            <a:picLocks noChangeAspect="1"/>
          </p:cNvPicPr>
          <p:nvPr/>
        </p:nvPicPr>
        <p:blipFill>
          <a:blip r:embed="rId2"/>
          <a:src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BBDB197B-B481-3D49-B7BA-1263A1FA0288}"/>
              </a:ext>
            </a:extLst>
          </p:cNvPr>
          <p:cNvSpPr txBox="1"/>
          <p:nvPr/>
        </p:nvSpPr>
        <p:spPr>
          <a:xfrm>
            <a:off x="3606085" y="2789734"/>
            <a:ext cx="8117214" cy="3416320"/>
          </a:xfrm>
          <a:prstGeom prst="rect">
            <a:avLst/>
          </a:prstGeom>
          <a:noFill/>
        </p:spPr>
        <p:txBody>
          <a:bodyPr wrap="square" rtlCol="0">
            <a:spAutoFit/>
          </a:bodyPr>
          <a:lstStyle/>
          <a:p>
            <a:pPr algn="r"/>
            <a:r>
              <a:rPr lang="es-CO" sz="3600" b="1" dirty="0">
                <a:solidFill>
                  <a:schemeClr val="bg2">
                    <a:lumMod val="50000"/>
                  </a:schemeClr>
                </a:solidFill>
                <a:latin typeface="Myriad Pro Semibold" panose="020B0503030403020204" pitchFamily="34" charset="0"/>
              </a:rPr>
              <a:t>Carlos Horacio García Castrillón</a:t>
            </a:r>
          </a:p>
          <a:p>
            <a:pPr algn="r"/>
            <a:r>
              <a:rPr lang="es-ES" sz="3600" b="1" dirty="0">
                <a:solidFill>
                  <a:schemeClr val="bg2">
                    <a:lumMod val="50000"/>
                  </a:schemeClr>
                </a:solidFill>
                <a:latin typeface="Myriad Pro Semibold" panose="020B0503030403020204" pitchFamily="34" charset="0"/>
              </a:rPr>
              <a:t>Ingeniero de Telecomunicaciones (UTS).</a:t>
            </a:r>
          </a:p>
          <a:p>
            <a:pPr algn="r"/>
            <a:r>
              <a:rPr lang="es-ES" sz="3600" b="1" dirty="0">
                <a:solidFill>
                  <a:schemeClr val="bg2">
                    <a:lumMod val="50000"/>
                  </a:schemeClr>
                </a:solidFill>
                <a:latin typeface="Myriad Pro Semibold" panose="020B0503030403020204" pitchFamily="34" charset="0"/>
              </a:rPr>
              <a:t>Mg. Desarrollo de aplicaciones sobre dispositivos móviles (UPV, España)</a:t>
            </a:r>
          </a:p>
          <a:p>
            <a:pPr algn="r"/>
            <a:r>
              <a:rPr lang="es-ES" sz="3600" b="1" dirty="0">
                <a:solidFill>
                  <a:schemeClr val="bg2">
                    <a:lumMod val="50000"/>
                  </a:schemeClr>
                </a:solidFill>
                <a:latin typeface="Myriad Pro Semibold" panose="020B0503030403020204" pitchFamily="34" charset="0"/>
              </a:rPr>
              <a:t>Piloto UAS Certificado AEROCIVIL </a:t>
            </a:r>
            <a:endParaRPr lang="es-CO" sz="3600" b="1" dirty="0">
              <a:solidFill>
                <a:schemeClr val="bg2">
                  <a:lumMod val="50000"/>
                </a:schemeClr>
              </a:solidFill>
              <a:latin typeface="Myriad Pro Semibold" panose="020B0503030403020204" pitchFamily="34" charset="0"/>
            </a:endParaRPr>
          </a:p>
        </p:txBody>
      </p:sp>
      <p:pic>
        <p:nvPicPr>
          <p:cNvPr id="3" name="Imagen 2">
            <a:extLst>
              <a:ext uri="{FF2B5EF4-FFF2-40B4-BE49-F238E27FC236}">
                <a16:creationId xmlns:a16="http://schemas.microsoft.com/office/drawing/2014/main" id="{0A721FBD-CF9C-2718-A464-DB4CA84F4DD9}"/>
              </a:ext>
            </a:extLst>
          </p:cNvPr>
          <p:cNvPicPr>
            <a:picLocks noChangeAspect="1"/>
          </p:cNvPicPr>
          <p:nvPr/>
        </p:nvPicPr>
        <p:blipFill>
          <a:blip r:embed="rId3"/>
          <a:stretch>
            <a:fillRect/>
          </a:stretch>
        </p:blipFill>
        <p:spPr>
          <a:xfrm>
            <a:off x="468701" y="2789734"/>
            <a:ext cx="2668683" cy="3418649"/>
          </a:xfrm>
          <a:prstGeom prst="rect">
            <a:avLst/>
          </a:prstGeom>
        </p:spPr>
      </p:pic>
    </p:spTree>
    <p:extLst>
      <p:ext uri="{BB962C8B-B14F-4D97-AF65-F5344CB8AC3E}">
        <p14:creationId xmlns:p14="http://schemas.microsoft.com/office/powerpoint/2010/main" val="2429136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1066481"/>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a:xfrm>
            <a:off x="838200" y="1054790"/>
            <a:ext cx="10515600" cy="701356"/>
          </a:xfrm>
        </p:spPr>
        <p:txBody>
          <a:bodyPr>
            <a:normAutofit fontScale="90000"/>
          </a:bodyPr>
          <a:lstStyle/>
          <a:p>
            <a:r>
              <a:rPr lang="es-ES" b="1" dirty="0">
                <a:latin typeface="Myriad Pro Semibold" panose="020B0503030403020204"/>
              </a:rPr>
              <a:t>SESIÓN 1 — Introducción a UAS y marco regulatorio.</a:t>
            </a:r>
            <a:br>
              <a:rPr lang="es-ES" b="1" dirty="0">
                <a:latin typeface="Myriad Pro Semibold" panose="020B0503030403020204"/>
              </a:rPr>
            </a:br>
            <a:r>
              <a:rPr lang="es-ES" sz="4400" b="1" dirty="0">
                <a:latin typeface="Myriad Pro Semibold" panose="020B0503030403020204"/>
              </a:rPr>
              <a:t>¿Qué es un UAS? Terminología básica</a:t>
            </a:r>
            <a:br>
              <a:rPr lang="es-ES" sz="4400" b="1" dirty="0"/>
            </a:br>
            <a:endParaRPr lang="es-CO" b="1" dirty="0">
              <a:latin typeface="Myriad Pro Semibold" panose="020B0503030403020204"/>
            </a:endParaRPr>
          </a:p>
        </p:txBody>
      </p:sp>
      <p:sp>
        <p:nvSpPr>
          <p:cNvPr id="3" name="Marcador de contenido 2">
            <a:extLst>
              <a:ext uri="{FF2B5EF4-FFF2-40B4-BE49-F238E27FC236}">
                <a16:creationId xmlns:a16="http://schemas.microsoft.com/office/drawing/2014/main" id="{626AB3DC-6BEC-830B-8EB1-ABB95857142F}"/>
              </a:ext>
            </a:extLst>
          </p:cNvPr>
          <p:cNvSpPr>
            <a:spLocks noGrp="1"/>
          </p:cNvSpPr>
          <p:nvPr>
            <p:ph idx="1"/>
          </p:nvPr>
        </p:nvSpPr>
        <p:spPr>
          <a:xfrm>
            <a:off x="838200" y="2009524"/>
            <a:ext cx="10515600" cy="4351338"/>
          </a:xfrm>
        </p:spPr>
        <p:txBody>
          <a:bodyPr>
            <a:normAutofit/>
          </a:bodyPr>
          <a:lstStyle/>
          <a:p>
            <a:pPr rtl="0"/>
            <a:r>
              <a:rPr lang="es-ES" sz="1600" dirty="0">
                <a:latin typeface="Humanst521 BT" panose="020B0602020204020204" pitchFamily="34" charset="0"/>
              </a:rPr>
              <a:t>El RAC 100 (100.005) define varios términos que conviene distinguir desde el principio, porque se usan indistintamente en el lenguaje cotidiano pero tienen significados técnicos precisos:</a:t>
            </a:r>
          </a:p>
          <a:p>
            <a:pPr rtl="0">
              <a:buFont typeface="Arial" panose="020B0604020202020204" pitchFamily="34" charset="0"/>
              <a:buChar char="•"/>
            </a:pPr>
            <a:r>
              <a:rPr lang="es-ES" sz="1600" b="1" dirty="0">
                <a:latin typeface="Humanst521 BT" panose="020B0602020204020204" pitchFamily="34" charset="0"/>
              </a:rPr>
              <a:t>UA (</a:t>
            </a:r>
            <a:r>
              <a:rPr lang="es-ES" sz="1600" b="1" dirty="0" err="1">
                <a:latin typeface="Humanst521 BT" panose="020B0602020204020204" pitchFamily="34" charset="0"/>
              </a:rPr>
              <a:t>Unmanned</a:t>
            </a:r>
            <a:r>
              <a:rPr lang="es-ES" sz="1600" b="1" dirty="0">
                <a:latin typeface="Humanst521 BT" panose="020B0602020204020204" pitchFamily="34" charset="0"/>
              </a:rPr>
              <a:t> </a:t>
            </a:r>
            <a:r>
              <a:rPr lang="es-ES" sz="1600" b="1" dirty="0" err="1">
                <a:latin typeface="Humanst521 BT" panose="020B0602020204020204" pitchFamily="34" charset="0"/>
              </a:rPr>
              <a:t>Aircraft</a:t>
            </a:r>
            <a:r>
              <a:rPr lang="es-ES" sz="1600" b="1" dirty="0">
                <a:latin typeface="Humanst521 BT" panose="020B0602020204020204" pitchFamily="34" charset="0"/>
              </a:rPr>
              <a:t> / Aeronave no tripulada):</a:t>
            </a:r>
            <a:r>
              <a:rPr lang="es-ES" sz="1600" dirty="0">
                <a:latin typeface="Humanst521 BT" panose="020B0602020204020204" pitchFamily="34" charset="0"/>
              </a:rPr>
              <a:t> es la aeronave en sí — el objeto que vuela, sin piloto a bordo. Es el equivalente técnico de lo que coloquialmente llamamos "dron".</a:t>
            </a:r>
          </a:p>
          <a:p>
            <a:pPr rtl="0">
              <a:buFont typeface="Arial" panose="020B0604020202020204" pitchFamily="34" charset="0"/>
              <a:buChar char="•"/>
            </a:pPr>
            <a:r>
              <a:rPr lang="es-ES" sz="1600" b="1" dirty="0">
                <a:latin typeface="Humanst521 BT" panose="020B0602020204020204" pitchFamily="34" charset="0"/>
              </a:rPr>
              <a:t>UAS (</a:t>
            </a:r>
            <a:r>
              <a:rPr lang="es-ES" sz="1600" b="1" dirty="0" err="1">
                <a:latin typeface="Humanst521 BT" panose="020B0602020204020204" pitchFamily="34" charset="0"/>
              </a:rPr>
              <a:t>Unmanned</a:t>
            </a:r>
            <a:r>
              <a:rPr lang="es-ES" sz="1600" b="1" dirty="0">
                <a:latin typeface="Humanst521 BT" panose="020B0602020204020204" pitchFamily="34" charset="0"/>
              </a:rPr>
              <a:t> </a:t>
            </a:r>
            <a:r>
              <a:rPr lang="es-ES" sz="1600" b="1" dirty="0" err="1">
                <a:latin typeface="Humanst521 BT" panose="020B0602020204020204" pitchFamily="34" charset="0"/>
              </a:rPr>
              <a:t>Aircraft</a:t>
            </a:r>
            <a:r>
              <a:rPr lang="es-ES" sz="1600" b="1" dirty="0">
                <a:latin typeface="Humanst521 BT" panose="020B0602020204020204" pitchFamily="34" charset="0"/>
              </a:rPr>
              <a:t> </a:t>
            </a:r>
            <a:r>
              <a:rPr lang="es-ES" sz="1600" b="1" dirty="0" err="1">
                <a:latin typeface="Humanst521 BT" panose="020B0602020204020204" pitchFamily="34" charset="0"/>
              </a:rPr>
              <a:t>System</a:t>
            </a:r>
            <a:r>
              <a:rPr lang="es-ES" sz="1600" b="1" dirty="0">
                <a:latin typeface="Humanst521 BT" panose="020B0602020204020204" pitchFamily="34" charset="0"/>
              </a:rPr>
              <a:t> / Sistema de aeronave no tripulada):</a:t>
            </a:r>
            <a:r>
              <a:rPr lang="es-ES" sz="1600" dirty="0">
                <a:latin typeface="Humanst521 BT" panose="020B0602020204020204" pitchFamily="34" charset="0"/>
              </a:rPr>
              <a:t> es un concepto más amplio que la UA sola. Incluye la aeronave </a:t>
            </a:r>
            <a:r>
              <a:rPr lang="es-ES" sz="1600" i="1" dirty="0">
                <a:latin typeface="Humanst521 BT" panose="020B0602020204020204" pitchFamily="34" charset="0"/>
              </a:rPr>
              <a:t>y</a:t>
            </a:r>
            <a:r>
              <a:rPr lang="es-ES" sz="1600" dirty="0">
                <a:latin typeface="Humanst521 BT" panose="020B0602020204020204" pitchFamily="34" charset="0"/>
              </a:rPr>
              <a:t> todos los elementos conexos que permiten operarla a distancia: el control remoto, el enlace de comunicación, el software de planificación, etc. Cuando hablamos de "registrar un UAS" ante la UAEAC, nos referimos a este conjunto completo.</a:t>
            </a:r>
          </a:p>
          <a:p>
            <a:pPr rtl="0">
              <a:buFont typeface="Arial" panose="020B0604020202020204" pitchFamily="34" charset="0"/>
              <a:buChar char="•"/>
            </a:pPr>
            <a:r>
              <a:rPr lang="es-ES" sz="1600" b="1" dirty="0">
                <a:latin typeface="Humanst521 BT" panose="020B0602020204020204" pitchFamily="34" charset="0"/>
              </a:rPr>
              <a:t>RPA (</a:t>
            </a:r>
            <a:r>
              <a:rPr lang="es-ES" sz="1600" b="1" dirty="0" err="1">
                <a:latin typeface="Humanst521 BT" panose="020B0602020204020204" pitchFamily="34" charset="0"/>
              </a:rPr>
              <a:t>Remotely</a:t>
            </a:r>
            <a:r>
              <a:rPr lang="es-ES" sz="1600" b="1" dirty="0">
                <a:latin typeface="Humanst521 BT" panose="020B0602020204020204" pitchFamily="34" charset="0"/>
              </a:rPr>
              <a:t> </a:t>
            </a:r>
            <a:r>
              <a:rPr lang="es-ES" sz="1600" b="1" dirty="0" err="1">
                <a:latin typeface="Humanst521 BT" panose="020B0602020204020204" pitchFamily="34" charset="0"/>
              </a:rPr>
              <a:t>Piloted</a:t>
            </a:r>
            <a:r>
              <a:rPr lang="es-ES" sz="1600" b="1" dirty="0">
                <a:latin typeface="Humanst521 BT" panose="020B0602020204020204" pitchFamily="34" charset="0"/>
              </a:rPr>
              <a:t> </a:t>
            </a:r>
            <a:r>
              <a:rPr lang="es-ES" sz="1600" b="1" dirty="0" err="1">
                <a:latin typeface="Humanst521 BT" panose="020B0602020204020204" pitchFamily="34" charset="0"/>
              </a:rPr>
              <a:t>Aircraft</a:t>
            </a:r>
            <a:r>
              <a:rPr lang="es-ES" sz="1600" b="1" dirty="0">
                <a:latin typeface="Humanst521 BT" panose="020B0602020204020204" pitchFamily="34" charset="0"/>
              </a:rPr>
              <a:t> / Aeronave pilotada a distancia):</a:t>
            </a:r>
            <a:r>
              <a:rPr lang="es-ES" sz="1600" dirty="0">
                <a:latin typeface="Humanst521 BT" panose="020B0602020204020204" pitchFamily="34" charset="0"/>
              </a:rPr>
              <a:t> es una UA que específicamente es pilotada por una persona desde una estación de pilotaje a distancia (a diferencia de un vuelo totalmente autónomo o preprogramado).</a:t>
            </a:r>
          </a:p>
          <a:p>
            <a:pPr rtl="0">
              <a:buFont typeface="Arial" panose="020B0604020202020204" pitchFamily="34" charset="0"/>
              <a:buChar char="•"/>
            </a:pPr>
            <a:r>
              <a:rPr lang="es-ES" sz="1600" b="1" dirty="0">
                <a:latin typeface="Humanst521 BT" panose="020B0602020204020204" pitchFamily="34" charset="0"/>
              </a:rPr>
              <a:t>Dron:</a:t>
            </a:r>
            <a:r>
              <a:rPr lang="es-ES" sz="1600" dirty="0">
                <a:latin typeface="Humanst521 BT" panose="020B0602020204020204" pitchFamily="34" charset="0"/>
              </a:rPr>
              <a:t> es el término coloquial, sin definición técnica en el reglamento. Es útil para hablar informalmente, pero en el contexto normativo siempre usamos UA o UAS.</a:t>
            </a:r>
          </a:p>
          <a:p>
            <a:pPr rtl="0">
              <a:buFont typeface="Arial" panose="020B0604020202020204" pitchFamily="34" charset="0"/>
              <a:buChar char="•"/>
            </a:pPr>
            <a:r>
              <a:rPr lang="es-ES" sz="1600" b="1" dirty="0">
                <a:latin typeface="Humanst521 BT" panose="020B0602020204020204" pitchFamily="34" charset="0"/>
              </a:rPr>
              <a:t>UTM (UAS </a:t>
            </a:r>
            <a:r>
              <a:rPr lang="es-ES" sz="1600" b="1" dirty="0" err="1">
                <a:latin typeface="Humanst521 BT" panose="020B0602020204020204" pitchFamily="34" charset="0"/>
              </a:rPr>
              <a:t>Traffic</a:t>
            </a:r>
            <a:r>
              <a:rPr lang="es-ES" sz="1600" b="1" dirty="0">
                <a:latin typeface="Humanst521 BT" panose="020B0602020204020204" pitchFamily="34" charset="0"/>
              </a:rPr>
              <a:t> Management):</a:t>
            </a:r>
            <a:r>
              <a:rPr lang="es-ES" sz="1600" dirty="0">
                <a:latin typeface="Humanst521 BT" panose="020B0602020204020204" pitchFamily="34" charset="0"/>
              </a:rPr>
              <a:t> es el concepto de gestión de tráfico aéreo específicamente diseñado para aeronaves no tripuladas — un sistema que, a medida que crece el número de drones operando, permite coordinar su tráfico de forma similar a como el control de tránsito aéreo tradicional coordina la aviación tripulada. En Colombia este concepto está en desarrollo y se menciona en el reglamento como parte del conocimiento que debe tener un piloto UAS</a:t>
            </a:r>
          </a:p>
        </p:txBody>
      </p:sp>
    </p:spTree>
    <p:extLst>
      <p:ext uri="{BB962C8B-B14F-4D97-AF65-F5344CB8AC3E}">
        <p14:creationId xmlns:p14="http://schemas.microsoft.com/office/powerpoint/2010/main" val="2679352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1066481"/>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Evolución del sector UAS en Colombia</a:t>
            </a:r>
            <a:endParaRPr lang="es-CO" b="1" dirty="0">
              <a:latin typeface="Myriad Pro Semibold" panose="020B0503030403020204"/>
            </a:endParaRPr>
          </a:p>
        </p:txBody>
      </p:sp>
      <p:sp>
        <p:nvSpPr>
          <p:cNvPr id="3" name="Marcador de contenido 2">
            <a:extLst>
              <a:ext uri="{FF2B5EF4-FFF2-40B4-BE49-F238E27FC236}">
                <a16:creationId xmlns:a16="http://schemas.microsoft.com/office/drawing/2014/main" id="{626AB3DC-6BEC-830B-8EB1-ABB95857142F}"/>
              </a:ext>
            </a:extLst>
          </p:cNvPr>
          <p:cNvSpPr>
            <a:spLocks noGrp="1"/>
          </p:cNvSpPr>
          <p:nvPr>
            <p:ph idx="1"/>
          </p:nvPr>
        </p:nvSpPr>
        <p:spPr>
          <a:xfrm>
            <a:off x="838200" y="2009524"/>
            <a:ext cx="10515600" cy="4351338"/>
          </a:xfrm>
        </p:spPr>
        <p:txBody>
          <a:bodyPr>
            <a:normAutofit/>
          </a:bodyPr>
          <a:lstStyle/>
          <a:p>
            <a:pPr algn="just" rtl="0"/>
            <a:r>
              <a:rPr lang="es-ES" sz="2400" dirty="0">
                <a:latin typeface="Humanst521 BT" panose="020B0602020204020204" pitchFamily="34" charset="0"/>
              </a:rPr>
              <a:t>El uso de UAS ha crecido rápidamente en Colombia en la última década, impulsado por aplicaciones en agricultura de precisión, inspección de infraestructura, seguridad, cinematografía y, particularmente relevante para el contexto de este grupo, levantamientos topográficos y fotogrametría en geomática. Este crecimiento es justamente lo que motivó que la UAEAC desarrollara un marco regulatorio específico (el RAC 100), separado de las normas de aviación tripulada, dado que los riesgos, escalas y necesidades operativas de los UAS son distintos.</a:t>
            </a:r>
          </a:p>
        </p:txBody>
      </p:sp>
    </p:spTree>
    <p:extLst>
      <p:ext uri="{BB962C8B-B14F-4D97-AF65-F5344CB8AC3E}">
        <p14:creationId xmlns:p14="http://schemas.microsoft.com/office/powerpoint/2010/main" val="4000380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1066481"/>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Tipos de UAS</a:t>
            </a:r>
            <a:endParaRPr lang="es-CO" b="1" dirty="0">
              <a:latin typeface="Myriad Pro Semibold" panose="020B0503030403020204"/>
            </a:endParaRPr>
          </a:p>
        </p:txBody>
      </p:sp>
      <p:sp>
        <p:nvSpPr>
          <p:cNvPr id="3" name="Marcador de contenido 2">
            <a:extLst>
              <a:ext uri="{FF2B5EF4-FFF2-40B4-BE49-F238E27FC236}">
                <a16:creationId xmlns:a16="http://schemas.microsoft.com/office/drawing/2014/main" id="{626AB3DC-6BEC-830B-8EB1-ABB95857142F}"/>
              </a:ext>
            </a:extLst>
          </p:cNvPr>
          <p:cNvSpPr>
            <a:spLocks noGrp="1"/>
          </p:cNvSpPr>
          <p:nvPr>
            <p:ph idx="1"/>
          </p:nvPr>
        </p:nvSpPr>
        <p:spPr>
          <a:xfrm>
            <a:off x="838200" y="2009524"/>
            <a:ext cx="4096109" cy="4351338"/>
          </a:xfrm>
        </p:spPr>
        <p:txBody>
          <a:bodyPr>
            <a:normAutofit/>
          </a:bodyPr>
          <a:lstStyle/>
          <a:p>
            <a:pPr algn="just" rtl="0"/>
            <a:r>
              <a:rPr lang="es-ES" sz="2400" dirty="0" err="1">
                <a:latin typeface="Humanst521 BT" panose="020B0602020204020204" pitchFamily="34" charset="0"/>
              </a:rPr>
              <a:t>Multirrotor</a:t>
            </a:r>
            <a:r>
              <a:rPr lang="es-ES" sz="2400" dirty="0">
                <a:latin typeface="Humanst521 BT" panose="020B0602020204020204" pitchFamily="34" charset="0"/>
              </a:rPr>
              <a:t>:</a:t>
            </a:r>
          </a:p>
          <a:p>
            <a:pPr algn="just" rtl="0"/>
            <a:r>
              <a:rPr lang="es-ES" sz="2400" dirty="0">
                <a:latin typeface="Humanst521 BT" panose="020B0602020204020204" pitchFamily="34" charset="0"/>
              </a:rPr>
              <a:t>Ala fija: </a:t>
            </a:r>
          </a:p>
          <a:p>
            <a:pPr algn="just" rtl="0"/>
            <a:r>
              <a:rPr lang="es-ES" sz="2400" dirty="0">
                <a:latin typeface="Humanst521 BT" panose="020B0602020204020204" pitchFamily="34" charset="0"/>
              </a:rPr>
              <a:t>Híbridos (VTOL de ala fija):</a:t>
            </a:r>
          </a:p>
        </p:txBody>
      </p:sp>
      <p:pic>
        <p:nvPicPr>
          <p:cNvPr id="8" name="Imagen 7">
            <a:extLst>
              <a:ext uri="{FF2B5EF4-FFF2-40B4-BE49-F238E27FC236}">
                <a16:creationId xmlns:a16="http://schemas.microsoft.com/office/drawing/2014/main" id="{F365D316-4AFF-2729-0802-F6D0C38A1EE9}"/>
              </a:ext>
            </a:extLst>
          </p:cNvPr>
          <p:cNvPicPr>
            <a:picLocks noChangeAspect="1"/>
          </p:cNvPicPr>
          <p:nvPr/>
        </p:nvPicPr>
        <p:blipFill>
          <a:blip r:embed="rId5"/>
          <a:stretch>
            <a:fillRect/>
          </a:stretch>
        </p:blipFill>
        <p:spPr>
          <a:xfrm>
            <a:off x="73059" y="4631254"/>
            <a:ext cx="4782175" cy="2070580"/>
          </a:xfrm>
          <a:prstGeom prst="rect">
            <a:avLst/>
          </a:prstGeom>
        </p:spPr>
      </p:pic>
      <p:pic>
        <p:nvPicPr>
          <p:cNvPr id="10" name="Imagen 9">
            <a:extLst>
              <a:ext uri="{FF2B5EF4-FFF2-40B4-BE49-F238E27FC236}">
                <a16:creationId xmlns:a16="http://schemas.microsoft.com/office/drawing/2014/main" id="{26604D8F-6D27-5F24-370C-3B091E01EC75}"/>
              </a:ext>
            </a:extLst>
          </p:cNvPr>
          <p:cNvPicPr>
            <a:picLocks noChangeAspect="1"/>
          </p:cNvPicPr>
          <p:nvPr/>
        </p:nvPicPr>
        <p:blipFill>
          <a:blip r:embed="rId6"/>
          <a:stretch>
            <a:fillRect/>
          </a:stretch>
        </p:blipFill>
        <p:spPr>
          <a:xfrm>
            <a:off x="5830152" y="2853817"/>
            <a:ext cx="5811061" cy="3639058"/>
          </a:xfrm>
          <a:prstGeom prst="rect">
            <a:avLst/>
          </a:prstGeom>
        </p:spPr>
      </p:pic>
    </p:spTree>
    <p:extLst>
      <p:ext uri="{BB962C8B-B14F-4D97-AF65-F5344CB8AC3E}">
        <p14:creationId xmlns:p14="http://schemas.microsoft.com/office/powerpoint/2010/main" val="1595958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1066481"/>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¿Por qué se regula? Rol de la OACI y la UAEAC</a:t>
            </a:r>
            <a:endParaRPr lang="es-CO" b="1" dirty="0">
              <a:latin typeface="Myriad Pro Semibold" panose="020B0503030403020204"/>
            </a:endParaRPr>
          </a:p>
        </p:txBody>
      </p:sp>
      <p:sp>
        <p:nvSpPr>
          <p:cNvPr id="3" name="Marcador de contenido 2">
            <a:extLst>
              <a:ext uri="{FF2B5EF4-FFF2-40B4-BE49-F238E27FC236}">
                <a16:creationId xmlns:a16="http://schemas.microsoft.com/office/drawing/2014/main" id="{626AB3DC-6BEC-830B-8EB1-ABB95857142F}"/>
              </a:ext>
            </a:extLst>
          </p:cNvPr>
          <p:cNvSpPr>
            <a:spLocks noGrp="1"/>
          </p:cNvSpPr>
          <p:nvPr>
            <p:ph idx="1"/>
          </p:nvPr>
        </p:nvSpPr>
        <p:spPr>
          <a:xfrm>
            <a:off x="838200" y="2009524"/>
            <a:ext cx="10515600" cy="4351338"/>
          </a:xfrm>
        </p:spPr>
        <p:txBody>
          <a:bodyPr>
            <a:normAutofit/>
          </a:bodyPr>
          <a:lstStyle/>
          <a:p>
            <a:pPr rtl="0">
              <a:buFont typeface="Arial" panose="020B0604020202020204" pitchFamily="34" charset="0"/>
              <a:buChar char="•"/>
            </a:pPr>
            <a:r>
              <a:rPr lang="es-ES" sz="2000" b="1" dirty="0">
                <a:latin typeface="Humanst521 BT" panose="020B0602020204020204" pitchFamily="34" charset="0"/>
              </a:rPr>
              <a:t>A nivel internacional</a:t>
            </a:r>
            <a:r>
              <a:rPr lang="es-ES" sz="2000" dirty="0">
                <a:latin typeface="Humanst521 BT" panose="020B0602020204020204" pitchFamily="34" charset="0"/>
              </a:rPr>
              <a:t>, la Organización de Aviación Civil Internacional (OACI) es el organismo de Naciones Unidas que define estándares y prácticas recomendadas para la aviación civil mundial, incluyendo lineamientos generales para la integración de aeronaves no tripuladas en el espacio aéreo.</a:t>
            </a:r>
          </a:p>
          <a:p>
            <a:pPr rtl="0">
              <a:buFont typeface="Arial" panose="020B0604020202020204" pitchFamily="34" charset="0"/>
              <a:buChar char="•"/>
            </a:pPr>
            <a:r>
              <a:rPr lang="es-ES" sz="2000" b="1" dirty="0">
                <a:latin typeface="Humanst521 BT" panose="020B0602020204020204" pitchFamily="34" charset="0"/>
              </a:rPr>
              <a:t>A nivel nacional</a:t>
            </a:r>
            <a:r>
              <a:rPr lang="es-ES" sz="2000" dirty="0">
                <a:latin typeface="Humanst521 BT" panose="020B0602020204020204" pitchFamily="34" charset="0"/>
              </a:rPr>
              <a:t>, la Unidad Administrativa Especial de Aeronáutica Civil (UAEAC) es la autoridad aeronáutica colombiana. Es quien expide el RAC 100 y quien tiene la facultad de registrar UAS, certificar explotadores, certificar pilotos UAS y autorizar vuelos específicos.</a:t>
            </a:r>
          </a:p>
          <a:p>
            <a:pPr rtl="0"/>
            <a:r>
              <a:rPr lang="es-ES" sz="2000" dirty="0">
                <a:latin typeface="Humanst521 BT" panose="020B0602020204020204" pitchFamily="34" charset="0"/>
              </a:rPr>
              <a:t>La regulación existe porque un UAS, aunque pequeño, comparte el espacio aéreo con aviación tripulada, sobrevuela personas y propiedades, y puede causar daños si no se opera con reglas claras. El reglamento busca equilibrar el crecimiento del sector con la seguridad operacional.</a:t>
            </a:r>
          </a:p>
        </p:txBody>
      </p:sp>
    </p:spTree>
    <p:extLst>
      <p:ext uri="{BB962C8B-B14F-4D97-AF65-F5344CB8AC3E}">
        <p14:creationId xmlns:p14="http://schemas.microsoft.com/office/powerpoint/2010/main" val="2779391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1066481"/>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Categorías de operación (100.205)</a:t>
            </a:r>
            <a:endParaRPr lang="es-CO" b="1" dirty="0">
              <a:latin typeface="Myriad Pro Semibold" panose="020B0503030403020204"/>
            </a:endParaRPr>
          </a:p>
        </p:txBody>
      </p:sp>
      <p:sp>
        <p:nvSpPr>
          <p:cNvPr id="3" name="Marcador de contenido 2">
            <a:extLst>
              <a:ext uri="{FF2B5EF4-FFF2-40B4-BE49-F238E27FC236}">
                <a16:creationId xmlns:a16="http://schemas.microsoft.com/office/drawing/2014/main" id="{626AB3DC-6BEC-830B-8EB1-ABB95857142F}"/>
              </a:ext>
            </a:extLst>
          </p:cNvPr>
          <p:cNvSpPr>
            <a:spLocks noGrp="1"/>
          </p:cNvSpPr>
          <p:nvPr>
            <p:ph idx="1"/>
          </p:nvPr>
        </p:nvSpPr>
        <p:spPr>
          <a:xfrm>
            <a:off x="838200" y="2009524"/>
            <a:ext cx="10515600" cy="4351338"/>
          </a:xfrm>
        </p:spPr>
        <p:txBody>
          <a:bodyPr>
            <a:normAutofit/>
          </a:bodyPr>
          <a:lstStyle/>
          <a:p>
            <a:pPr marL="0" indent="0" rtl="0">
              <a:buNone/>
            </a:pPr>
            <a:r>
              <a:rPr lang="es-ES" sz="2000" b="1" dirty="0">
                <a:latin typeface="Humanst521 BT" panose="020B0602020204020204" pitchFamily="34" charset="0"/>
              </a:rPr>
              <a:t>(1) Categoría abierta</a:t>
            </a:r>
            <a:endParaRPr lang="es-ES" sz="2000" dirty="0">
              <a:latin typeface="Humanst521 BT" panose="020B0602020204020204" pitchFamily="34" charset="0"/>
            </a:endParaRPr>
          </a:p>
          <a:p>
            <a:r>
              <a:rPr lang="es-ES" sz="2000" dirty="0">
                <a:latin typeface="Humanst521 BT" panose="020B0602020204020204" pitchFamily="34" charset="0"/>
              </a:rPr>
              <a:t>Operaciones </a:t>
            </a:r>
            <a:r>
              <a:rPr lang="es-ES" sz="2000" b="1" dirty="0">
                <a:latin typeface="Humanst521 BT" panose="020B0602020204020204" pitchFamily="34" charset="0"/>
              </a:rPr>
              <a:t>sin ánimo de lucro</a:t>
            </a:r>
            <a:r>
              <a:rPr lang="es-ES" sz="2000" dirty="0">
                <a:latin typeface="Humanst521 BT" panose="020B0602020204020204" pitchFamily="34" charset="0"/>
              </a:rPr>
              <a:t> (no comerciales).</a:t>
            </a:r>
          </a:p>
          <a:p>
            <a:r>
              <a:rPr lang="es-ES" sz="2000" dirty="0">
                <a:latin typeface="Humanst521 BT" panose="020B0602020204020204" pitchFamily="34" charset="0"/>
              </a:rPr>
              <a:t>Peso (masa) bruto máximo de operación: </a:t>
            </a:r>
            <a:r>
              <a:rPr lang="es-ES" sz="2000" b="1" dirty="0">
                <a:latin typeface="Humanst521 BT" panose="020B0602020204020204" pitchFamily="34" charset="0"/>
              </a:rPr>
              <a:t>hasta 25 kg</a:t>
            </a:r>
            <a:r>
              <a:rPr lang="es-ES" sz="2000" dirty="0">
                <a:latin typeface="Humanst521 BT" panose="020B0602020204020204" pitchFamily="34" charset="0"/>
              </a:rPr>
              <a:t>, incluyendo todo lo que esté a bordo o conectado a la aeronave en el despegue.</a:t>
            </a:r>
          </a:p>
          <a:p>
            <a:r>
              <a:rPr lang="es-ES" sz="2000" dirty="0">
                <a:latin typeface="Humanst521 BT" panose="020B0602020204020204" pitchFamily="34" charset="0"/>
              </a:rPr>
              <a:t>Es obligatorio el registro del UAS ante la UAEAC — con una excepción importante: </a:t>
            </a:r>
            <a:r>
              <a:rPr lang="es-ES" sz="2000" b="1" dirty="0">
                <a:latin typeface="Humanst521 BT" panose="020B0602020204020204" pitchFamily="34" charset="0"/>
              </a:rPr>
              <a:t>las UA con peso menor a 200 gramos no requieren registro</a:t>
            </a:r>
            <a:r>
              <a:rPr lang="es-ES" sz="2000" dirty="0">
                <a:latin typeface="Humanst521 BT" panose="020B0602020204020204" pitchFamily="34" charset="0"/>
              </a:rPr>
              <a:t>.</a:t>
            </a:r>
          </a:p>
          <a:p>
            <a:r>
              <a:rPr lang="es-ES" sz="2000" dirty="0">
                <a:latin typeface="Humanst521 BT" panose="020B0602020204020204" pitchFamily="34" charset="0"/>
              </a:rPr>
              <a:t>Un detalle particular del reglamento: si un niño, niña o adolescente opera una UA, la responsabilidad recae sobre los padres o quien tenga su custodia, así como sobre el propietario registrado.</a:t>
            </a:r>
          </a:p>
        </p:txBody>
      </p:sp>
    </p:spTree>
    <p:extLst>
      <p:ext uri="{BB962C8B-B14F-4D97-AF65-F5344CB8AC3E}">
        <p14:creationId xmlns:p14="http://schemas.microsoft.com/office/powerpoint/2010/main" val="2186986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1066481"/>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Categorías de operación (100.205)</a:t>
            </a:r>
            <a:endParaRPr lang="es-CO" b="1" dirty="0">
              <a:latin typeface="Myriad Pro Semibold" panose="020B0503030403020204"/>
            </a:endParaRPr>
          </a:p>
        </p:txBody>
      </p:sp>
      <p:sp>
        <p:nvSpPr>
          <p:cNvPr id="3" name="Marcador de contenido 2">
            <a:extLst>
              <a:ext uri="{FF2B5EF4-FFF2-40B4-BE49-F238E27FC236}">
                <a16:creationId xmlns:a16="http://schemas.microsoft.com/office/drawing/2014/main" id="{626AB3DC-6BEC-830B-8EB1-ABB95857142F}"/>
              </a:ext>
            </a:extLst>
          </p:cNvPr>
          <p:cNvSpPr>
            <a:spLocks noGrp="1"/>
          </p:cNvSpPr>
          <p:nvPr>
            <p:ph idx="1"/>
          </p:nvPr>
        </p:nvSpPr>
        <p:spPr>
          <a:xfrm>
            <a:off x="838200" y="2009524"/>
            <a:ext cx="10515600" cy="4351338"/>
          </a:xfrm>
        </p:spPr>
        <p:txBody>
          <a:bodyPr>
            <a:normAutofit/>
          </a:bodyPr>
          <a:lstStyle/>
          <a:p>
            <a:pPr marL="0" indent="0" rtl="0">
              <a:buNone/>
            </a:pPr>
            <a:r>
              <a:rPr lang="es-ES" sz="2000" b="1" dirty="0">
                <a:latin typeface="Humanst521 BT" panose="020B0602020204020204" pitchFamily="34" charset="0"/>
              </a:rPr>
              <a:t>(2) Categoría específica</a:t>
            </a:r>
            <a:endParaRPr lang="es-ES" sz="2000" dirty="0">
              <a:latin typeface="Humanst521 BT" panose="020B0602020204020204" pitchFamily="34" charset="0"/>
            </a:endParaRPr>
          </a:p>
          <a:p>
            <a:r>
              <a:rPr lang="es-ES" sz="2000" dirty="0">
                <a:latin typeface="Humanst521 BT" panose="020B0602020204020204" pitchFamily="34" charset="0"/>
              </a:rPr>
              <a:t>Operaciones </a:t>
            </a:r>
            <a:r>
              <a:rPr lang="es-ES" sz="2000" b="1" dirty="0">
                <a:latin typeface="Humanst521 BT" panose="020B0602020204020204" pitchFamily="34" charset="0"/>
              </a:rPr>
              <a:t>con ánimo de lucro</a:t>
            </a:r>
            <a:r>
              <a:rPr lang="es-ES" sz="2000" dirty="0">
                <a:latin typeface="Humanst521 BT" panose="020B0602020204020204" pitchFamily="34" charset="0"/>
              </a:rPr>
              <a:t> (comerciales) realizadas por personas naturales o jurídicas, o por entidades públicas que no sean de la Aviación de Estado.</a:t>
            </a:r>
          </a:p>
          <a:p>
            <a:r>
              <a:rPr lang="es-ES" sz="2000" dirty="0">
                <a:latin typeface="Humanst521 BT" panose="020B0602020204020204" pitchFamily="34" charset="0"/>
              </a:rPr>
              <a:t>También aplica a cualquier operación que se salga de las restricciones de la categoría abierta (por ejemplo, un vuelo BVLOS o cerca de personas, aunque sea sin fines de lucro).</a:t>
            </a:r>
          </a:p>
          <a:p>
            <a:r>
              <a:rPr lang="es-ES" sz="2000" dirty="0">
                <a:latin typeface="Humanst521 BT" panose="020B0602020204020204" pitchFamily="34" charset="0"/>
              </a:rPr>
              <a:t>Peso máximo: hasta </a:t>
            </a:r>
            <a:r>
              <a:rPr lang="es-ES" sz="2000" b="1" dirty="0">
                <a:latin typeface="Humanst521 BT" panose="020B0602020204020204" pitchFamily="34" charset="0"/>
              </a:rPr>
              <a:t>250 kg</a:t>
            </a:r>
            <a:r>
              <a:rPr lang="es-ES" sz="2000" dirty="0">
                <a:latin typeface="Humanst521 BT" panose="020B0602020204020204" pitchFamily="34" charset="0"/>
              </a:rPr>
              <a:t>.</a:t>
            </a:r>
          </a:p>
          <a:p>
            <a:r>
              <a:rPr lang="es-ES" sz="2000" dirty="0">
                <a:latin typeface="Humanst521 BT" panose="020B0602020204020204" pitchFamily="34" charset="0"/>
              </a:rPr>
              <a:t>Requiere: registro del UAS, que el vuelo sea realizado por un piloto UAS (certificado), y una </a:t>
            </a:r>
            <a:r>
              <a:rPr lang="es-ES" sz="2000" b="1" dirty="0">
                <a:latin typeface="Humanst521 BT" panose="020B0602020204020204" pitchFamily="34" charset="0"/>
              </a:rPr>
              <a:t>autorización de vuelo UAS</a:t>
            </a:r>
            <a:r>
              <a:rPr lang="es-ES" sz="2000" dirty="0">
                <a:latin typeface="Humanst521 BT" panose="020B0602020204020204" pitchFamily="34" charset="0"/>
              </a:rPr>
              <a:t> emitida por la UAEAC.</a:t>
            </a:r>
          </a:p>
          <a:p>
            <a:r>
              <a:rPr lang="es-ES" sz="2000" dirty="0">
                <a:latin typeface="Humanst521 BT" panose="020B0602020204020204" pitchFamily="34" charset="0"/>
              </a:rPr>
              <a:t>Regla de oro: la aviación tripulada </a:t>
            </a:r>
            <a:r>
              <a:rPr lang="es-ES" sz="2000" b="1" dirty="0">
                <a:latin typeface="Humanst521 BT" panose="020B0602020204020204" pitchFamily="34" charset="0"/>
              </a:rPr>
              <a:t>siempre tiene prelación</a:t>
            </a:r>
            <a:r>
              <a:rPr lang="es-ES" sz="2000" dirty="0">
                <a:latin typeface="Humanst521 BT" panose="020B0602020204020204" pitchFamily="34" charset="0"/>
              </a:rPr>
              <a:t> sobre cualquier operación UAS.</a:t>
            </a:r>
          </a:p>
        </p:txBody>
      </p:sp>
    </p:spTree>
    <p:extLst>
      <p:ext uri="{BB962C8B-B14F-4D97-AF65-F5344CB8AC3E}">
        <p14:creationId xmlns:p14="http://schemas.microsoft.com/office/powerpoint/2010/main" val="2564044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1066481"/>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Categorías de operación (100.205)</a:t>
            </a:r>
            <a:endParaRPr lang="es-CO" b="1" dirty="0">
              <a:latin typeface="Myriad Pro Semibold" panose="020B0503030403020204"/>
            </a:endParaRPr>
          </a:p>
        </p:txBody>
      </p:sp>
      <p:sp>
        <p:nvSpPr>
          <p:cNvPr id="3" name="Marcador de contenido 2">
            <a:extLst>
              <a:ext uri="{FF2B5EF4-FFF2-40B4-BE49-F238E27FC236}">
                <a16:creationId xmlns:a16="http://schemas.microsoft.com/office/drawing/2014/main" id="{626AB3DC-6BEC-830B-8EB1-ABB95857142F}"/>
              </a:ext>
            </a:extLst>
          </p:cNvPr>
          <p:cNvSpPr>
            <a:spLocks noGrp="1"/>
          </p:cNvSpPr>
          <p:nvPr>
            <p:ph idx="1"/>
          </p:nvPr>
        </p:nvSpPr>
        <p:spPr>
          <a:xfrm>
            <a:off x="838200" y="2009524"/>
            <a:ext cx="10515600" cy="4351338"/>
          </a:xfrm>
        </p:spPr>
        <p:txBody>
          <a:bodyPr>
            <a:normAutofit/>
          </a:bodyPr>
          <a:lstStyle/>
          <a:p>
            <a:pPr marL="0" indent="0" rtl="0">
              <a:buNone/>
            </a:pPr>
            <a:r>
              <a:rPr lang="es-ES" sz="2000" b="1" dirty="0">
                <a:latin typeface="Humanst521 BT" panose="020B0602020204020204" pitchFamily="34" charset="0"/>
              </a:rPr>
              <a:t>(3) Categoría certificada</a:t>
            </a:r>
            <a:endParaRPr lang="es-ES" sz="2000" dirty="0">
              <a:latin typeface="Humanst521 BT" panose="020B0602020204020204" pitchFamily="34" charset="0"/>
            </a:endParaRPr>
          </a:p>
          <a:p>
            <a:r>
              <a:rPr lang="es-ES" sz="2000" dirty="0">
                <a:latin typeface="Humanst521 BT" panose="020B0602020204020204" pitchFamily="34" charset="0"/>
              </a:rPr>
              <a:t>Corresponde a los RPAS (aeronaves pilotadas a distancia) cuyas condiciones de vuelo son equivalentes a las de la aviación tripulada — requieren certificado de tipo, certificado de aeronavegabilidad, y pilotos con licencia de piloto a distancia y certificado médico aeronáutico.</a:t>
            </a:r>
          </a:p>
          <a:p>
            <a:r>
              <a:rPr lang="es-ES" sz="2000" dirty="0">
                <a:latin typeface="Humanst521 BT" panose="020B0602020204020204" pitchFamily="34" charset="0"/>
              </a:rPr>
              <a:t>Es importante mencionar que esta categoría </a:t>
            </a:r>
            <a:r>
              <a:rPr lang="es-ES" sz="2000" b="1" dirty="0">
                <a:latin typeface="Humanst521 BT" panose="020B0602020204020204" pitchFamily="34" charset="0"/>
              </a:rPr>
              <a:t>todavía no está habilitada operacionalmente en Colombia</a:t>
            </a:r>
            <a:r>
              <a:rPr lang="es-ES" sz="2000" dirty="0">
                <a:latin typeface="Humanst521 BT" panose="020B0602020204020204" pitchFamily="34" charset="0"/>
              </a:rPr>
              <a:t>: la OACI aún está desarrollando los estándares internacionales (SARPS) correspondientes, así que la UAEAC no autorizará este tipo de operaciones hasta que dichos estándares existan y el RAC 100 se armonice con ellos. Es útil mencionarlo para que los estudiantes entiendan que el marco normativo sigue evolucionando.</a:t>
            </a:r>
          </a:p>
        </p:txBody>
      </p:sp>
    </p:spTree>
    <p:extLst>
      <p:ext uri="{BB962C8B-B14F-4D97-AF65-F5344CB8AC3E}">
        <p14:creationId xmlns:p14="http://schemas.microsoft.com/office/powerpoint/2010/main" val="1290868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1066481"/>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Puntos clave</a:t>
            </a:r>
            <a:endParaRPr lang="es-CO" b="1" dirty="0">
              <a:latin typeface="Myriad Pro Semibold" panose="020B0503030403020204"/>
            </a:endParaRPr>
          </a:p>
        </p:txBody>
      </p:sp>
      <p:sp>
        <p:nvSpPr>
          <p:cNvPr id="5" name="Rectangle 2">
            <a:extLst>
              <a:ext uri="{FF2B5EF4-FFF2-40B4-BE49-F238E27FC236}">
                <a16:creationId xmlns:a16="http://schemas.microsoft.com/office/drawing/2014/main" id="{06239EBE-13EE-04A2-BC71-10C96EA9C4A8}"/>
              </a:ext>
            </a:extLst>
          </p:cNvPr>
          <p:cNvSpPr>
            <a:spLocks noGrp="1" noChangeArrowheads="1"/>
          </p:cNvSpPr>
          <p:nvPr>
            <p:ph idx="1"/>
          </p:nvPr>
        </p:nvSpPr>
        <p:spPr bwMode="auto">
          <a:xfrm>
            <a:off x="838201" y="1905506"/>
            <a:ext cx="105156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2400" b="0" i="0" u="none" strike="noStrike" cap="none" normalizeH="0" baseline="0" dirty="0">
              <a:ln>
                <a:noFill/>
              </a:ln>
              <a:solidFill>
                <a:schemeClr val="tx1"/>
              </a:solidFill>
              <a:effectLst/>
              <a:latin typeface="Humanst521 BT" panose="020B0602020204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s-CO" altLang="es-CO" sz="2400" b="0" i="0" u="none" strike="noStrike" cap="none" normalizeH="0" baseline="0" dirty="0">
                <a:ln>
                  <a:noFill/>
                </a:ln>
                <a:solidFill>
                  <a:schemeClr val="tx1"/>
                </a:solidFill>
                <a:effectLst/>
                <a:latin typeface="Humanst521 BT" panose="020B0602020204020204" pitchFamily="34" charset="0"/>
              </a:rPr>
              <a:t>UAS ≠ UA: el sistema completo vs. la aeronave.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s-CO" altLang="es-CO" sz="2400" b="0" i="0" u="none" strike="noStrike" cap="none" normalizeH="0" baseline="0" dirty="0">
                <a:ln>
                  <a:noFill/>
                </a:ln>
                <a:solidFill>
                  <a:schemeClr val="tx1"/>
                </a:solidFill>
                <a:effectLst/>
                <a:latin typeface="Humanst521 BT" panose="020B0602020204020204" pitchFamily="34" charset="0"/>
              </a:rPr>
              <a:t>La regulación existe para integrar de forma segura los UAS al espacio aéreo compartido.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s-CO" altLang="es-CO" sz="2400" b="0" i="0" u="none" strike="noStrike" cap="none" normalizeH="0" baseline="0" dirty="0">
                <a:ln>
                  <a:noFill/>
                </a:ln>
                <a:solidFill>
                  <a:schemeClr val="tx1"/>
                </a:solidFill>
                <a:effectLst/>
                <a:latin typeface="Humanst521 BT" panose="020B0602020204020204" pitchFamily="34" charset="0"/>
              </a:rPr>
              <a:t>La categoría de operación (abierta / específica / certificada) determina casi todas las obligaciones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s-CO" altLang="es-CO" sz="2400" b="0" i="0" u="none" strike="noStrike" cap="none" normalizeH="0" baseline="0" dirty="0">
                <a:ln>
                  <a:noFill/>
                </a:ln>
                <a:solidFill>
                  <a:schemeClr val="tx1"/>
                </a:solidFill>
                <a:effectLst/>
                <a:latin typeface="Humanst521 BT" panose="020B0602020204020204" pitchFamily="34" charset="0"/>
              </a:rPr>
              <a:t>La categoría certificada (RPAS) aún no opera en Colombia por falta de estándares OACI armonizados. </a:t>
            </a:r>
          </a:p>
        </p:txBody>
      </p:sp>
    </p:spTree>
    <p:extLst>
      <p:ext uri="{BB962C8B-B14F-4D97-AF65-F5344CB8AC3E}">
        <p14:creationId xmlns:p14="http://schemas.microsoft.com/office/powerpoint/2010/main" val="3173462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Reglamento del aire aplicable a UAS</a:t>
            </a:r>
            <a:endParaRPr lang="es-CO" b="1" dirty="0">
              <a:latin typeface="Myriad Pro Semibold" panose="020B0503030403020204"/>
            </a:endParaRPr>
          </a:p>
        </p:txBody>
      </p:sp>
      <p:sp>
        <p:nvSpPr>
          <p:cNvPr id="3" name="Marcador de contenido 2">
            <a:extLst>
              <a:ext uri="{FF2B5EF4-FFF2-40B4-BE49-F238E27FC236}">
                <a16:creationId xmlns:a16="http://schemas.microsoft.com/office/drawing/2014/main" id="{626AB3DC-6BEC-830B-8EB1-ABB95857142F}"/>
              </a:ext>
            </a:extLst>
          </p:cNvPr>
          <p:cNvSpPr>
            <a:spLocks noGrp="1"/>
          </p:cNvSpPr>
          <p:nvPr>
            <p:ph idx="1"/>
          </p:nvPr>
        </p:nvSpPr>
        <p:spPr>
          <a:xfrm>
            <a:off x="838200" y="2009524"/>
            <a:ext cx="10515600" cy="4351338"/>
          </a:xfrm>
        </p:spPr>
        <p:txBody>
          <a:bodyPr>
            <a:normAutofit/>
          </a:bodyPr>
          <a:lstStyle/>
          <a:p>
            <a:pPr marL="0" indent="0" algn="just" rtl="0">
              <a:buNone/>
            </a:pPr>
            <a:r>
              <a:rPr lang="es-ES" sz="2400" dirty="0">
                <a:latin typeface="Humanst521 BT" panose="020B0602020204020204" pitchFamily="34" charset="0"/>
              </a:rPr>
              <a:t>El RAC 100 (100.100 y 100.200, ámbito de aplicación) deja claro que estas reglas de operación con UAS aplican a toda persona natural o jurídica, nacional o extranjera, que planee operar con fines comerciales o sin ánimo de lucro.</a:t>
            </a:r>
          </a:p>
          <a:p>
            <a:pPr marL="0" indent="0" algn="just" rtl="0">
              <a:buNone/>
            </a:pPr>
            <a:r>
              <a:rPr lang="es-ES" sz="2400" dirty="0">
                <a:latin typeface="Humanst521 BT" panose="020B0602020204020204" pitchFamily="34" charset="0"/>
              </a:rPr>
              <a:t>Un punto que conviene destacar (100.245, Cumplimiento del Reglamento del Aire): un piloto UAS u operador UA está sujeto a las mismas reglas generales de tránsito aéreo que cualquier otra aeronave, en lo que resulte aplicable a su categoría de operación. Es decir, "ser un dron pequeño" no exime de las reglas básicas de convivencia en el espacio aéreo.</a:t>
            </a:r>
          </a:p>
        </p:txBody>
      </p:sp>
    </p:spTree>
    <p:extLst>
      <p:ext uri="{BB962C8B-B14F-4D97-AF65-F5344CB8AC3E}">
        <p14:creationId xmlns:p14="http://schemas.microsoft.com/office/powerpoint/2010/main" val="965237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Espacios aéreos colombianos</a:t>
            </a:r>
          </a:p>
        </p:txBody>
      </p:sp>
      <p:sp>
        <p:nvSpPr>
          <p:cNvPr id="3" name="Marcador de contenido 2">
            <a:extLst>
              <a:ext uri="{FF2B5EF4-FFF2-40B4-BE49-F238E27FC236}">
                <a16:creationId xmlns:a16="http://schemas.microsoft.com/office/drawing/2014/main" id="{626AB3DC-6BEC-830B-8EB1-ABB95857142F}"/>
              </a:ext>
            </a:extLst>
          </p:cNvPr>
          <p:cNvSpPr>
            <a:spLocks noGrp="1"/>
          </p:cNvSpPr>
          <p:nvPr>
            <p:ph idx="1"/>
          </p:nvPr>
        </p:nvSpPr>
        <p:spPr>
          <a:xfrm>
            <a:off x="838200" y="2009524"/>
            <a:ext cx="10515600" cy="4351338"/>
          </a:xfrm>
        </p:spPr>
        <p:txBody>
          <a:bodyPr>
            <a:normAutofit/>
          </a:bodyPr>
          <a:lstStyle/>
          <a:p>
            <a:pPr marL="0" indent="0" rtl="0">
              <a:buNone/>
            </a:pPr>
            <a:r>
              <a:rPr lang="es-ES" sz="2400" dirty="0">
                <a:latin typeface="Humanst521 BT" panose="020B0602020204020204" pitchFamily="34" charset="0"/>
              </a:rPr>
              <a:t>El espacio aéreo se clasifica, en términos generales, en:</a:t>
            </a:r>
          </a:p>
          <a:p>
            <a:pPr rtl="0">
              <a:buFont typeface="Arial" panose="020B0604020202020204" pitchFamily="34" charset="0"/>
              <a:buChar char="•"/>
            </a:pPr>
            <a:r>
              <a:rPr lang="es-ES" sz="2400" b="1" dirty="0">
                <a:latin typeface="Humanst521 BT" panose="020B0602020204020204" pitchFamily="34" charset="0"/>
              </a:rPr>
              <a:t>Espacio aéreo controlado:</a:t>
            </a:r>
            <a:r>
              <a:rPr lang="es-ES" sz="2400" dirty="0">
                <a:latin typeface="Humanst521 BT" panose="020B0602020204020204" pitchFamily="34" charset="0"/>
              </a:rPr>
              <a:t> donde existe un servicio de control de tránsito aéreo activo (por ejemplo, cerca de aeropuertos).</a:t>
            </a:r>
          </a:p>
          <a:p>
            <a:pPr rtl="0">
              <a:buFont typeface="Arial" panose="020B0604020202020204" pitchFamily="34" charset="0"/>
              <a:buChar char="•"/>
            </a:pPr>
            <a:r>
              <a:rPr lang="es-ES" sz="2400" b="1" dirty="0">
                <a:latin typeface="Humanst521 BT" panose="020B0602020204020204" pitchFamily="34" charset="0"/>
              </a:rPr>
              <a:t>Espacio aéreo no controlado:</a:t>
            </a:r>
            <a:r>
              <a:rPr lang="es-ES" sz="2400" dirty="0">
                <a:latin typeface="Humanst521 BT" panose="020B0602020204020204" pitchFamily="34" charset="0"/>
              </a:rPr>
              <a:t> donde no hay ese servicio activo, aunque igual existen reglas de vuelo aplicables.</a:t>
            </a:r>
          </a:p>
          <a:p>
            <a:pPr rtl="0">
              <a:buFont typeface="Arial" panose="020B0604020202020204" pitchFamily="34" charset="0"/>
              <a:buChar char="•"/>
            </a:pPr>
            <a:r>
              <a:rPr lang="es-ES" sz="2400" b="1" dirty="0">
                <a:latin typeface="Humanst521 BT" panose="020B0602020204020204" pitchFamily="34" charset="0"/>
              </a:rPr>
              <a:t>Espacio aéreo restringido o prohibido:</a:t>
            </a:r>
            <a:r>
              <a:rPr lang="es-ES" sz="2400" dirty="0">
                <a:latin typeface="Humanst521 BT" panose="020B0602020204020204" pitchFamily="34" charset="0"/>
              </a:rPr>
              <a:t> zonas donde el vuelo está limitado o prohibido por razones de seguridad (instalaciones militares, ciertas zonas fronterizas, etc.).</a:t>
            </a:r>
          </a:p>
        </p:txBody>
      </p:sp>
    </p:spTree>
    <p:extLst>
      <p:ext uri="{BB962C8B-B14F-4D97-AF65-F5344CB8AC3E}">
        <p14:creationId xmlns:p14="http://schemas.microsoft.com/office/powerpoint/2010/main" val="628411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Responsabilidades del operador UA / piloto UAS (100.210)</a:t>
            </a:r>
          </a:p>
        </p:txBody>
      </p:sp>
      <p:sp>
        <p:nvSpPr>
          <p:cNvPr id="3" name="Marcador de contenido 2">
            <a:extLst>
              <a:ext uri="{FF2B5EF4-FFF2-40B4-BE49-F238E27FC236}">
                <a16:creationId xmlns:a16="http://schemas.microsoft.com/office/drawing/2014/main" id="{626AB3DC-6BEC-830B-8EB1-ABB95857142F}"/>
              </a:ext>
            </a:extLst>
          </p:cNvPr>
          <p:cNvSpPr>
            <a:spLocks noGrp="1"/>
          </p:cNvSpPr>
          <p:nvPr>
            <p:ph idx="1"/>
          </p:nvPr>
        </p:nvSpPr>
        <p:spPr>
          <a:xfrm>
            <a:off x="838200" y="2009524"/>
            <a:ext cx="10515600" cy="4351338"/>
          </a:xfrm>
        </p:spPr>
        <p:txBody>
          <a:bodyPr>
            <a:normAutofit/>
          </a:bodyPr>
          <a:lstStyle/>
          <a:p>
            <a:pPr marL="0" indent="0" algn="just" rtl="0">
              <a:buNone/>
            </a:pPr>
            <a:r>
              <a:rPr lang="es-ES" sz="2400" dirty="0">
                <a:latin typeface="Humanst521 BT" panose="020B0602020204020204" pitchFamily="34" charset="0"/>
              </a:rPr>
              <a:t>El reglamento establece una lista de responsabilidades que recaen sobre quien opera el UAS, independientemente de si es operador (categoría abierta) o piloto UAS (categoría específica). </a:t>
            </a:r>
          </a:p>
          <a:p>
            <a:pPr algn="just" rtl="0">
              <a:buFont typeface="Arial" panose="020B0604020202020204" pitchFamily="34" charset="0"/>
              <a:buChar char="•"/>
            </a:pPr>
            <a:r>
              <a:rPr lang="es-ES" sz="2400" dirty="0">
                <a:latin typeface="Humanst521 BT" panose="020B0602020204020204" pitchFamily="34" charset="0"/>
              </a:rPr>
              <a:t>Planear la operación cumpliendo el reglamento.</a:t>
            </a:r>
          </a:p>
          <a:p>
            <a:pPr algn="just" rtl="0">
              <a:buFont typeface="Arial" panose="020B0604020202020204" pitchFamily="34" charset="0"/>
              <a:buChar char="•"/>
            </a:pPr>
            <a:r>
              <a:rPr lang="es-ES" sz="2400" dirty="0">
                <a:latin typeface="Humanst521 BT" panose="020B0602020204020204" pitchFamily="34" charset="0"/>
              </a:rPr>
              <a:t>Conocer la clasificación del espacio aéreo y las restricciones del área donde va a volar.</a:t>
            </a:r>
          </a:p>
          <a:p>
            <a:pPr algn="just" rtl="0">
              <a:buFont typeface="Arial" panose="020B0604020202020204" pitchFamily="34" charset="0"/>
              <a:buChar char="•"/>
            </a:pPr>
            <a:r>
              <a:rPr lang="es-ES" sz="2400" dirty="0">
                <a:latin typeface="Humanst521 BT" panose="020B0602020204020204" pitchFamily="34" charset="0"/>
              </a:rPr>
              <a:t>Verificar el entorno operacional: riesgos hacia personas y propiedades cercanas, tanto en superficie como en el aire, condiciones meteorológicas locales y restricciones de vuelo de la zona</a:t>
            </a:r>
          </a:p>
        </p:txBody>
      </p:sp>
    </p:spTree>
    <p:extLst>
      <p:ext uri="{BB962C8B-B14F-4D97-AF65-F5344CB8AC3E}">
        <p14:creationId xmlns:p14="http://schemas.microsoft.com/office/powerpoint/2010/main" val="2755090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Tipos de contacto visual con la UA — VLOS, EVLOS y BVLOS (100.215)</a:t>
            </a:r>
          </a:p>
        </p:txBody>
      </p:sp>
      <p:pic>
        <p:nvPicPr>
          <p:cNvPr id="13" name="Marcador de contenido 12">
            <a:extLst>
              <a:ext uri="{FF2B5EF4-FFF2-40B4-BE49-F238E27FC236}">
                <a16:creationId xmlns:a16="http://schemas.microsoft.com/office/drawing/2014/main" id="{47B45E3A-85A4-51CB-2324-577476881722}"/>
              </a:ext>
            </a:extLst>
          </p:cNvPr>
          <p:cNvPicPr>
            <a:picLocks noGrp="1" noChangeAspect="1"/>
          </p:cNvPicPr>
          <p:nvPr>
            <p:ph idx="1"/>
          </p:nvPr>
        </p:nvPicPr>
        <p:blipFill>
          <a:blip r:embed="rId5"/>
          <a:stretch>
            <a:fillRect/>
          </a:stretch>
        </p:blipFill>
        <p:spPr bwMode="auto">
          <a:xfrm>
            <a:off x="2052073" y="2057923"/>
            <a:ext cx="8087854" cy="3886742"/>
          </a:xfrm>
          <a:prstGeom prst="rect">
            <a:avLst/>
          </a:prstGeom>
          <a:noFill/>
          <a:extLst>
            <a:ext uri="{909E8E84-426E-40DD-AFC4-6F175D3DCCD1}">
              <a14:hiddenFill xmlns:a14="http://schemas.microsoft.com/office/drawing/2010/main">
                <a:solidFill>
                  <a:srgbClr val="FFFFFF"/>
                </a:solidFill>
              </a14:hiddenFill>
            </a:ext>
          </a:extLst>
        </p:spPr>
      </p:pic>
      <p:sp>
        <p:nvSpPr>
          <p:cNvPr id="15" name="CuadroTexto 14">
            <a:extLst>
              <a:ext uri="{FF2B5EF4-FFF2-40B4-BE49-F238E27FC236}">
                <a16:creationId xmlns:a16="http://schemas.microsoft.com/office/drawing/2014/main" id="{716C1F5C-7F26-99F6-21F6-522BFC6307E6}"/>
              </a:ext>
            </a:extLst>
          </p:cNvPr>
          <p:cNvSpPr txBox="1"/>
          <p:nvPr/>
        </p:nvSpPr>
        <p:spPr>
          <a:xfrm>
            <a:off x="838201" y="6000527"/>
            <a:ext cx="11046500" cy="646331"/>
          </a:xfrm>
          <a:prstGeom prst="rect">
            <a:avLst/>
          </a:prstGeom>
          <a:noFill/>
        </p:spPr>
        <p:txBody>
          <a:bodyPr wrap="square">
            <a:spAutoFit/>
          </a:bodyPr>
          <a:lstStyle/>
          <a:p>
            <a:r>
              <a:rPr lang="es-CO" dirty="0"/>
              <a:t>https://www.researchgate.net/publication/374997148/figure/fig6/AS:11431281201387464@1698332071241/llustrating-VLOS-EVLOS-BVLOS-17.ppm</a:t>
            </a:r>
          </a:p>
        </p:txBody>
      </p:sp>
    </p:spTree>
    <p:extLst>
      <p:ext uri="{BB962C8B-B14F-4D97-AF65-F5344CB8AC3E}">
        <p14:creationId xmlns:p14="http://schemas.microsoft.com/office/powerpoint/2010/main" val="1451857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Vuelos especiales (100.220)</a:t>
            </a:r>
          </a:p>
        </p:txBody>
      </p:sp>
      <p:sp>
        <p:nvSpPr>
          <p:cNvPr id="3" name="Marcador de contenido 2">
            <a:extLst>
              <a:ext uri="{FF2B5EF4-FFF2-40B4-BE49-F238E27FC236}">
                <a16:creationId xmlns:a16="http://schemas.microsoft.com/office/drawing/2014/main" id="{626AB3DC-6BEC-830B-8EB1-ABB95857142F}"/>
              </a:ext>
            </a:extLst>
          </p:cNvPr>
          <p:cNvSpPr>
            <a:spLocks noGrp="1"/>
          </p:cNvSpPr>
          <p:nvPr>
            <p:ph idx="1"/>
          </p:nvPr>
        </p:nvSpPr>
        <p:spPr>
          <a:xfrm>
            <a:off x="838200" y="2009524"/>
            <a:ext cx="10515600" cy="4351338"/>
          </a:xfrm>
        </p:spPr>
        <p:txBody>
          <a:bodyPr>
            <a:normAutofit/>
          </a:bodyPr>
          <a:lstStyle/>
          <a:p>
            <a:pPr algn="just"/>
            <a:r>
              <a:rPr lang="es-ES" sz="2400" b="1" dirty="0">
                <a:latin typeface="Humanst521 BT" panose="020B0602020204020204" pitchFamily="34" charset="0"/>
              </a:rPr>
              <a:t>Vuelo nocturno:</a:t>
            </a:r>
          </a:p>
          <a:p>
            <a:pPr algn="just"/>
            <a:r>
              <a:rPr lang="es-ES" sz="2400" b="1" dirty="0">
                <a:latin typeface="Humanst521 BT" panose="020B0602020204020204" pitchFamily="34" charset="0"/>
              </a:rPr>
              <a:t>Vuelo en zona urbana:</a:t>
            </a:r>
          </a:p>
          <a:p>
            <a:pPr algn="just"/>
            <a:r>
              <a:rPr lang="es-ES" sz="2400" b="1" dirty="0">
                <a:latin typeface="Humanst521 BT" panose="020B0602020204020204" pitchFamily="34" charset="0"/>
              </a:rPr>
              <a:t>Vuelo autónomo:</a:t>
            </a:r>
          </a:p>
          <a:p>
            <a:pPr algn="just"/>
            <a:r>
              <a:rPr lang="es-ES" sz="2400" b="1" dirty="0">
                <a:latin typeface="Humanst521 BT" panose="020B0602020204020204" pitchFamily="34" charset="0"/>
              </a:rPr>
              <a:t>Vuelos para demostraciones comerciales o de capacidad tecnológica de UAS:</a:t>
            </a:r>
          </a:p>
          <a:p>
            <a:pPr algn="just"/>
            <a:r>
              <a:rPr lang="es-ES" sz="2400" b="1" dirty="0">
                <a:latin typeface="Humanst521 BT" panose="020B0602020204020204" pitchFamily="34" charset="0"/>
              </a:rPr>
              <a:t>Vuelos en competencias y actividades deportivas y recreativas al aire libre.</a:t>
            </a:r>
          </a:p>
          <a:p>
            <a:pPr algn="just"/>
            <a:r>
              <a:rPr lang="es-ES" sz="2400" b="1" dirty="0">
                <a:latin typeface="Humanst521 BT" panose="020B0602020204020204" pitchFamily="34" charset="0"/>
              </a:rPr>
              <a:t>Vuelos de UA cautiva.</a:t>
            </a:r>
          </a:p>
          <a:p>
            <a:pPr algn="just"/>
            <a:r>
              <a:rPr lang="es-ES" sz="2400" b="1" dirty="0">
                <a:latin typeface="Humanst521 BT" panose="020B0602020204020204" pitchFamily="34" charset="0"/>
              </a:rPr>
              <a:t>Vuelos en espacios cerrados o confinados.</a:t>
            </a:r>
          </a:p>
        </p:txBody>
      </p:sp>
      <p:pic>
        <p:nvPicPr>
          <p:cNvPr id="3074" name="Picture 2" descr="Inspecciones con Dron en Espacios Confinados - Xcelinspections">
            <a:extLst>
              <a:ext uri="{FF2B5EF4-FFF2-40B4-BE49-F238E27FC236}">
                <a16:creationId xmlns:a16="http://schemas.microsoft.com/office/drawing/2014/main" id="{76CF9A8D-7C69-2779-7B65-D7F73AEC5B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13266" y="4495959"/>
            <a:ext cx="2945651" cy="2113472"/>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F7118DA1-CBD5-FA1D-1AB0-19D6B9BEC3FB}"/>
              </a:ext>
            </a:extLst>
          </p:cNvPr>
          <p:cNvSpPr txBox="1"/>
          <p:nvPr/>
        </p:nvSpPr>
        <p:spPr>
          <a:xfrm>
            <a:off x="3299346" y="6286265"/>
            <a:ext cx="5801264" cy="646331"/>
          </a:xfrm>
          <a:prstGeom prst="rect">
            <a:avLst/>
          </a:prstGeom>
          <a:noFill/>
        </p:spPr>
        <p:txBody>
          <a:bodyPr wrap="square">
            <a:spAutoFit/>
          </a:bodyPr>
          <a:lstStyle/>
          <a:p>
            <a:r>
              <a:rPr lang="es-CO" dirty="0"/>
              <a:t>https://xcelinspection.com/prod/inspecciones-con-dron-en-espacios-confinados/</a:t>
            </a:r>
          </a:p>
        </p:txBody>
      </p:sp>
    </p:spTree>
    <p:extLst>
      <p:ext uri="{BB962C8B-B14F-4D97-AF65-F5344CB8AC3E}">
        <p14:creationId xmlns:p14="http://schemas.microsoft.com/office/powerpoint/2010/main" val="32978582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err="1">
                <a:latin typeface="Myriad Pro Semibold" panose="020B0503030403020204"/>
              </a:rPr>
              <a:t>Agisoft</a:t>
            </a:r>
            <a:r>
              <a:rPr lang="es-ES" b="1" dirty="0">
                <a:latin typeface="Myriad Pro Semibold" panose="020B0503030403020204"/>
              </a:rPr>
              <a:t> vs PIX4D </a:t>
            </a:r>
            <a:r>
              <a:rPr lang="es-ES" b="1" dirty="0" err="1">
                <a:latin typeface="Myriad Pro Semibold" panose="020B0503030403020204"/>
              </a:rPr>
              <a:t>mapper</a:t>
            </a:r>
            <a:endParaRPr lang="es-ES" b="1" dirty="0">
              <a:latin typeface="Myriad Pro Semibold" panose="020B0503030403020204"/>
            </a:endParaRPr>
          </a:p>
        </p:txBody>
      </p:sp>
      <p:pic>
        <p:nvPicPr>
          <p:cNvPr id="1026" name="Picture 2" descr="Agisoft Metashape Pro - Node-Locked License">
            <a:extLst>
              <a:ext uri="{FF2B5EF4-FFF2-40B4-BE49-F238E27FC236}">
                <a16:creationId xmlns:a16="http://schemas.microsoft.com/office/drawing/2014/main" id="{3BEB4C6C-ED0A-B75F-ED93-3504DD2C7512}"/>
              </a:ext>
            </a:extLst>
          </p:cNvPr>
          <p:cNvPicPr>
            <a:picLocks noGrp="1" noChangeAspect="1" noChangeArrowheads="1"/>
          </p:cNvPicPr>
          <p:nvPr>
            <p:ph sz="half" idx="1"/>
          </p:nvPr>
        </p:nvPicPr>
        <p:blipFill>
          <a:blip r:embed="rId5">
            <a:extLst>
              <a:ext uri="{28A0092B-C50C-407E-A947-70E740481C1C}">
                <a14:useLocalDpi xmlns:a14="http://schemas.microsoft.com/office/drawing/2010/main" val="0"/>
              </a:ext>
            </a:extLst>
          </a:blip>
          <a:srcRect/>
          <a:stretch>
            <a:fillRect/>
          </a:stretch>
        </p:blipFill>
        <p:spPr bwMode="auto">
          <a:xfrm>
            <a:off x="1253331" y="1825625"/>
            <a:ext cx="4351338" cy="4351338"/>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F5EDD613-3719-8A5C-155E-666ED34E7CEC}"/>
              </a:ext>
            </a:extLst>
          </p:cNvPr>
          <p:cNvSpPr txBox="1"/>
          <p:nvPr/>
        </p:nvSpPr>
        <p:spPr>
          <a:xfrm>
            <a:off x="838200" y="6176963"/>
            <a:ext cx="6097978" cy="523220"/>
          </a:xfrm>
          <a:prstGeom prst="rect">
            <a:avLst/>
          </a:prstGeom>
          <a:noFill/>
        </p:spPr>
        <p:txBody>
          <a:bodyPr wrap="square">
            <a:spAutoFit/>
          </a:bodyPr>
          <a:lstStyle/>
          <a:p>
            <a:r>
              <a:rPr lang="es-CO" sz="1400" dirty="0"/>
              <a:t>https://drone-parts-center.com/wp-content/uploads/2023/10/agisoft-metashape-pro.jpg</a:t>
            </a:r>
          </a:p>
        </p:txBody>
      </p:sp>
      <p:sp>
        <p:nvSpPr>
          <p:cNvPr id="13" name="CuadroTexto 12">
            <a:extLst>
              <a:ext uri="{FF2B5EF4-FFF2-40B4-BE49-F238E27FC236}">
                <a16:creationId xmlns:a16="http://schemas.microsoft.com/office/drawing/2014/main" id="{7D584DC8-40EF-7F1C-B457-09867C60B9E3}"/>
              </a:ext>
            </a:extLst>
          </p:cNvPr>
          <p:cNvSpPr txBox="1"/>
          <p:nvPr/>
        </p:nvSpPr>
        <p:spPr>
          <a:xfrm>
            <a:off x="6098006" y="6176963"/>
            <a:ext cx="5055268" cy="738664"/>
          </a:xfrm>
          <a:prstGeom prst="rect">
            <a:avLst/>
          </a:prstGeom>
          <a:noFill/>
        </p:spPr>
        <p:txBody>
          <a:bodyPr wrap="square">
            <a:spAutoFit/>
          </a:bodyPr>
          <a:lstStyle/>
          <a:p>
            <a:r>
              <a:rPr lang="es-CO" sz="1400" dirty="0"/>
              <a:t>https://www.mainetechnical.com/wp-content/uploads/2024/09/LOGO_Pix4Dmapper_name_RGB_Vertical.jpg</a:t>
            </a:r>
          </a:p>
        </p:txBody>
      </p:sp>
      <p:pic>
        <p:nvPicPr>
          <p:cNvPr id="1032" name="Picture 8" descr="PIX4D PIX4Dmapper Software - Maine Technical Source">
            <a:extLst>
              <a:ext uri="{FF2B5EF4-FFF2-40B4-BE49-F238E27FC236}">
                <a16:creationId xmlns:a16="http://schemas.microsoft.com/office/drawing/2014/main" id="{9F4DDB42-8F13-9E0D-3735-EC9B69F4FA1A}"/>
              </a:ext>
            </a:extLst>
          </p:cNvPr>
          <p:cNvPicPr>
            <a:picLocks noGrp="1" noChangeAspect="1" noChangeArrowheads="1"/>
          </p:cNvPicPr>
          <p:nvPr>
            <p:ph sz="half" idx="2"/>
          </p:nvPr>
        </p:nvPicPr>
        <p:blipFill>
          <a:blip r:embed="rId6">
            <a:extLst>
              <a:ext uri="{BEBA8EAE-BF5A-486C-A8C5-ECC9F3942E4B}">
                <a14:imgProps xmlns:a14="http://schemas.microsoft.com/office/drawing/2010/main">
                  <a14:imgLayer r:embed="rId7">
                    <a14:imgEffect>
                      <a14:backgroundRemoval t="10000" b="90000" l="10000" r="94250">
                        <a14:foregroundMark x1="12250" y1="68875" x2="52875" y2="67375"/>
                        <a14:foregroundMark x1="52875" y1="67375" x2="75875" y2="69250"/>
                        <a14:foregroundMark x1="75875" y1="69250" x2="40500" y2="78875"/>
                        <a14:foregroundMark x1="40500" y1="78875" x2="17500" y2="76500"/>
                        <a14:foregroundMark x1="17500" y1="76500" x2="12250" y2="70625"/>
                        <a14:foregroundMark x1="52375" y1="75875" x2="88875" y2="72250"/>
                        <a14:foregroundMark x1="88875" y1="72250" x2="76375" y2="68250"/>
                        <a14:foregroundMark x1="76375" y1="68250" x2="75375" y2="68625"/>
                        <a14:foregroundMark x1="49625" y1="76375" x2="80875" y2="75000"/>
                        <a14:foregroundMark x1="12000" y1="67000" x2="38875" y2="65875"/>
                        <a14:foregroundMark x1="38875" y1="65875" x2="46875" y2="65875"/>
                        <a14:foregroundMark x1="11750" y1="65625" x2="22250" y2="65625"/>
                        <a14:foregroundMark x1="53000" y1="67500" x2="82875" y2="67875"/>
                        <a14:foregroundMark x1="82875" y1="67875" x2="69625" y2="81000"/>
                        <a14:foregroundMark x1="69625" y1="81000" x2="52500" y2="81500"/>
                        <a14:foregroundMark x1="52500" y1="81500" x2="50500" y2="78000"/>
                        <a14:foregroundMark x1="72000" y1="80750" x2="94250" y2="74250"/>
                        <a14:foregroundMark x1="94250" y1="74250" x2="82750" y2="68125"/>
                        <a14:foregroundMark x1="82750" y1="68125" x2="82750" y2="68125"/>
                        <a14:foregroundMark x1="87250" y1="70625" x2="92250" y2="70625"/>
                      </a14:backgroundRemoval>
                    </a14:imgEffect>
                  </a14:imgLayer>
                </a14:imgProps>
              </a:ext>
              <a:ext uri="{28A0092B-C50C-407E-A947-70E740481C1C}">
                <a14:useLocalDpi xmlns:a14="http://schemas.microsoft.com/office/drawing/2010/main" val="0"/>
              </a:ext>
            </a:extLst>
          </a:blip>
          <a:srcRect/>
          <a:stretch>
            <a:fillRect/>
          </a:stretch>
        </p:blipFill>
        <p:spPr bwMode="auto">
          <a:xfrm>
            <a:off x="6587331" y="1825625"/>
            <a:ext cx="435133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4950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a:xfrm>
            <a:off x="5302192" y="365125"/>
            <a:ext cx="6051607" cy="1325563"/>
          </a:xfrm>
        </p:spPr>
        <p:txBody>
          <a:bodyPr/>
          <a:lstStyle/>
          <a:p>
            <a:r>
              <a:rPr lang="es-ES" b="1" dirty="0">
                <a:latin typeface="Myriad Pro Semibold" panose="020B0503030403020204"/>
              </a:rPr>
              <a:t>Las cuatro fuerzas del vuelo</a:t>
            </a:r>
          </a:p>
        </p:txBody>
      </p:sp>
      <p:sp>
        <p:nvSpPr>
          <p:cNvPr id="7" name="CuadroTexto 6">
            <a:extLst>
              <a:ext uri="{FF2B5EF4-FFF2-40B4-BE49-F238E27FC236}">
                <a16:creationId xmlns:a16="http://schemas.microsoft.com/office/drawing/2014/main" id="{B14D1E75-B1C8-10DA-D6D3-18C037F4F971}"/>
              </a:ext>
            </a:extLst>
          </p:cNvPr>
          <p:cNvSpPr txBox="1"/>
          <p:nvPr/>
        </p:nvSpPr>
        <p:spPr>
          <a:xfrm>
            <a:off x="5253445" y="6169709"/>
            <a:ext cx="6100354" cy="646331"/>
          </a:xfrm>
          <a:prstGeom prst="rect">
            <a:avLst/>
          </a:prstGeom>
          <a:noFill/>
        </p:spPr>
        <p:txBody>
          <a:bodyPr wrap="square">
            <a:spAutoFit/>
          </a:bodyPr>
          <a:lstStyle/>
          <a:p>
            <a:r>
              <a:rPr lang="es-CO" dirty="0"/>
              <a:t>https://aiflightops.com/wp-content/uploads/Sistemas_UAS_aerodinamica.jpeg</a:t>
            </a:r>
          </a:p>
        </p:txBody>
      </p:sp>
      <p:pic>
        <p:nvPicPr>
          <p:cNvPr id="4" name="Picture 2" descr="Infografía de física y aerodinámica de sistemas UAS: las cuatro fuerzas de vuelo, funcionamiento de las hélices y principio de Bernoulli">
            <a:extLst>
              <a:ext uri="{FF2B5EF4-FFF2-40B4-BE49-F238E27FC236}">
                <a16:creationId xmlns:a16="http://schemas.microsoft.com/office/drawing/2014/main" id="{7A8740B8-61AD-245F-B18C-172B980F6B06}"/>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120771" y="76231"/>
            <a:ext cx="5069457" cy="6761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7589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El principio de Bernoulli y las hélices</a:t>
            </a:r>
          </a:p>
        </p:txBody>
      </p:sp>
      <p:sp>
        <p:nvSpPr>
          <p:cNvPr id="7" name="Marcador de contenido 6">
            <a:extLst>
              <a:ext uri="{FF2B5EF4-FFF2-40B4-BE49-F238E27FC236}">
                <a16:creationId xmlns:a16="http://schemas.microsoft.com/office/drawing/2014/main" id="{0B2F0677-F69E-69DB-488A-15A3FC4C787F}"/>
              </a:ext>
            </a:extLst>
          </p:cNvPr>
          <p:cNvSpPr>
            <a:spLocks noGrp="1"/>
          </p:cNvSpPr>
          <p:nvPr>
            <p:ph idx="1"/>
          </p:nvPr>
        </p:nvSpPr>
        <p:spPr>
          <a:xfrm>
            <a:off x="838200" y="1825625"/>
            <a:ext cx="6607629" cy="4351338"/>
          </a:xfrm>
        </p:spPr>
        <p:txBody>
          <a:bodyPr>
            <a:normAutofit fontScale="92500" lnSpcReduction="10000"/>
          </a:bodyPr>
          <a:lstStyle/>
          <a:p>
            <a:pPr marL="0" indent="0">
              <a:buNone/>
            </a:pPr>
            <a:r>
              <a:rPr lang="es-ES" sz="2400" dirty="0">
                <a:latin typeface="Humanst521 BT" panose="020B0602020204020204" pitchFamily="34" charset="0"/>
              </a:rPr>
              <a:t>Las hélices de un </a:t>
            </a:r>
            <a:r>
              <a:rPr lang="es-ES" sz="2400" dirty="0" err="1">
                <a:latin typeface="Humanst521 BT" panose="020B0602020204020204" pitchFamily="34" charset="0"/>
              </a:rPr>
              <a:t>multirrotor</a:t>
            </a:r>
            <a:r>
              <a:rPr lang="es-ES" sz="2400" dirty="0">
                <a:latin typeface="Humanst521 BT" panose="020B0602020204020204" pitchFamily="34" charset="0"/>
              </a:rPr>
              <a:t> no funcionan como ventiladores que «empujan» el aire hacia abajo, funcionan como alas que generan sustentación. El principio es el mismo que el de las alas de un avión, adaptado a una geometría de rotación.</a:t>
            </a:r>
          </a:p>
          <a:p>
            <a:r>
              <a:rPr lang="es-ES" sz="2400" dirty="0">
                <a:latin typeface="Humanst521 BT" panose="020B0602020204020204" pitchFamily="34" charset="0"/>
              </a:rPr>
              <a:t>La sección transversal de una pala de hélice tiene un perfil alar asimétrico: la cara superior es más curva que la inferior. Cuando la hélice rota, el aire debe recorrer un camino más largo por la cara superior, lo que aumenta su velocidad. Según el principio de Bernoulli, a mayor velocidad del fluido, menor presión. Esto crea una zona de baja presión sobre la pala y alta presión bajo ella, la diferencia de presión genera la fuerza de sustentación.</a:t>
            </a:r>
            <a:endParaRPr lang="es-CO" sz="2400" dirty="0">
              <a:latin typeface="Humanst521 BT" panose="020B0602020204020204" pitchFamily="34" charset="0"/>
            </a:endParaRPr>
          </a:p>
        </p:txBody>
      </p:sp>
      <p:pic>
        <p:nvPicPr>
          <p:cNvPr id="5124" name="Picture 4" descr="Buenas tardes! Volvimos con nuestros posts ✈️ Esta vez con el principio de  Bernoulli, algo que nos inculcan desde que iniciamos la carrera de pilotos.  El principio de Bernoulli establece que en">
            <a:extLst>
              <a:ext uri="{FF2B5EF4-FFF2-40B4-BE49-F238E27FC236}">
                <a16:creationId xmlns:a16="http://schemas.microsoft.com/office/drawing/2014/main" id="{BD70F9EF-3EBB-B331-BE45-C9E6366950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8976" y="2070101"/>
            <a:ext cx="3895725" cy="4648200"/>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F0172C81-B4A8-E2DA-6368-E39A54360F62}"/>
              </a:ext>
            </a:extLst>
          </p:cNvPr>
          <p:cNvSpPr txBox="1"/>
          <p:nvPr/>
        </p:nvSpPr>
        <p:spPr>
          <a:xfrm>
            <a:off x="6196149" y="6000527"/>
            <a:ext cx="6100354" cy="369332"/>
          </a:xfrm>
          <a:prstGeom prst="rect">
            <a:avLst/>
          </a:prstGeom>
          <a:noFill/>
        </p:spPr>
        <p:txBody>
          <a:bodyPr wrap="square">
            <a:spAutoFit/>
          </a:bodyPr>
          <a:lstStyle/>
          <a:p>
            <a:r>
              <a:rPr lang="es-CO" dirty="0"/>
              <a:t>https://www.instagram.com/p/C8dBWfdPKj7/?img_index=3</a:t>
            </a:r>
          </a:p>
        </p:txBody>
      </p:sp>
    </p:spTree>
    <p:extLst>
      <p:ext uri="{BB962C8B-B14F-4D97-AF65-F5344CB8AC3E}">
        <p14:creationId xmlns:p14="http://schemas.microsoft.com/office/powerpoint/2010/main" val="1238560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Ejes de movimiento</a:t>
            </a:r>
          </a:p>
        </p:txBody>
      </p:sp>
      <p:pic>
        <p:nvPicPr>
          <p:cNvPr id="7170" name="Picture 2" descr="Dinámica y Mantenimiento de Drones: Guía Profesional - 2026">
            <a:extLst>
              <a:ext uri="{FF2B5EF4-FFF2-40B4-BE49-F238E27FC236}">
                <a16:creationId xmlns:a16="http://schemas.microsoft.com/office/drawing/2014/main" id="{71B8BA5C-1611-BD88-534B-DD799A8EA1D3}"/>
              </a:ext>
            </a:extLst>
          </p:cNvPr>
          <p:cNvPicPr>
            <a:picLocks noGrp="1" noChangeAspect="1" noChangeArrowheads="1"/>
          </p:cNvPicPr>
          <p:nvPr>
            <p:ph sz="half" idx="2"/>
          </p:nvPr>
        </p:nvPicPr>
        <p:blipFill>
          <a:blip r:embed="rId5">
            <a:extLst>
              <a:ext uri="{28A0092B-C50C-407E-A947-70E740481C1C}">
                <a14:useLocalDpi xmlns:a14="http://schemas.microsoft.com/office/drawing/2010/main" val="0"/>
              </a:ext>
            </a:extLst>
          </a:blip>
          <a:srcRect/>
          <a:stretch>
            <a:fillRect/>
          </a:stretch>
        </p:blipFill>
        <p:spPr bwMode="auto">
          <a:xfrm>
            <a:off x="839788" y="2566539"/>
            <a:ext cx="5157787" cy="356166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Guía básica para iniciarse como piloto de drones (2026)">
            <a:extLst>
              <a:ext uri="{FF2B5EF4-FFF2-40B4-BE49-F238E27FC236}">
                <a16:creationId xmlns:a16="http://schemas.microsoft.com/office/drawing/2014/main" id="{C152F1CE-2DC2-615F-5A5C-19F6E2434592}"/>
              </a:ext>
            </a:extLst>
          </p:cNvPr>
          <p:cNvPicPr>
            <a:picLocks noGrp="1" noChangeAspect="1" noChangeArrowheads="1"/>
          </p:cNvPicPr>
          <p:nvPr>
            <p:ph sz="quarter" idx="4"/>
          </p:nvPr>
        </p:nvPicPr>
        <p:blipFill>
          <a:blip r:embed="rId6">
            <a:extLst>
              <a:ext uri="{28A0092B-C50C-407E-A947-70E740481C1C}">
                <a14:useLocalDpi xmlns:a14="http://schemas.microsoft.com/office/drawing/2010/main" val="0"/>
              </a:ext>
            </a:extLst>
          </a:blip>
          <a:srcRect/>
          <a:stretch>
            <a:fillRect/>
          </a:stretch>
        </p:blipFill>
        <p:spPr bwMode="auto">
          <a:xfrm>
            <a:off x="6172200" y="2619640"/>
            <a:ext cx="5183188" cy="3455458"/>
          </a:xfrm>
          <a:prstGeom prst="rect">
            <a:avLst/>
          </a:prstGeom>
          <a:noFill/>
          <a:extLst>
            <a:ext uri="{909E8E84-426E-40DD-AFC4-6F175D3DCCD1}">
              <a14:hiddenFill xmlns:a14="http://schemas.microsoft.com/office/drawing/2010/main">
                <a:solidFill>
                  <a:srgbClr val="FFFFFF"/>
                </a:solidFill>
              </a14:hiddenFill>
            </a:ext>
          </a:extLst>
        </p:spPr>
      </p:pic>
      <p:sp>
        <p:nvSpPr>
          <p:cNvPr id="13" name="CuadroTexto 12">
            <a:extLst>
              <a:ext uri="{FF2B5EF4-FFF2-40B4-BE49-F238E27FC236}">
                <a16:creationId xmlns:a16="http://schemas.microsoft.com/office/drawing/2014/main" id="{B6E05FBD-EE84-2255-E50C-8590BDFBD066}"/>
              </a:ext>
            </a:extLst>
          </p:cNvPr>
          <p:cNvSpPr txBox="1"/>
          <p:nvPr/>
        </p:nvSpPr>
        <p:spPr>
          <a:xfrm>
            <a:off x="71846" y="6169709"/>
            <a:ext cx="6100354" cy="646331"/>
          </a:xfrm>
          <a:prstGeom prst="rect">
            <a:avLst/>
          </a:prstGeom>
          <a:noFill/>
        </p:spPr>
        <p:txBody>
          <a:bodyPr wrap="square">
            <a:spAutoFit/>
          </a:bodyPr>
          <a:lstStyle/>
          <a:p>
            <a:r>
              <a:rPr lang="es-CO"/>
              <a:t>https://xn--drones-espaa-khb.com/dinamica-y-mantenimiento-de-drones-guia-profesional/</a:t>
            </a:r>
            <a:endParaRPr lang="es-CO" dirty="0"/>
          </a:p>
        </p:txBody>
      </p:sp>
      <p:sp>
        <p:nvSpPr>
          <p:cNvPr id="15" name="CuadroTexto 14">
            <a:extLst>
              <a:ext uri="{FF2B5EF4-FFF2-40B4-BE49-F238E27FC236}">
                <a16:creationId xmlns:a16="http://schemas.microsoft.com/office/drawing/2014/main" id="{2655C569-D995-5DED-C620-BE73691891EA}"/>
              </a:ext>
            </a:extLst>
          </p:cNvPr>
          <p:cNvSpPr txBox="1"/>
          <p:nvPr/>
        </p:nvSpPr>
        <p:spPr>
          <a:xfrm>
            <a:off x="6091646" y="6055731"/>
            <a:ext cx="6100354" cy="646331"/>
          </a:xfrm>
          <a:prstGeom prst="rect">
            <a:avLst/>
          </a:prstGeom>
          <a:noFill/>
        </p:spPr>
        <p:txBody>
          <a:bodyPr wrap="square">
            <a:spAutoFit/>
          </a:bodyPr>
          <a:lstStyle/>
          <a:p>
            <a:r>
              <a:rPr lang="es-CO" dirty="0"/>
              <a:t>https://freedrone.org/blog/guia-basica-para-iniciarse-piloto-drones</a:t>
            </a:r>
          </a:p>
        </p:txBody>
      </p:sp>
    </p:spTree>
    <p:extLst>
      <p:ext uri="{BB962C8B-B14F-4D97-AF65-F5344CB8AC3E}">
        <p14:creationId xmlns:p14="http://schemas.microsoft.com/office/powerpoint/2010/main" val="3387249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Modos de control</a:t>
            </a:r>
          </a:p>
        </p:txBody>
      </p:sp>
      <p:pic>
        <p:nvPicPr>
          <p:cNvPr id="7" name="Marcador de contenido 6">
            <a:extLst>
              <a:ext uri="{FF2B5EF4-FFF2-40B4-BE49-F238E27FC236}">
                <a16:creationId xmlns:a16="http://schemas.microsoft.com/office/drawing/2014/main" id="{4F5DBB3B-0DC7-2215-1B9E-D78977147624}"/>
              </a:ext>
            </a:extLst>
          </p:cNvPr>
          <p:cNvPicPr>
            <a:picLocks noGrp="1" noChangeAspect="1"/>
          </p:cNvPicPr>
          <p:nvPr>
            <p:ph idx="1"/>
          </p:nvPr>
        </p:nvPicPr>
        <p:blipFill>
          <a:blip r:embed="rId5"/>
          <a:stretch>
            <a:fillRect/>
          </a:stretch>
        </p:blipFill>
        <p:spPr>
          <a:xfrm>
            <a:off x="2265597" y="1825625"/>
            <a:ext cx="7660806" cy="4351338"/>
          </a:xfrm>
        </p:spPr>
      </p:pic>
    </p:spTree>
    <p:extLst>
      <p:ext uri="{BB962C8B-B14F-4D97-AF65-F5344CB8AC3E}">
        <p14:creationId xmlns:p14="http://schemas.microsoft.com/office/powerpoint/2010/main" val="1151643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Navegación aérea</a:t>
            </a:r>
          </a:p>
        </p:txBody>
      </p:sp>
      <p:pic>
        <p:nvPicPr>
          <p:cNvPr id="10" name="Marcador de contenido 9">
            <a:extLst>
              <a:ext uri="{FF2B5EF4-FFF2-40B4-BE49-F238E27FC236}">
                <a16:creationId xmlns:a16="http://schemas.microsoft.com/office/drawing/2014/main" id="{EAC3D3EB-223E-1E84-A435-CF1B7CE8040D}"/>
              </a:ext>
            </a:extLst>
          </p:cNvPr>
          <p:cNvPicPr>
            <a:picLocks noGrp="1" noChangeAspect="1"/>
          </p:cNvPicPr>
          <p:nvPr>
            <p:ph idx="1"/>
          </p:nvPr>
        </p:nvPicPr>
        <p:blipFill>
          <a:blip r:embed="rId5"/>
          <a:stretch>
            <a:fillRect/>
          </a:stretch>
        </p:blipFill>
        <p:spPr>
          <a:xfrm>
            <a:off x="3920331" y="1825625"/>
            <a:ext cx="4351338" cy="4351338"/>
          </a:xfrm>
          <a:prstGeom prst="rect">
            <a:avLst/>
          </a:prstGeom>
        </p:spPr>
      </p:pic>
      <p:sp>
        <p:nvSpPr>
          <p:cNvPr id="12" name="CuadroTexto 11">
            <a:extLst>
              <a:ext uri="{FF2B5EF4-FFF2-40B4-BE49-F238E27FC236}">
                <a16:creationId xmlns:a16="http://schemas.microsoft.com/office/drawing/2014/main" id="{1B35A4A0-80D3-B4EC-D9DD-45EC0B5E0D9C}"/>
              </a:ext>
            </a:extLst>
          </p:cNvPr>
          <p:cNvSpPr txBox="1"/>
          <p:nvPr/>
        </p:nvSpPr>
        <p:spPr>
          <a:xfrm>
            <a:off x="3303985" y="6211669"/>
            <a:ext cx="6093618" cy="646331"/>
          </a:xfrm>
          <a:prstGeom prst="rect">
            <a:avLst/>
          </a:prstGeom>
          <a:noFill/>
        </p:spPr>
        <p:txBody>
          <a:bodyPr wrap="square">
            <a:spAutoFit/>
          </a:bodyPr>
          <a:lstStyle/>
          <a:p>
            <a:r>
              <a:rPr lang="es-CO" dirty="0"/>
              <a:t>https://www.mobatime.com/es/tecnologia/cual-es-la-diferencia-entre-gnss-y-gps/</a:t>
            </a:r>
          </a:p>
        </p:txBody>
      </p:sp>
    </p:spTree>
    <p:extLst>
      <p:ext uri="{BB962C8B-B14F-4D97-AF65-F5344CB8AC3E}">
        <p14:creationId xmlns:p14="http://schemas.microsoft.com/office/powerpoint/2010/main" val="18854783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Interferencia electromagnética</a:t>
            </a:r>
          </a:p>
        </p:txBody>
      </p:sp>
      <p:sp>
        <p:nvSpPr>
          <p:cNvPr id="12" name="CuadroTexto 11">
            <a:extLst>
              <a:ext uri="{FF2B5EF4-FFF2-40B4-BE49-F238E27FC236}">
                <a16:creationId xmlns:a16="http://schemas.microsoft.com/office/drawing/2014/main" id="{1B35A4A0-80D3-B4EC-D9DD-45EC0B5E0D9C}"/>
              </a:ext>
            </a:extLst>
          </p:cNvPr>
          <p:cNvSpPr txBox="1"/>
          <p:nvPr/>
        </p:nvSpPr>
        <p:spPr>
          <a:xfrm>
            <a:off x="838200" y="6211669"/>
            <a:ext cx="10515600" cy="646331"/>
          </a:xfrm>
          <a:prstGeom prst="rect">
            <a:avLst/>
          </a:prstGeom>
          <a:noFill/>
        </p:spPr>
        <p:txBody>
          <a:bodyPr wrap="square">
            <a:spAutoFit/>
          </a:bodyPr>
          <a:lstStyle/>
          <a:p>
            <a:r>
              <a:rPr lang="es-CO" dirty="0"/>
              <a:t>https://www.facebook.com/26drones/photos/las-interferencias-electromagn%C3%A9ticas-provocadas-por-las-tormentas-solares-%EF%B8%8F-es-u/643698399792306/</a:t>
            </a:r>
          </a:p>
        </p:txBody>
      </p:sp>
      <p:pic>
        <p:nvPicPr>
          <p:cNvPr id="5" name="Picture 2">
            <a:extLst>
              <a:ext uri="{FF2B5EF4-FFF2-40B4-BE49-F238E27FC236}">
                <a16:creationId xmlns:a16="http://schemas.microsoft.com/office/drawing/2014/main" id="{30D91FC7-233F-C6C3-6D1C-2895960031ED}"/>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4376251" y="1825625"/>
            <a:ext cx="3439497"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4969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PAYLOAD – CARGA UTIL</a:t>
            </a:r>
          </a:p>
        </p:txBody>
      </p:sp>
      <p:pic>
        <p:nvPicPr>
          <p:cNvPr id="11" name="Marcador de contenido 10">
            <a:extLst>
              <a:ext uri="{FF2B5EF4-FFF2-40B4-BE49-F238E27FC236}">
                <a16:creationId xmlns:a16="http://schemas.microsoft.com/office/drawing/2014/main" id="{034DF14E-54B4-20A6-8E82-F39F567BD677}"/>
              </a:ext>
            </a:extLst>
          </p:cNvPr>
          <p:cNvPicPr>
            <a:picLocks noGrp="1" noChangeAspect="1"/>
          </p:cNvPicPr>
          <p:nvPr>
            <p:ph sz="quarter" idx="4"/>
          </p:nvPr>
        </p:nvPicPr>
        <p:blipFill>
          <a:blip r:embed="rId5"/>
          <a:stretch>
            <a:fillRect/>
          </a:stretch>
        </p:blipFill>
        <p:spPr>
          <a:xfrm>
            <a:off x="7109414" y="2505075"/>
            <a:ext cx="3308760" cy="3684588"/>
          </a:xfrm>
          <a:prstGeom prst="rect">
            <a:avLst/>
          </a:prstGeom>
        </p:spPr>
      </p:pic>
      <p:pic>
        <p:nvPicPr>
          <p:cNvPr id="12" name="Marcador de contenido 11">
            <a:extLst>
              <a:ext uri="{FF2B5EF4-FFF2-40B4-BE49-F238E27FC236}">
                <a16:creationId xmlns:a16="http://schemas.microsoft.com/office/drawing/2014/main" id="{D8A12C9A-2DFA-092A-47B1-7337328E1383}"/>
              </a:ext>
            </a:extLst>
          </p:cNvPr>
          <p:cNvPicPr>
            <a:picLocks noGrp="1" noChangeAspect="1"/>
          </p:cNvPicPr>
          <p:nvPr>
            <p:ph sz="half" idx="2"/>
          </p:nvPr>
        </p:nvPicPr>
        <p:blipFill>
          <a:blip r:embed="rId6">
            <a:extLst>
              <a:ext uri="{BEBA8EAE-BF5A-486C-A8C5-ECC9F3942E4B}">
                <a14:imgProps xmlns:a14="http://schemas.microsoft.com/office/drawing/2010/main">
                  <a14:imgLayer r:embed="rId7">
                    <a14:imgEffect>
                      <a14:backgroundRemoval t="9878" b="89970" l="10000" r="94103"/>
                    </a14:imgEffect>
                  </a14:imgLayer>
                </a14:imgProps>
              </a:ext>
            </a:extLst>
          </a:blip>
          <a:stretch>
            <a:fillRect/>
          </a:stretch>
        </p:blipFill>
        <p:spPr>
          <a:xfrm>
            <a:off x="839788" y="2897017"/>
            <a:ext cx="5157787" cy="2900704"/>
          </a:xfrm>
          <a:prstGeom prst="rect">
            <a:avLst/>
          </a:prstGeom>
        </p:spPr>
      </p:pic>
    </p:spTree>
    <p:extLst>
      <p:ext uri="{BB962C8B-B14F-4D97-AF65-F5344CB8AC3E}">
        <p14:creationId xmlns:p14="http://schemas.microsoft.com/office/powerpoint/2010/main" val="3984980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TIPOS DE CARGA UTIL</a:t>
            </a:r>
          </a:p>
        </p:txBody>
      </p:sp>
      <p:sp>
        <p:nvSpPr>
          <p:cNvPr id="4" name="Marcador de contenido 3">
            <a:extLst>
              <a:ext uri="{FF2B5EF4-FFF2-40B4-BE49-F238E27FC236}">
                <a16:creationId xmlns:a16="http://schemas.microsoft.com/office/drawing/2014/main" id="{B1B128FE-1FDC-E282-3BC2-B34ADC83A3AB}"/>
              </a:ext>
            </a:extLst>
          </p:cNvPr>
          <p:cNvSpPr>
            <a:spLocks noGrp="1"/>
          </p:cNvSpPr>
          <p:nvPr>
            <p:ph sz="quarter" idx="4"/>
          </p:nvPr>
        </p:nvSpPr>
        <p:spPr/>
        <p:txBody>
          <a:bodyPr>
            <a:normAutofit fontScale="92500" lnSpcReduction="20000"/>
          </a:bodyPr>
          <a:lstStyle/>
          <a:p>
            <a:pPr lvl="0"/>
            <a:r>
              <a:rPr lang="es-ES" sz="2400" dirty="0">
                <a:latin typeface="Humanst521 BT" panose="020B0602020204020204" pitchFamily="34" charset="0"/>
              </a:rPr>
              <a:t>Según su tecnología:</a:t>
            </a:r>
          </a:p>
          <a:p>
            <a:pPr lvl="1"/>
            <a:r>
              <a:rPr lang="es-ES" dirty="0">
                <a:latin typeface="Humanst521 BT" panose="020B0602020204020204" pitchFamily="34" charset="0"/>
              </a:rPr>
              <a:t>Imagen: Visible, infrarroja y radioeléctricos</a:t>
            </a:r>
          </a:p>
          <a:p>
            <a:pPr lvl="1"/>
            <a:r>
              <a:rPr lang="es-ES" dirty="0">
                <a:latin typeface="Humanst521 BT" panose="020B0602020204020204" pitchFamily="34" charset="0"/>
              </a:rPr>
              <a:t>Agentes químicos: Biológicos o nucleares</a:t>
            </a:r>
          </a:p>
          <a:p>
            <a:pPr lvl="1"/>
            <a:r>
              <a:rPr lang="es-ES" dirty="0">
                <a:latin typeface="Humanst521 BT" panose="020B0602020204020204" pitchFamily="34" charset="0"/>
              </a:rPr>
              <a:t>Mediciones ambientales: Acústicos, magnéticos</a:t>
            </a:r>
          </a:p>
          <a:p>
            <a:endParaRPr lang="es-CO" dirty="0">
              <a:latin typeface="Humanst521 BT" panose="020B0602020204020204" pitchFamily="34" charset="0"/>
            </a:endParaRPr>
          </a:p>
        </p:txBody>
      </p:sp>
      <p:sp>
        <p:nvSpPr>
          <p:cNvPr id="9" name="Marcador de contenido 8">
            <a:extLst>
              <a:ext uri="{FF2B5EF4-FFF2-40B4-BE49-F238E27FC236}">
                <a16:creationId xmlns:a16="http://schemas.microsoft.com/office/drawing/2014/main" id="{9A71484B-0774-4AC1-270C-0C57754121F8}"/>
              </a:ext>
            </a:extLst>
          </p:cNvPr>
          <p:cNvSpPr>
            <a:spLocks noGrp="1"/>
          </p:cNvSpPr>
          <p:nvPr>
            <p:ph sz="half" idx="2"/>
          </p:nvPr>
        </p:nvSpPr>
        <p:spPr/>
        <p:txBody>
          <a:bodyPr>
            <a:normAutofit fontScale="92500" lnSpcReduction="20000"/>
          </a:bodyPr>
          <a:lstStyle/>
          <a:p>
            <a:pPr lvl="0"/>
            <a:r>
              <a:rPr lang="es-ES" sz="2400" dirty="0">
                <a:latin typeface="Humanst521 BT" panose="020B0602020204020204" pitchFamily="34" charset="0"/>
              </a:rPr>
              <a:t>Según su función:</a:t>
            </a:r>
          </a:p>
          <a:p>
            <a:pPr lvl="1"/>
            <a:r>
              <a:rPr lang="es-ES" dirty="0">
                <a:latin typeface="Humanst521 BT" panose="020B0602020204020204" pitchFamily="34" charset="0"/>
              </a:rPr>
              <a:t>Pasivas: Los sensores</a:t>
            </a:r>
          </a:p>
          <a:p>
            <a:pPr lvl="1"/>
            <a:r>
              <a:rPr lang="es-ES" dirty="0">
                <a:latin typeface="Humanst521 BT" panose="020B0602020204020204" pitchFamily="34" charset="0"/>
              </a:rPr>
              <a:t>Activas: Perturbadores de señal. Designadores Emisores de productos y materias diversas</a:t>
            </a:r>
          </a:p>
          <a:p>
            <a:pPr lvl="1"/>
            <a:r>
              <a:rPr lang="es-CO" dirty="0">
                <a:latin typeface="Humanst521 BT" panose="020B0602020204020204" pitchFamily="34" charset="0"/>
              </a:rPr>
              <a:t>Mixtas: Relé de comunicaciones</a:t>
            </a:r>
          </a:p>
          <a:p>
            <a:r>
              <a:rPr lang="es-ES" sz="2400" dirty="0">
                <a:latin typeface="Humanst521 BT" panose="020B0602020204020204" pitchFamily="34" charset="0"/>
              </a:rPr>
              <a:t>Según su tamaño:</a:t>
            </a:r>
          </a:p>
          <a:p>
            <a:pPr lvl="1"/>
            <a:r>
              <a:rPr lang="es-ES" dirty="0">
                <a:latin typeface="Humanst521 BT" panose="020B0602020204020204" pitchFamily="34" charset="0"/>
              </a:rPr>
              <a:t>Las dimensiones no deben sobrepasar el 20%</a:t>
            </a:r>
          </a:p>
          <a:p>
            <a:pPr lvl="1"/>
            <a:r>
              <a:rPr lang="es-ES" dirty="0">
                <a:latin typeface="Humanst521 BT" panose="020B0602020204020204" pitchFamily="34" charset="0"/>
              </a:rPr>
              <a:t>de cualquier dimensión característica del</a:t>
            </a:r>
          </a:p>
          <a:p>
            <a:pPr lvl="1"/>
            <a:r>
              <a:rPr lang="es-ES" dirty="0">
                <a:latin typeface="Humanst521 BT" panose="020B0602020204020204" pitchFamily="34" charset="0"/>
              </a:rPr>
              <a:t>Vehículo</a:t>
            </a:r>
          </a:p>
          <a:p>
            <a:endParaRPr lang="es-CO" dirty="0">
              <a:latin typeface="Humanst521 BT" panose="020B0602020204020204" pitchFamily="34" charset="0"/>
            </a:endParaRPr>
          </a:p>
          <a:p>
            <a:endParaRPr lang="es-CO" dirty="0">
              <a:latin typeface="Humanst521 BT" panose="020B0602020204020204" pitchFamily="34" charset="0"/>
            </a:endParaRPr>
          </a:p>
        </p:txBody>
      </p:sp>
    </p:spTree>
    <p:extLst>
      <p:ext uri="{BB962C8B-B14F-4D97-AF65-F5344CB8AC3E}">
        <p14:creationId xmlns:p14="http://schemas.microsoft.com/office/powerpoint/2010/main" val="21369174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SENSORES A BORDO - PAYLOADS</a:t>
            </a:r>
          </a:p>
        </p:txBody>
      </p:sp>
      <p:graphicFrame>
        <p:nvGraphicFramePr>
          <p:cNvPr id="11" name="Marcador de contenido 10">
            <a:extLst>
              <a:ext uri="{FF2B5EF4-FFF2-40B4-BE49-F238E27FC236}">
                <a16:creationId xmlns:a16="http://schemas.microsoft.com/office/drawing/2014/main" id="{FA7A7485-7EEF-49C0-8F0D-D69CA0106C8A}"/>
              </a:ext>
            </a:extLst>
          </p:cNvPr>
          <p:cNvGraphicFramePr>
            <a:graphicFrameLocks noGrp="1"/>
          </p:cNvGraphicFramePr>
          <p:nvPr>
            <p:ph idx="1"/>
            <p:extLst>
              <p:ext uri="{D42A27DB-BD31-4B8C-83A1-F6EECF244321}">
                <p14:modId xmlns:p14="http://schemas.microsoft.com/office/powerpoint/2010/main" val="305760392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5989890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PAYLOADS USADOS</a:t>
            </a:r>
          </a:p>
        </p:txBody>
      </p:sp>
      <p:pic>
        <p:nvPicPr>
          <p:cNvPr id="10" name="Picture 6" descr="DJI Zenmuse L2 |">
            <a:extLst>
              <a:ext uri="{FF2B5EF4-FFF2-40B4-BE49-F238E27FC236}">
                <a16:creationId xmlns:a16="http://schemas.microsoft.com/office/drawing/2014/main" id="{8B97C110-3428-2D77-02EC-F830147F93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81618" y="2681592"/>
            <a:ext cx="2628900" cy="17335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Sony Alpha 6000 Kit 16-50mm">
            <a:extLst>
              <a:ext uri="{FF2B5EF4-FFF2-40B4-BE49-F238E27FC236}">
                <a16:creationId xmlns:a16="http://schemas.microsoft.com/office/drawing/2014/main" id="{1EB6F47A-3A74-1B3E-1CBA-166C31F32E6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21308" b="21463"/>
          <a:stretch/>
        </p:blipFill>
        <p:spPr bwMode="auto">
          <a:xfrm>
            <a:off x="6639385" y="3121143"/>
            <a:ext cx="1733550" cy="99208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descr="Teledyne FLIR VUE TZ20-R Drone Thermal Camera (30Hz)">
            <a:extLst>
              <a:ext uri="{FF2B5EF4-FFF2-40B4-BE49-F238E27FC236}">
                <a16:creationId xmlns:a16="http://schemas.microsoft.com/office/drawing/2014/main" id="{71A6D455-A718-3C48-9537-50A54234250D}"/>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11072"/>
          <a:stretch/>
        </p:blipFill>
        <p:spPr bwMode="auto">
          <a:xfrm>
            <a:off x="6821719" y="4934939"/>
            <a:ext cx="1882321" cy="167391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4" descr="Albatross UAV : Long Range Drone">
            <a:extLst>
              <a:ext uri="{FF2B5EF4-FFF2-40B4-BE49-F238E27FC236}">
                <a16:creationId xmlns:a16="http://schemas.microsoft.com/office/drawing/2014/main" id="{B4092CC6-4FED-C15D-0258-CE725491D02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81673" y="2459236"/>
            <a:ext cx="1737024" cy="173355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6" descr="Octopus ISR - Home - Edge Autonomy">
            <a:extLst>
              <a:ext uri="{FF2B5EF4-FFF2-40B4-BE49-F238E27FC236}">
                <a16:creationId xmlns:a16="http://schemas.microsoft.com/office/drawing/2014/main" id="{C68C65DD-0A59-3480-2555-402239A8960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23774" y="4396808"/>
            <a:ext cx="3017490" cy="301749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Cámara multiespectral RedEdge-P - Compra ahora">
            <a:extLst>
              <a:ext uri="{FF2B5EF4-FFF2-40B4-BE49-F238E27FC236}">
                <a16:creationId xmlns:a16="http://schemas.microsoft.com/office/drawing/2014/main" id="{7464BC29-00A5-0655-05CA-58D017D1A92A}"/>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11668" b="10092"/>
          <a:stretch/>
        </p:blipFill>
        <p:spPr bwMode="auto">
          <a:xfrm>
            <a:off x="383250" y="2780555"/>
            <a:ext cx="3088821" cy="159591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DJI Zenmuse H20N |">
            <a:extLst>
              <a:ext uri="{FF2B5EF4-FFF2-40B4-BE49-F238E27FC236}">
                <a16:creationId xmlns:a16="http://schemas.microsoft.com/office/drawing/2014/main" id="{6D6063B7-CDE7-2C18-C6C6-C8E410D1C8E5}"/>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25912" t="9674" r="23405" b="10436"/>
          <a:stretch/>
        </p:blipFill>
        <p:spPr bwMode="auto">
          <a:xfrm>
            <a:off x="1158191" y="5009895"/>
            <a:ext cx="1720848" cy="179131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Gopro - Las cámaras más versátiles del mundo - GoPro Colombia">
            <a:extLst>
              <a:ext uri="{FF2B5EF4-FFF2-40B4-BE49-F238E27FC236}">
                <a16:creationId xmlns:a16="http://schemas.microsoft.com/office/drawing/2014/main" id="{CBA3E62F-3B05-4869-EB10-18551A82CF2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27217" y="5045228"/>
            <a:ext cx="2423885" cy="156362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8" name="Tabla 17">
            <a:extLst>
              <a:ext uri="{FF2B5EF4-FFF2-40B4-BE49-F238E27FC236}">
                <a16:creationId xmlns:a16="http://schemas.microsoft.com/office/drawing/2014/main" id="{5CC53A03-942C-005B-7D55-6F44844F1DF5}"/>
              </a:ext>
            </a:extLst>
          </p:cNvPr>
          <p:cNvGraphicFramePr>
            <a:graphicFrameLocks noGrp="1"/>
          </p:cNvGraphicFramePr>
          <p:nvPr>
            <p:extLst>
              <p:ext uri="{D42A27DB-BD31-4B8C-83A1-F6EECF244321}">
                <p14:modId xmlns:p14="http://schemas.microsoft.com/office/powerpoint/2010/main" val="3908826230"/>
              </p:ext>
            </p:extLst>
          </p:nvPr>
        </p:nvGraphicFramePr>
        <p:xfrm>
          <a:off x="564092" y="4376469"/>
          <a:ext cx="11034780" cy="579120"/>
        </p:xfrm>
        <a:graphic>
          <a:graphicData uri="http://schemas.openxmlformats.org/drawingml/2006/table">
            <a:tbl>
              <a:tblPr firstRow="1" bandRow="1">
                <a:tableStyleId>{5C22544A-7EE6-4342-B048-85BDC9FD1C3A}</a:tableStyleId>
              </a:tblPr>
              <a:tblGrid>
                <a:gridCol w="2758695">
                  <a:extLst>
                    <a:ext uri="{9D8B030D-6E8A-4147-A177-3AD203B41FA5}">
                      <a16:colId xmlns:a16="http://schemas.microsoft.com/office/drawing/2014/main" val="1975558484"/>
                    </a:ext>
                  </a:extLst>
                </a:gridCol>
                <a:gridCol w="2758695">
                  <a:extLst>
                    <a:ext uri="{9D8B030D-6E8A-4147-A177-3AD203B41FA5}">
                      <a16:colId xmlns:a16="http://schemas.microsoft.com/office/drawing/2014/main" val="1800046272"/>
                    </a:ext>
                  </a:extLst>
                </a:gridCol>
                <a:gridCol w="2758695">
                  <a:extLst>
                    <a:ext uri="{9D8B030D-6E8A-4147-A177-3AD203B41FA5}">
                      <a16:colId xmlns:a16="http://schemas.microsoft.com/office/drawing/2014/main" val="2544210059"/>
                    </a:ext>
                  </a:extLst>
                </a:gridCol>
                <a:gridCol w="2758695">
                  <a:extLst>
                    <a:ext uri="{9D8B030D-6E8A-4147-A177-3AD203B41FA5}">
                      <a16:colId xmlns:a16="http://schemas.microsoft.com/office/drawing/2014/main" val="3094224677"/>
                    </a:ext>
                  </a:extLst>
                </a:gridCol>
              </a:tblGrid>
              <a:tr h="439765">
                <a:tc>
                  <a:txBody>
                    <a:bodyPr/>
                    <a:lstStyle/>
                    <a:p>
                      <a:pPr algn="ctr"/>
                      <a:r>
                        <a:rPr lang="es-CO" sz="1600" dirty="0">
                          <a:latin typeface="Humanst521 BT" panose="020B0602020204020204" pitchFamily="34" charset="0"/>
                        </a:rPr>
                        <a:t>ZENMUSE H20|N</a:t>
                      </a:r>
                    </a:p>
                    <a:p>
                      <a:pPr algn="ctr"/>
                      <a:r>
                        <a:rPr lang="es-CO" sz="1600" dirty="0">
                          <a:latin typeface="Humanst521 BT" panose="020B0602020204020204" pitchFamily="34" charset="0"/>
                        </a:rPr>
                        <a:t>RGB/TERMICA</a:t>
                      </a:r>
                    </a:p>
                  </a:txBody>
                  <a:tcPr>
                    <a:solidFill>
                      <a:srgbClr val="93C02C"/>
                    </a:solidFill>
                  </a:tcPr>
                </a:tc>
                <a:tc>
                  <a:txBody>
                    <a:bodyPr/>
                    <a:lstStyle/>
                    <a:p>
                      <a:pPr algn="ctr"/>
                      <a:r>
                        <a:rPr lang="es-CO" sz="1600" dirty="0">
                          <a:latin typeface="Humanst521 BT" panose="020B0602020204020204" pitchFamily="34" charset="0"/>
                        </a:rPr>
                        <a:t>LINEA GOPRO</a:t>
                      </a:r>
                    </a:p>
                    <a:p>
                      <a:pPr algn="ctr"/>
                      <a:r>
                        <a:rPr lang="es-CO" sz="1600" dirty="0">
                          <a:latin typeface="Humanst521 BT" panose="020B0602020204020204" pitchFamily="34" charset="0"/>
                        </a:rPr>
                        <a:t>RGB</a:t>
                      </a:r>
                    </a:p>
                  </a:txBody>
                  <a:tcPr>
                    <a:solidFill>
                      <a:srgbClr val="93C02C"/>
                    </a:solidFill>
                  </a:tcPr>
                </a:tc>
                <a:tc>
                  <a:txBody>
                    <a:bodyPr/>
                    <a:lstStyle/>
                    <a:p>
                      <a:pPr algn="ctr"/>
                      <a:r>
                        <a:rPr lang="es-CO" sz="1600" dirty="0">
                          <a:latin typeface="Humanst521 BT" panose="020B0602020204020204" pitchFamily="34" charset="0"/>
                        </a:rPr>
                        <a:t>FLIR VUE TZ20</a:t>
                      </a:r>
                    </a:p>
                    <a:p>
                      <a:pPr algn="ctr"/>
                      <a:r>
                        <a:rPr lang="es-CO" sz="1600" dirty="0">
                          <a:latin typeface="Humanst521 BT" panose="020B0602020204020204" pitchFamily="34" charset="0"/>
                        </a:rPr>
                        <a:t>TERMICA</a:t>
                      </a:r>
                    </a:p>
                  </a:txBody>
                  <a:tcPr>
                    <a:solidFill>
                      <a:srgbClr val="93C02C"/>
                    </a:solidFill>
                  </a:tcPr>
                </a:tc>
                <a:tc>
                  <a:txBody>
                    <a:bodyPr/>
                    <a:lstStyle/>
                    <a:p>
                      <a:pPr algn="ctr"/>
                      <a:r>
                        <a:rPr lang="es-CO" sz="1600" dirty="0">
                          <a:latin typeface="Humanst521 BT" panose="020B0602020204020204" pitchFamily="34" charset="0"/>
                        </a:rPr>
                        <a:t>OCTOPUS Z140 G2</a:t>
                      </a:r>
                    </a:p>
                    <a:p>
                      <a:pPr algn="ctr"/>
                      <a:r>
                        <a:rPr lang="es-CO" sz="1600" dirty="0">
                          <a:latin typeface="Humanst521 BT" panose="020B0602020204020204" pitchFamily="34" charset="0"/>
                        </a:rPr>
                        <a:t>MULTIESPECTRAL</a:t>
                      </a:r>
                    </a:p>
                  </a:txBody>
                  <a:tcPr>
                    <a:solidFill>
                      <a:srgbClr val="93C02C"/>
                    </a:solidFill>
                  </a:tcPr>
                </a:tc>
                <a:extLst>
                  <a:ext uri="{0D108BD9-81ED-4DB2-BD59-A6C34878D82A}">
                    <a16:rowId xmlns:a16="http://schemas.microsoft.com/office/drawing/2014/main" val="3012322186"/>
                  </a:ext>
                </a:extLst>
              </a:tr>
            </a:tbl>
          </a:graphicData>
        </a:graphic>
      </p:graphicFrame>
      <p:graphicFrame>
        <p:nvGraphicFramePr>
          <p:cNvPr id="19" name="Tabla 18">
            <a:extLst>
              <a:ext uri="{FF2B5EF4-FFF2-40B4-BE49-F238E27FC236}">
                <a16:creationId xmlns:a16="http://schemas.microsoft.com/office/drawing/2014/main" id="{CF861051-AE76-33AD-51B1-7FC46854CA10}"/>
              </a:ext>
            </a:extLst>
          </p:cNvPr>
          <p:cNvGraphicFramePr>
            <a:graphicFrameLocks noGrp="1"/>
          </p:cNvGraphicFramePr>
          <p:nvPr>
            <p:extLst>
              <p:ext uri="{D42A27DB-BD31-4B8C-83A1-F6EECF244321}">
                <p14:modId xmlns:p14="http://schemas.microsoft.com/office/powerpoint/2010/main" val="1909690595"/>
              </p:ext>
            </p:extLst>
          </p:nvPr>
        </p:nvGraphicFramePr>
        <p:xfrm>
          <a:off x="583581" y="1888637"/>
          <a:ext cx="11034780" cy="579120"/>
        </p:xfrm>
        <a:graphic>
          <a:graphicData uri="http://schemas.openxmlformats.org/drawingml/2006/table">
            <a:tbl>
              <a:tblPr firstRow="1" bandRow="1">
                <a:tableStyleId>{5C22544A-7EE6-4342-B048-85BDC9FD1C3A}</a:tableStyleId>
              </a:tblPr>
              <a:tblGrid>
                <a:gridCol w="2758695">
                  <a:extLst>
                    <a:ext uri="{9D8B030D-6E8A-4147-A177-3AD203B41FA5}">
                      <a16:colId xmlns:a16="http://schemas.microsoft.com/office/drawing/2014/main" val="1975558484"/>
                    </a:ext>
                  </a:extLst>
                </a:gridCol>
                <a:gridCol w="2758695">
                  <a:extLst>
                    <a:ext uri="{9D8B030D-6E8A-4147-A177-3AD203B41FA5}">
                      <a16:colId xmlns:a16="http://schemas.microsoft.com/office/drawing/2014/main" val="1800046272"/>
                    </a:ext>
                  </a:extLst>
                </a:gridCol>
                <a:gridCol w="2758695">
                  <a:extLst>
                    <a:ext uri="{9D8B030D-6E8A-4147-A177-3AD203B41FA5}">
                      <a16:colId xmlns:a16="http://schemas.microsoft.com/office/drawing/2014/main" val="2544210059"/>
                    </a:ext>
                  </a:extLst>
                </a:gridCol>
                <a:gridCol w="2758695">
                  <a:extLst>
                    <a:ext uri="{9D8B030D-6E8A-4147-A177-3AD203B41FA5}">
                      <a16:colId xmlns:a16="http://schemas.microsoft.com/office/drawing/2014/main" val="3094224677"/>
                    </a:ext>
                  </a:extLst>
                </a:gridCol>
              </a:tblGrid>
              <a:tr h="439765">
                <a:tc>
                  <a:txBody>
                    <a:bodyPr/>
                    <a:lstStyle/>
                    <a:p>
                      <a:pPr algn="ctr"/>
                      <a:r>
                        <a:rPr lang="es-CO" sz="1600" dirty="0">
                          <a:latin typeface="Humanst521 BT" panose="020B0602020204020204" pitchFamily="34" charset="0"/>
                        </a:rPr>
                        <a:t>MICASENSE REDEDGE</a:t>
                      </a:r>
                    </a:p>
                    <a:p>
                      <a:pPr algn="ctr"/>
                      <a:r>
                        <a:rPr lang="es-CO" sz="1600" dirty="0">
                          <a:latin typeface="Humanst521 BT" panose="020B0602020204020204" pitchFamily="34" charset="0"/>
                        </a:rPr>
                        <a:t>MULTIESPCTRAL</a:t>
                      </a:r>
                    </a:p>
                  </a:txBody>
                  <a:tcPr anchor="ctr">
                    <a:solidFill>
                      <a:srgbClr val="93C02C"/>
                    </a:solidFill>
                  </a:tcPr>
                </a:tc>
                <a:tc>
                  <a:txBody>
                    <a:bodyPr/>
                    <a:lstStyle/>
                    <a:p>
                      <a:pPr algn="ctr"/>
                      <a:r>
                        <a:rPr lang="es-CO" sz="1600" dirty="0">
                          <a:latin typeface="Humanst521 BT" panose="020B0602020204020204" pitchFamily="34" charset="0"/>
                        </a:rPr>
                        <a:t>ZENMUSE L1</a:t>
                      </a:r>
                    </a:p>
                    <a:p>
                      <a:pPr algn="ctr"/>
                      <a:r>
                        <a:rPr lang="es-CO" sz="1600" dirty="0">
                          <a:latin typeface="Humanst521 BT" panose="020B0602020204020204" pitchFamily="34" charset="0"/>
                        </a:rPr>
                        <a:t>LIDAR</a:t>
                      </a:r>
                    </a:p>
                  </a:txBody>
                  <a:tcPr anchor="ctr">
                    <a:solidFill>
                      <a:srgbClr val="93C02C"/>
                    </a:solidFill>
                  </a:tcPr>
                </a:tc>
                <a:tc>
                  <a:txBody>
                    <a:bodyPr/>
                    <a:lstStyle/>
                    <a:p>
                      <a:pPr algn="ctr"/>
                      <a:r>
                        <a:rPr lang="es-CO" sz="1600" dirty="0">
                          <a:latin typeface="Humanst521 BT" panose="020B0602020204020204" pitchFamily="34" charset="0"/>
                        </a:rPr>
                        <a:t>LINEA SONY</a:t>
                      </a:r>
                    </a:p>
                    <a:p>
                      <a:pPr algn="ctr"/>
                      <a:r>
                        <a:rPr lang="es-CO" sz="1600" dirty="0">
                          <a:latin typeface="Humanst521 BT" panose="020B0602020204020204" pitchFamily="34" charset="0"/>
                        </a:rPr>
                        <a:t>RGB</a:t>
                      </a:r>
                    </a:p>
                  </a:txBody>
                  <a:tcPr anchor="ctr">
                    <a:solidFill>
                      <a:srgbClr val="93C02C"/>
                    </a:solidFill>
                  </a:tcPr>
                </a:tc>
                <a:tc>
                  <a:txBody>
                    <a:bodyPr/>
                    <a:lstStyle/>
                    <a:p>
                      <a:pPr algn="ctr"/>
                      <a:r>
                        <a:rPr lang="es-CO" sz="1600" dirty="0">
                          <a:latin typeface="Humanst521 BT" panose="020B0602020204020204" pitchFamily="34" charset="0"/>
                        </a:rPr>
                        <a:t>NEXTVISION ALBATROS</a:t>
                      </a:r>
                    </a:p>
                    <a:p>
                      <a:pPr algn="ctr"/>
                      <a:r>
                        <a:rPr lang="es-CO" sz="1600" dirty="0">
                          <a:latin typeface="Humanst521 BT" panose="020B0602020204020204" pitchFamily="34" charset="0"/>
                        </a:rPr>
                        <a:t>RGB/TERMICA</a:t>
                      </a:r>
                    </a:p>
                  </a:txBody>
                  <a:tcPr anchor="ctr">
                    <a:solidFill>
                      <a:srgbClr val="93C02C"/>
                    </a:solidFill>
                  </a:tcPr>
                </a:tc>
                <a:extLst>
                  <a:ext uri="{0D108BD9-81ED-4DB2-BD59-A6C34878D82A}">
                    <a16:rowId xmlns:a16="http://schemas.microsoft.com/office/drawing/2014/main" val="3012322186"/>
                  </a:ext>
                </a:extLst>
              </a:tr>
            </a:tbl>
          </a:graphicData>
        </a:graphic>
      </p:graphicFrame>
    </p:spTree>
    <p:extLst>
      <p:ext uri="{BB962C8B-B14F-4D97-AF65-F5344CB8AC3E}">
        <p14:creationId xmlns:p14="http://schemas.microsoft.com/office/powerpoint/2010/main" val="1107214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ALFABETO AERONÁUTICO</a:t>
            </a:r>
          </a:p>
        </p:txBody>
      </p:sp>
      <p:pic>
        <p:nvPicPr>
          <p:cNvPr id="3074" name="Picture 2">
            <a:extLst>
              <a:ext uri="{FF2B5EF4-FFF2-40B4-BE49-F238E27FC236}">
                <a16:creationId xmlns:a16="http://schemas.microsoft.com/office/drawing/2014/main" id="{63698A2B-3507-55D8-B4A3-739AA8BCD335}"/>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3710578" y="1825625"/>
            <a:ext cx="4770843" cy="4351338"/>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24D64A2E-E92A-BAEA-A2EF-6A3C1B1B7134}"/>
              </a:ext>
            </a:extLst>
          </p:cNvPr>
          <p:cNvSpPr txBox="1"/>
          <p:nvPr/>
        </p:nvSpPr>
        <p:spPr>
          <a:xfrm>
            <a:off x="1209675" y="5949255"/>
            <a:ext cx="8020050" cy="923330"/>
          </a:xfrm>
          <a:prstGeom prst="rect">
            <a:avLst/>
          </a:prstGeom>
          <a:noFill/>
        </p:spPr>
        <p:txBody>
          <a:bodyPr wrap="square">
            <a:spAutoFit/>
          </a:bodyPr>
          <a:lstStyle/>
          <a:p>
            <a:r>
              <a:rPr lang="es-CO" dirty="0"/>
              <a:t>https://encrypted-tbn0.gstatic.com/images?q=tbn:ANd9GcT61WMakz8CHEhUF_NQIrQk3m3n7A5Ia0x_eONIM_46NxfbTH9901lGsHY&amp;s=10</a:t>
            </a:r>
          </a:p>
        </p:txBody>
      </p:sp>
    </p:spTree>
    <p:extLst>
      <p:ext uri="{BB962C8B-B14F-4D97-AF65-F5344CB8AC3E}">
        <p14:creationId xmlns:p14="http://schemas.microsoft.com/office/powerpoint/2010/main" val="30754952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MANIOBRAS</a:t>
            </a:r>
          </a:p>
        </p:txBody>
      </p:sp>
      <p:sp>
        <p:nvSpPr>
          <p:cNvPr id="4" name="Marcador de contenido 3">
            <a:extLst>
              <a:ext uri="{FF2B5EF4-FFF2-40B4-BE49-F238E27FC236}">
                <a16:creationId xmlns:a16="http://schemas.microsoft.com/office/drawing/2014/main" id="{78A8A839-57CE-F0B9-C6E2-6B06BBA64148}"/>
              </a:ext>
            </a:extLst>
          </p:cNvPr>
          <p:cNvSpPr>
            <a:spLocks noGrp="1"/>
          </p:cNvSpPr>
          <p:nvPr>
            <p:ph sz="half" idx="1"/>
          </p:nvPr>
        </p:nvSpPr>
        <p:spPr/>
        <p:txBody>
          <a:bodyPr>
            <a:noAutofit/>
          </a:bodyPr>
          <a:lstStyle/>
          <a:p>
            <a:pPr marL="342900" indent="-342900">
              <a:lnSpc>
                <a:spcPct val="115000"/>
              </a:lnSpc>
              <a:spcAft>
                <a:spcPts val="800"/>
              </a:spcAft>
              <a:buFont typeface="+mj-lt"/>
              <a:buAutoNum type="arabicPeriod"/>
            </a:pPr>
            <a:r>
              <a:rPr lang="es-CO" sz="1400" b="1" kern="100" dirty="0">
                <a:effectLst/>
                <a:latin typeface="Humanst521 BT" panose="020B0602020204020204" pitchFamily="34" charset="0"/>
                <a:ea typeface="Aptos" panose="020B0004020202020204" pitchFamily="34" charset="0"/>
                <a:cs typeface="Times New Roman" panose="02020603050405020304" pitchFamily="18" charset="0"/>
              </a:rPr>
              <a:t>Cuadrado </a:t>
            </a:r>
            <a:r>
              <a:rPr lang="es-CO" sz="1400" b="1" kern="100" dirty="0">
                <a:latin typeface="Humanst521 BT" panose="020B0602020204020204" pitchFamily="34" charset="0"/>
                <a:cs typeface="Times New Roman" panose="02020603050405020304" pitchFamily="18" charset="0"/>
              </a:rPr>
              <a:t>sin</a:t>
            </a:r>
            <a:r>
              <a:rPr lang="es-CO" sz="1400" b="1" kern="100" dirty="0">
                <a:effectLst/>
                <a:latin typeface="Humanst521 BT" panose="020B0602020204020204" pitchFamily="34" charset="0"/>
                <a:ea typeface="Aptos" panose="020B0004020202020204" pitchFamily="34" charset="0"/>
                <a:cs typeface="Times New Roman" panose="02020603050405020304" pitchFamily="18" charset="0"/>
              </a:rPr>
              <a:t> cambio de rumbo</a:t>
            </a:r>
            <a:endParaRPr lang="es-CO" sz="1400" kern="100" dirty="0">
              <a:effectLst/>
              <a:latin typeface="Humanst521 BT" panose="020B0602020204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s-CO" sz="1400" kern="100" dirty="0">
                <a:effectLst/>
                <a:latin typeface="Humanst521 BT" panose="020B0602020204020204" pitchFamily="34" charset="0"/>
                <a:ea typeface="Aptos" panose="020B0004020202020204" pitchFamily="34" charset="0"/>
                <a:cs typeface="Times New Roman" panose="02020603050405020304" pitchFamily="18" charset="0"/>
              </a:rPr>
              <a:t>El dron dibuja un cuadrado manteniendo la cámara siempre apuntando hacia el frente (Norte fijo).</a:t>
            </a:r>
          </a:p>
          <a:p>
            <a:pPr>
              <a:lnSpc>
                <a:spcPct val="115000"/>
              </a:lnSpc>
              <a:spcAft>
                <a:spcPts val="800"/>
              </a:spcAft>
              <a:buSzPts val="1000"/>
              <a:tabLst>
                <a:tab pos="457200" algn="l"/>
              </a:tabLst>
            </a:pPr>
            <a:r>
              <a:rPr lang="es-CO" sz="1400" b="1" kern="100" dirty="0">
                <a:effectLst/>
                <a:latin typeface="Humanst521 BT" panose="020B0602020204020204" pitchFamily="34" charset="0"/>
                <a:ea typeface="Aptos" panose="020B0004020202020204" pitchFamily="34" charset="0"/>
                <a:cs typeface="Times New Roman" panose="02020603050405020304" pitchFamily="18" charset="0"/>
              </a:rPr>
              <a:t>Paso 1 (Lado adelante):</a:t>
            </a:r>
            <a:r>
              <a:rPr lang="es-CO" sz="1400" kern="100" dirty="0">
                <a:effectLst/>
                <a:latin typeface="Humanst521 BT" panose="020B0602020204020204" pitchFamily="34" charset="0"/>
                <a:ea typeface="Aptos" panose="020B0004020202020204" pitchFamily="34" charset="0"/>
                <a:cs typeface="Times New Roman" panose="02020603050405020304" pitchFamily="18" charset="0"/>
              </a:rPr>
              <a:t> Mueve </a:t>
            </a:r>
            <a:r>
              <a:rPr lang="es-CO" sz="14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400" kern="100" dirty="0">
                <a:effectLst/>
                <a:latin typeface="Humanst521 BT" panose="020B0602020204020204" pitchFamily="34" charset="0"/>
                <a:ea typeface="Aptos" panose="020B0004020202020204" pitchFamily="34" charset="0"/>
                <a:cs typeface="Times New Roman" panose="02020603050405020304" pitchFamily="18" charset="0"/>
              </a:rPr>
              <a:t> derecho hacia </a:t>
            </a:r>
            <a:r>
              <a:rPr lang="es-CO" sz="1400" b="1" kern="100" dirty="0">
                <a:effectLst/>
                <a:latin typeface="Humanst521 BT" panose="020B0602020204020204" pitchFamily="34" charset="0"/>
                <a:ea typeface="Aptos" panose="020B0004020202020204" pitchFamily="34" charset="0"/>
                <a:cs typeface="Times New Roman" panose="02020603050405020304" pitchFamily="18" charset="0"/>
              </a:rPr>
              <a:t>Arriba</a:t>
            </a:r>
            <a:r>
              <a:rPr lang="es-CO" sz="1400" kern="100" dirty="0">
                <a:effectLst/>
                <a:latin typeface="Humanst521 BT" panose="020B0602020204020204" pitchFamily="34" charset="0"/>
                <a:ea typeface="Aptos" panose="020B0004020202020204" pitchFamily="34" charset="0"/>
                <a:cs typeface="Times New Roman" panose="02020603050405020304" pitchFamily="18" charset="0"/>
              </a:rPr>
              <a:t>.</a:t>
            </a:r>
          </a:p>
          <a:p>
            <a:pPr>
              <a:lnSpc>
                <a:spcPct val="115000"/>
              </a:lnSpc>
              <a:spcAft>
                <a:spcPts val="800"/>
              </a:spcAft>
              <a:buSzPts val="1000"/>
              <a:tabLst>
                <a:tab pos="457200" algn="l"/>
              </a:tabLst>
            </a:pPr>
            <a:r>
              <a:rPr lang="es-CO" sz="1400" b="1" kern="100" dirty="0">
                <a:effectLst/>
                <a:latin typeface="Humanst521 BT" panose="020B0602020204020204" pitchFamily="34" charset="0"/>
                <a:ea typeface="Aptos" panose="020B0004020202020204" pitchFamily="34" charset="0"/>
                <a:cs typeface="Times New Roman" panose="02020603050405020304" pitchFamily="18" charset="0"/>
              </a:rPr>
              <a:t>Paso 2 (Lado derecho):</a:t>
            </a:r>
            <a:r>
              <a:rPr lang="es-CO" sz="1400" kern="100" dirty="0">
                <a:effectLst/>
                <a:latin typeface="Humanst521 BT" panose="020B0602020204020204" pitchFamily="34" charset="0"/>
                <a:ea typeface="Aptos" panose="020B0004020202020204" pitchFamily="34" charset="0"/>
                <a:cs typeface="Times New Roman" panose="02020603050405020304" pitchFamily="18" charset="0"/>
              </a:rPr>
              <a:t> Mueve </a:t>
            </a:r>
            <a:r>
              <a:rPr lang="es-CO" sz="14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400" kern="100" dirty="0">
                <a:effectLst/>
                <a:latin typeface="Humanst521 BT" panose="020B0602020204020204" pitchFamily="34" charset="0"/>
                <a:ea typeface="Aptos" panose="020B0004020202020204" pitchFamily="34" charset="0"/>
                <a:cs typeface="Times New Roman" panose="02020603050405020304" pitchFamily="18" charset="0"/>
              </a:rPr>
              <a:t> derecho hacia la </a:t>
            </a:r>
            <a:r>
              <a:rPr lang="es-CO" sz="1400" b="1" kern="100" dirty="0">
                <a:effectLst/>
                <a:latin typeface="Humanst521 BT" panose="020B0602020204020204" pitchFamily="34" charset="0"/>
                <a:ea typeface="Aptos" panose="020B0004020202020204" pitchFamily="34" charset="0"/>
                <a:cs typeface="Times New Roman" panose="02020603050405020304" pitchFamily="18" charset="0"/>
              </a:rPr>
              <a:t>Derecha</a:t>
            </a:r>
            <a:r>
              <a:rPr lang="es-CO" sz="1400" kern="100" dirty="0">
                <a:effectLst/>
                <a:latin typeface="Humanst521 BT" panose="020B0602020204020204" pitchFamily="34" charset="0"/>
                <a:ea typeface="Aptos" panose="020B0004020202020204" pitchFamily="34" charset="0"/>
                <a:cs typeface="Times New Roman" panose="02020603050405020304" pitchFamily="18" charset="0"/>
              </a:rPr>
              <a:t>.</a:t>
            </a:r>
          </a:p>
          <a:p>
            <a:pPr>
              <a:lnSpc>
                <a:spcPct val="115000"/>
              </a:lnSpc>
              <a:spcAft>
                <a:spcPts val="800"/>
              </a:spcAft>
              <a:buSzPts val="1000"/>
              <a:tabLst>
                <a:tab pos="457200" algn="l"/>
              </a:tabLst>
            </a:pPr>
            <a:r>
              <a:rPr lang="es-CO" sz="1400" b="1" kern="100" dirty="0">
                <a:effectLst/>
                <a:latin typeface="Humanst521 BT" panose="020B0602020204020204" pitchFamily="34" charset="0"/>
                <a:ea typeface="Aptos" panose="020B0004020202020204" pitchFamily="34" charset="0"/>
                <a:cs typeface="Times New Roman" panose="02020603050405020304" pitchFamily="18" charset="0"/>
              </a:rPr>
              <a:t>Paso 3 (Lado atrás):</a:t>
            </a:r>
            <a:r>
              <a:rPr lang="es-CO" sz="1400" kern="100" dirty="0">
                <a:effectLst/>
                <a:latin typeface="Humanst521 BT" panose="020B0602020204020204" pitchFamily="34" charset="0"/>
                <a:ea typeface="Aptos" panose="020B0004020202020204" pitchFamily="34" charset="0"/>
                <a:cs typeface="Times New Roman" panose="02020603050405020304" pitchFamily="18" charset="0"/>
              </a:rPr>
              <a:t> Mueve </a:t>
            </a:r>
            <a:r>
              <a:rPr lang="es-CO" sz="14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400" kern="100" dirty="0">
                <a:effectLst/>
                <a:latin typeface="Humanst521 BT" panose="020B0602020204020204" pitchFamily="34" charset="0"/>
                <a:ea typeface="Aptos" panose="020B0004020202020204" pitchFamily="34" charset="0"/>
                <a:cs typeface="Times New Roman" panose="02020603050405020304" pitchFamily="18" charset="0"/>
              </a:rPr>
              <a:t> derecho hacia </a:t>
            </a:r>
            <a:r>
              <a:rPr lang="es-CO" sz="1400" b="1" kern="100" dirty="0">
                <a:effectLst/>
                <a:latin typeface="Humanst521 BT" panose="020B0602020204020204" pitchFamily="34" charset="0"/>
                <a:ea typeface="Aptos" panose="020B0004020202020204" pitchFamily="34" charset="0"/>
                <a:cs typeface="Times New Roman" panose="02020603050405020304" pitchFamily="18" charset="0"/>
              </a:rPr>
              <a:t>Abajo</a:t>
            </a:r>
            <a:r>
              <a:rPr lang="es-CO" sz="1400" kern="100" dirty="0">
                <a:effectLst/>
                <a:latin typeface="Humanst521 BT" panose="020B0602020204020204" pitchFamily="34" charset="0"/>
                <a:ea typeface="Aptos" panose="020B0004020202020204" pitchFamily="34" charset="0"/>
                <a:cs typeface="Times New Roman" panose="02020603050405020304" pitchFamily="18" charset="0"/>
              </a:rPr>
              <a:t>.</a:t>
            </a:r>
          </a:p>
          <a:p>
            <a:pPr>
              <a:lnSpc>
                <a:spcPct val="115000"/>
              </a:lnSpc>
              <a:spcAft>
                <a:spcPts val="800"/>
              </a:spcAft>
              <a:buSzPts val="1000"/>
              <a:tabLst>
                <a:tab pos="457200" algn="l"/>
              </a:tabLst>
            </a:pPr>
            <a:r>
              <a:rPr lang="es-CO" sz="1400" b="1" kern="100" dirty="0">
                <a:effectLst/>
                <a:latin typeface="Humanst521 BT" panose="020B0602020204020204" pitchFamily="34" charset="0"/>
                <a:ea typeface="Aptos" panose="020B0004020202020204" pitchFamily="34" charset="0"/>
                <a:cs typeface="Times New Roman" panose="02020603050405020304" pitchFamily="18" charset="0"/>
              </a:rPr>
              <a:t>Paso 4 (Lado izquierdo):</a:t>
            </a:r>
            <a:r>
              <a:rPr lang="es-CO" sz="1400" kern="100" dirty="0">
                <a:effectLst/>
                <a:latin typeface="Humanst521 BT" panose="020B0602020204020204" pitchFamily="34" charset="0"/>
                <a:ea typeface="Aptos" panose="020B0004020202020204" pitchFamily="34" charset="0"/>
                <a:cs typeface="Times New Roman" panose="02020603050405020304" pitchFamily="18" charset="0"/>
              </a:rPr>
              <a:t> Mueve </a:t>
            </a:r>
            <a:r>
              <a:rPr lang="es-CO" sz="14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400" kern="100" dirty="0">
                <a:effectLst/>
                <a:latin typeface="Humanst521 BT" panose="020B0602020204020204" pitchFamily="34" charset="0"/>
                <a:ea typeface="Aptos" panose="020B0004020202020204" pitchFamily="34" charset="0"/>
                <a:cs typeface="Times New Roman" panose="02020603050405020304" pitchFamily="18" charset="0"/>
              </a:rPr>
              <a:t> derecho hacia la </a:t>
            </a:r>
            <a:r>
              <a:rPr lang="es-CO" sz="1400" b="1" kern="100" dirty="0">
                <a:effectLst/>
                <a:latin typeface="Humanst521 BT" panose="020B0602020204020204" pitchFamily="34" charset="0"/>
                <a:ea typeface="Aptos" panose="020B0004020202020204" pitchFamily="34" charset="0"/>
                <a:cs typeface="Times New Roman" panose="02020603050405020304" pitchFamily="18" charset="0"/>
              </a:rPr>
              <a:t>Izquierda</a:t>
            </a:r>
            <a:r>
              <a:rPr lang="es-CO" sz="1400" kern="100" dirty="0">
                <a:effectLst/>
                <a:latin typeface="Humanst521 BT" panose="020B0602020204020204" pitchFamily="34" charset="0"/>
                <a:ea typeface="Aptos" panose="020B0004020202020204" pitchFamily="34" charset="0"/>
                <a:cs typeface="Times New Roman" panose="02020603050405020304" pitchFamily="18" charset="0"/>
              </a:rPr>
              <a:t>.</a:t>
            </a:r>
            <a:br>
              <a:rPr lang="es-CO" sz="1400" kern="100" dirty="0">
                <a:effectLst/>
                <a:latin typeface="Humanst521 BT" panose="020B0602020204020204" pitchFamily="34" charset="0"/>
                <a:ea typeface="Aptos" panose="020B0004020202020204" pitchFamily="34" charset="0"/>
                <a:cs typeface="Times New Roman" panose="02020603050405020304" pitchFamily="18" charset="0"/>
              </a:rPr>
            </a:br>
            <a:r>
              <a:rPr lang="es-CO" sz="1400" i="1" kern="100" dirty="0">
                <a:effectLst/>
                <a:latin typeface="Humanst521 BT" panose="020B0602020204020204" pitchFamily="34" charset="0"/>
                <a:ea typeface="Aptos" panose="020B0004020202020204" pitchFamily="34" charset="0"/>
                <a:cs typeface="Times New Roman" panose="02020603050405020304" pitchFamily="18" charset="0"/>
              </a:rPr>
              <a:t>(El </a:t>
            </a:r>
            <a:r>
              <a:rPr lang="es-CO" sz="1400" i="1"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400" i="1" kern="100" dirty="0">
                <a:effectLst/>
                <a:latin typeface="Humanst521 BT" panose="020B0602020204020204" pitchFamily="34" charset="0"/>
                <a:ea typeface="Aptos" panose="020B0004020202020204" pitchFamily="34" charset="0"/>
                <a:cs typeface="Times New Roman" panose="02020603050405020304" pitchFamily="18" charset="0"/>
              </a:rPr>
              <a:t> izquierdo no se toca)</a:t>
            </a:r>
            <a:r>
              <a:rPr lang="es-CO" sz="1400" kern="100" dirty="0">
                <a:effectLst/>
                <a:latin typeface="Humanst521 BT" panose="020B0602020204020204" pitchFamily="34" charset="0"/>
                <a:ea typeface="Aptos" panose="020B0004020202020204" pitchFamily="34" charset="0"/>
                <a:cs typeface="Times New Roman" panose="02020603050405020304" pitchFamily="18" charset="0"/>
              </a:rPr>
              <a:t>.</a:t>
            </a:r>
          </a:p>
        </p:txBody>
      </p:sp>
      <p:sp>
        <p:nvSpPr>
          <p:cNvPr id="5" name="Marcador de contenido 4">
            <a:extLst>
              <a:ext uri="{FF2B5EF4-FFF2-40B4-BE49-F238E27FC236}">
                <a16:creationId xmlns:a16="http://schemas.microsoft.com/office/drawing/2014/main" id="{A80EAF6D-4353-7B43-7EF1-DCD11C913F76}"/>
              </a:ext>
            </a:extLst>
          </p:cNvPr>
          <p:cNvSpPr>
            <a:spLocks noGrp="1"/>
          </p:cNvSpPr>
          <p:nvPr>
            <p:ph sz="half" idx="2"/>
          </p:nvPr>
        </p:nvSpPr>
        <p:spPr/>
        <p:txBody>
          <a:bodyPr>
            <a:normAutofit fontScale="77500" lnSpcReduction="20000"/>
          </a:bodyPr>
          <a:lstStyle/>
          <a:p>
            <a:pPr marL="0" indent="0">
              <a:lnSpc>
                <a:spcPct val="115000"/>
              </a:lnSpc>
              <a:spcAft>
                <a:spcPts val="800"/>
              </a:spcAft>
              <a:buNone/>
            </a:pPr>
            <a:r>
              <a:rPr lang="es-CO" sz="1800" b="1" kern="100" dirty="0">
                <a:effectLst/>
                <a:latin typeface="Humanst521 BT" panose="020B0602020204020204" pitchFamily="34" charset="0"/>
                <a:ea typeface="Aptos" panose="020B0004020202020204" pitchFamily="34" charset="0"/>
                <a:cs typeface="Times New Roman" panose="02020603050405020304" pitchFamily="18" charset="0"/>
              </a:rPr>
              <a:t>2. Cuadrado con cambio de rumbo</a:t>
            </a:r>
            <a:endParaRPr lang="es-CO" sz="1800" kern="100" dirty="0">
              <a:effectLst/>
              <a:latin typeface="Humanst521 BT" panose="020B0602020204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El dron gira sobre su propio eje en cada esquina antes de avanzar al siguiente lado. La cámara siempre mira hacia la dirección a la que avanza.</a:t>
            </a:r>
          </a:p>
          <a:p>
            <a:pPr marL="342900" lvl="0" indent="-342900">
              <a:lnSpc>
                <a:spcPct val="115000"/>
              </a:lnSpc>
              <a:spcAft>
                <a:spcPts val="800"/>
              </a:spcAft>
              <a:buSzPts val="1000"/>
              <a:buFont typeface="Symbol" panose="05050102010706020507" pitchFamily="18" charset="2"/>
              <a:buChar char=""/>
              <a:tabLst>
                <a:tab pos="457200" algn="l"/>
              </a:tabLst>
            </a:pPr>
            <a:r>
              <a:rPr lang="es-CO" sz="1800" b="1" kern="100" dirty="0">
                <a:effectLst/>
                <a:latin typeface="Humanst521 BT" panose="020B0602020204020204" pitchFamily="34" charset="0"/>
                <a:ea typeface="Aptos" panose="020B0004020202020204" pitchFamily="34" charset="0"/>
                <a:cs typeface="Times New Roman" panose="02020603050405020304" pitchFamily="18" charset="0"/>
              </a:rPr>
              <a:t>Paso 1:</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Mueve </a:t>
            </a:r>
            <a:r>
              <a:rPr lang="es-CO" sz="18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derecho hacia </a:t>
            </a:r>
            <a:r>
              <a:rPr lang="es-CO" sz="1800" b="1" kern="100" dirty="0">
                <a:effectLst/>
                <a:latin typeface="Humanst521 BT" panose="020B0602020204020204" pitchFamily="34" charset="0"/>
                <a:ea typeface="Aptos" panose="020B0004020202020204" pitchFamily="34" charset="0"/>
                <a:cs typeface="Times New Roman" panose="02020603050405020304" pitchFamily="18" charset="0"/>
              </a:rPr>
              <a:t>Arriba</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(avanza línea recta), luego suéltalo.</a:t>
            </a:r>
          </a:p>
          <a:p>
            <a:pPr marL="342900" lvl="0" indent="-342900">
              <a:lnSpc>
                <a:spcPct val="115000"/>
              </a:lnSpc>
              <a:spcAft>
                <a:spcPts val="800"/>
              </a:spcAft>
              <a:buSzPts val="1000"/>
              <a:buFont typeface="Symbol" panose="05050102010706020507" pitchFamily="18" charset="2"/>
              <a:buChar char=""/>
              <a:tabLst>
                <a:tab pos="457200" algn="l"/>
              </a:tabLst>
            </a:pPr>
            <a:r>
              <a:rPr lang="es-CO" sz="1800" b="1" kern="100" dirty="0">
                <a:effectLst/>
                <a:latin typeface="Humanst521 BT" panose="020B0602020204020204" pitchFamily="34" charset="0"/>
                <a:ea typeface="Aptos" panose="020B0004020202020204" pitchFamily="34" charset="0"/>
                <a:cs typeface="Times New Roman" panose="02020603050405020304" pitchFamily="18" charset="0"/>
              </a:rPr>
              <a:t>Paso 2:</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Mueve </a:t>
            </a:r>
            <a:r>
              <a:rPr lang="es-CO" sz="18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izquierdo hacia la </a:t>
            </a:r>
            <a:r>
              <a:rPr lang="es-CO" sz="1800" b="1" kern="100" dirty="0">
                <a:effectLst/>
                <a:latin typeface="Humanst521 BT" panose="020B0602020204020204" pitchFamily="34" charset="0"/>
                <a:ea typeface="Aptos" panose="020B0004020202020204" pitchFamily="34" charset="0"/>
                <a:cs typeface="Times New Roman" panose="02020603050405020304" pitchFamily="18" charset="0"/>
              </a:rPr>
              <a:t>Derecha</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hasta girar exactamente 90 grados. Mueve </a:t>
            </a:r>
            <a:r>
              <a:rPr lang="es-CO" sz="18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derecho hacia </a:t>
            </a:r>
            <a:r>
              <a:rPr lang="es-CO" sz="1800" b="1" kern="100" dirty="0">
                <a:effectLst/>
                <a:latin typeface="Humanst521 BT" panose="020B0602020204020204" pitchFamily="34" charset="0"/>
                <a:ea typeface="Aptos" panose="020B0004020202020204" pitchFamily="34" charset="0"/>
                <a:cs typeface="Times New Roman" panose="02020603050405020304" pitchFamily="18" charset="0"/>
              </a:rPr>
              <a:t>Arriba</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(avanza el segundo lado).</a:t>
            </a:r>
          </a:p>
          <a:p>
            <a:pPr marL="342900" lvl="0" indent="-342900">
              <a:lnSpc>
                <a:spcPct val="115000"/>
              </a:lnSpc>
              <a:spcAft>
                <a:spcPts val="800"/>
              </a:spcAft>
              <a:buSzPts val="1000"/>
              <a:buFont typeface="Symbol" panose="05050102010706020507" pitchFamily="18" charset="2"/>
              <a:buChar char=""/>
              <a:tabLst>
                <a:tab pos="457200" algn="l"/>
              </a:tabLst>
            </a:pPr>
            <a:r>
              <a:rPr lang="es-CO" sz="1800" b="1" kern="100" dirty="0">
                <a:effectLst/>
                <a:latin typeface="Humanst521 BT" panose="020B0602020204020204" pitchFamily="34" charset="0"/>
                <a:ea typeface="Aptos" panose="020B0004020202020204" pitchFamily="34" charset="0"/>
                <a:cs typeface="Times New Roman" panose="02020603050405020304" pitchFamily="18" charset="0"/>
              </a:rPr>
              <a:t>Paso 3:</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Mueve </a:t>
            </a:r>
            <a:r>
              <a:rPr lang="es-CO" sz="18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izquierdo hacia la </a:t>
            </a:r>
            <a:r>
              <a:rPr lang="es-CO" sz="1800" b="1" kern="100" dirty="0">
                <a:effectLst/>
                <a:latin typeface="Humanst521 BT" panose="020B0602020204020204" pitchFamily="34" charset="0"/>
                <a:ea typeface="Aptos" panose="020B0004020202020204" pitchFamily="34" charset="0"/>
                <a:cs typeface="Times New Roman" panose="02020603050405020304" pitchFamily="18" charset="0"/>
              </a:rPr>
              <a:t>Derecha</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90 grados. Mueve </a:t>
            </a:r>
            <a:r>
              <a:rPr lang="es-CO" sz="18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derecho hacia </a:t>
            </a:r>
            <a:r>
              <a:rPr lang="es-CO" sz="1800" b="1" kern="100" dirty="0">
                <a:effectLst/>
                <a:latin typeface="Humanst521 BT" panose="020B0602020204020204" pitchFamily="34" charset="0"/>
                <a:ea typeface="Aptos" panose="020B0004020202020204" pitchFamily="34" charset="0"/>
                <a:cs typeface="Times New Roman" panose="02020603050405020304" pitchFamily="18" charset="0"/>
              </a:rPr>
              <a:t>Arriba</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(avanza el tercer lado).</a:t>
            </a:r>
          </a:p>
          <a:p>
            <a:pPr marL="342900" lvl="0" indent="-342900">
              <a:lnSpc>
                <a:spcPct val="115000"/>
              </a:lnSpc>
              <a:spcAft>
                <a:spcPts val="800"/>
              </a:spcAft>
              <a:buSzPts val="1000"/>
              <a:buFont typeface="Symbol" panose="05050102010706020507" pitchFamily="18" charset="2"/>
              <a:buChar char=""/>
              <a:tabLst>
                <a:tab pos="457200" algn="l"/>
              </a:tabLst>
            </a:pPr>
            <a:r>
              <a:rPr lang="es-CO" sz="1800" b="1" kern="100" dirty="0">
                <a:effectLst/>
                <a:latin typeface="Humanst521 BT" panose="020B0602020204020204" pitchFamily="34" charset="0"/>
                <a:ea typeface="Aptos" panose="020B0004020202020204" pitchFamily="34" charset="0"/>
                <a:cs typeface="Times New Roman" panose="02020603050405020304" pitchFamily="18" charset="0"/>
              </a:rPr>
              <a:t>Paso 4:</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Mueve </a:t>
            </a:r>
            <a:r>
              <a:rPr lang="es-CO" sz="18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izquierdo hacia la </a:t>
            </a:r>
            <a:r>
              <a:rPr lang="es-CO" sz="1800" b="1" kern="100" dirty="0">
                <a:effectLst/>
                <a:latin typeface="Humanst521 BT" panose="020B0602020204020204" pitchFamily="34" charset="0"/>
                <a:ea typeface="Aptos" panose="020B0004020202020204" pitchFamily="34" charset="0"/>
                <a:cs typeface="Times New Roman" panose="02020603050405020304" pitchFamily="18" charset="0"/>
              </a:rPr>
              <a:t>Derecha</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90 grados. Mueve </a:t>
            </a:r>
            <a:r>
              <a:rPr lang="es-CO" sz="18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derecho hacia </a:t>
            </a:r>
            <a:r>
              <a:rPr lang="es-CO" sz="1800" b="1" kern="100" dirty="0">
                <a:effectLst/>
                <a:latin typeface="Humanst521 BT" panose="020B0602020204020204" pitchFamily="34" charset="0"/>
                <a:ea typeface="Aptos" panose="020B0004020202020204" pitchFamily="34" charset="0"/>
                <a:cs typeface="Times New Roman" panose="02020603050405020304" pitchFamily="18" charset="0"/>
              </a:rPr>
              <a:t>Arriba</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(regresa al punto de origen).</a:t>
            </a:r>
          </a:p>
          <a:p>
            <a:pPr marL="0" indent="0">
              <a:buNone/>
            </a:pPr>
            <a:endParaRPr lang="es-CO" dirty="0">
              <a:latin typeface="Humanst521 BT" panose="020B0602020204020204" pitchFamily="34" charset="0"/>
            </a:endParaRPr>
          </a:p>
        </p:txBody>
      </p:sp>
    </p:spTree>
    <p:extLst>
      <p:ext uri="{BB962C8B-B14F-4D97-AF65-F5344CB8AC3E}">
        <p14:creationId xmlns:p14="http://schemas.microsoft.com/office/powerpoint/2010/main" val="32559977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MANIOBRAS</a:t>
            </a:r>
          </a:p>
        </p:txBody>
      </p:sp>
      <p:sp>
        <p:nvSpPr>
          <p:cNvPr id="4" name="Marcador de contenido 3">
            <a:extLst>
              <a:ext uri="{FF2B5EF4-FFF2-40B4-BE49-F238E27FC236}">
                <a16:creationId xmlns:a16="http://schemas.microsoft.com/office/drawing/2014/main" id="{78A8A839-57CE-F0B9-C6E2-6B06BBA64148}"/>
              </a:ext>
            </a:extLst>
          </p:cNvPr>
          <p:cNvSpPr>
            <a:spLocks noGrp="1"/>
          </p:cNvSpPr>
          <p:nvPr>
            <p:ph sz="half" idx="1"/>
          </p:nvPr>
        </p:nvSpPr>
        <p:spPr/>
        <p:txBody>
          <a:bodyPr>
            <a:noAutofit/>
          </a:bodyPr>
          <a:lstStyle/>
          <a:p>
            <a:pPr marL="342900" indent="-342900">
              <a:lnSpc>
                <a:spcPct val="115000"/>
              </a:lnSpc>
              <a:spcAft>
                <a:spcPts val="800"/>
              </a:spcAft>
              <a:buFont typeface="+mj-lt"/>
              <a:buAutoNum type="arabicPeriod" startAt="3"/>
            </a:pP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Cuadrado con cambio de rumbo en trayectoria</a:t>
            </a:r>
            <a:endParaRPr lang="es-CO" sz="1600" kern="100" dirty="0">
              <a:effectLst/>
              <a:latin typeface="Humanst521 BT" panose="020B0602020204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El dron gira su rumbo de forma fluida y continua </a:t>
            </a:r>
            <a:r>
              <a:rPr lang="es-CO" sz="1600" i="1" kern="100" dirty="0">
                <a:effectLst/>
                <a:latin typeface="Humanst521 BT" panose="020B0602020204020204" pitchFamily="34" charset="0"/>
                <a:ea typeface="Aptos" panose="020B0004020202020204" pitchFamily="34" charset="0"/>
                <a:cs typeface="Times New Roman" panose="02020603050405020304" pitchFamily="18" charset="0"/>
              </a:rPr>
              <a:t>mientras</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dobla la esquina, sin detenerse.</a:t>
            </a:r>
          </a:p>
          <a:p>
            <a:pPr marL="342900" lvl="0" indent="-342900">
              <a:lnSpc>
                <a:spcPct val="115000"/>
              </a:lnSpc>
              <a:spcAft>
                <a:spcPts val="800"/>
              </a:spcAft>
              <a:buSzPts val="1000"/>
              <a:buFont typeface="Symbol" panose="05050102010706020507" pitchFamily="18" charset="2"/>
              <a:buChar char=""/>
              <a:tabLst>
                <a:tab pos="457200" algn="l"/>
              </a:tabLst>
            </a:pP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Paso 1 (Lado 1):</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Mueve </a:t>
            </a:r>
            <a:r>
              <a:rPr lang="es-CO" sz="16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derecho hacia </a:t>
            </a: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Arriba</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a:t>
            </a:r>
          </a:p>
          <a:p>
            <a:pPr marL="342900" lvl="0" indent="-342900">
              <a:lnSpc>
                <a:spcPct val="115000"/>
              </a:lnSpc>
              <a:spcAft>
                <a:spcPts val="800"/>
              </a:spcAft>
              <a:buSzPts val="1000"/>
              <a:buFont typeface="Symbol" panose="05050102010706020507" pitchFamily="18" charset="2"/>
              <a:buChar char=""/>
              <a:tabLst>
                <a:tab pos="457200" algn="l"/>
              </a:tabLst>
            </a:pP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Esquina 1:</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Al llegar a la esquina, mueve simultáneamente el </a:t>
            </a:r>
            <a:r>
              <a:rPr lang="es-CO" sz="16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izquierdo a la </a:t>
            </a: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Derecha</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y el derecho a la </a:t>
            </a: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Derecha</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para trazar una curva angular fluida.</a:t>
            </a:r>
          </a:p>
          <a:p>
            <a:pPr marL="342900" lvl="0" indent="-342900">
              <a:lnSpc>
                <a:spcPct val="115000"/>
              </a:lnSpc>
              <a:spcAft>
                <a:spcPts val="800"/>
              </a:spcAft>
              <a:buSzPts val="1000"/>
              <a:buFont typeface="Symbol" panose="05050102010706020507" pitchFamily="18" charset="2"/>
              <a:buChar char=""/>
              <a:tabLst>
                <a:tab pos="457200" algn="l"/>
              </a:tabLst>
            </a:pP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Paso 2 (Lado 2):</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Mantén el </a:t>
            </a:r>
            <a:r>
              <a:rPr lang="es-CO" sz="16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derecho hacia </a:t>
            </a: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Arriba</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mientras el dron ahora se desplaza en la nueva dirección. Repite el proceso coordinado en cada esquina.</a:t>
            </a:r>
          </a:p>
        </p:txBody>
      </p:sp>
      <p:sp>
        <p:nvSpPr>
          <p:cNvPr id="5" name="Marcador de contenido 4">
            <a:extLst>
              <a:ext uri="{FF2B5EF4-FFF2-40B4-BE49-F238E27FC236}">
                <a16:creationId xmlns:a16="http://schemas.microsoft.com/office/drawing/2014/main" id="{A80EAF6D-4353-7B43-7EF1-DCD11C913F76}"/>
              </a:ext>
            </a:extLst>
          </p:cNvPr>
          <p:cNvSpPr>
            <a:spLocks noGrp="1"/>
          </p:cNvSpPr>
          <p:nvPr>
            <p:ph sz="half" idx="2"/>
          </p:nvPr>
        </p:nvSpPr>
        <p:spPr/>
        <p:txBody>
          <a:bodyPr>
            <a:normAutofit/>
          </a:bodyPr>
          <a:lstStyle/>
          <a:p>
            <a:pPr marL="342900" indent="-342900">
              <a:lnSpc>
                <a:spcPct val="115000"/>
              </a:lnSpc>
              <a:spcAft>
                <a:spcPts val="800"/>
              </a:spcAft>
              <a:buFont typeface="+mj-lt"/>
              <a:buAutoNum type="arabicPeriod" startAt="4"/>
            </a:pPr>
            <a:r>
              <a:rPr lang="es-CO" sz="1800" b="1" kern="100" dirty="0">
                <a:effectLst/>
                <a:latin typeface="Aptos" panose="020B0004020202020204" pitchFamily="34" charset="0"/>
                <a:ea typeface="Aptos" panose="020B0004020202020204" pitchFamily="34" charset="0"/>
                <a:cs typeface="Times New Roman" panose="02020603050405020304" pitchFamily="18" charset="0"/>
              </a:rPr>
              <a:t>Círculos sin cambio de rumbo</a:t>
            </a:r>
            <a:endParaRPr lang="es-CO"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s-CO" sz="1800" kern="100" dirty="0">
                <a:effectLst/>
                <a:latin typeface="Aptos" panose="020B0004020202020204" pitchFamily="34" charset="0"/>
                <a:ea typeface="Aptos" panose="020B0004020202020204" pitchFamily="34" charset="0"/>
                <a:cs typeface="Times New Roman" panose="02020603050405020304" pitchFamily="18" charset="0"/>
              </a:rPr>
              <a:t>El dron dibuja un círculo perfecto en el aire, pero la cámara siempre apunta hacia el mismo frente (por ejemplo, mirando al Norte todo el tiempo).</a:t>
            </a:r>
          </a:p>
          <a:p>
            <a:pPr marL="342900" lvl="0" indent="-342900">
              <a:lnSpc>
                <a:spcPct val="115000"/>
              </a:lnSpc>
              <a:spcAft>
                <a:spcPts val="800"/>
              </a:spcAft>
              <a:buSzPts val="1000"/>
              <a:buFont typeface="Symbol" panose="05050102010706020507" pitchFamily="18" charset="2"/>
              <a:buChar char=""/>
              <a:tabLst>
                <a:tab pos="457200" algn="l"/>
              </a:tabLst>
            </a:pPr>
            <a:r>
              <a:rPr lang="es-CO" sz="1800" b="1" kern="100" dirty="0">
                <a:effectLst/>
                <a:latin typeface="Aptos" panose="020B0004020202020204" pitchFamily="34" charset="0"/>
                <a:ea typeface="Aptos" panose="020B0004020202020204" pitchFamily="34" charset="0"/>
                <a:cs typeface="Times New Roman" panose="02020603050405020304" pitchFamily="18" charset="0"/>
              </a:rPr>
              <a:t>Ejecución:</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Mueve el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stick</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derecho en un </a:t>
            </a:r>
            <a:r>
              <a:rPr lang="es-CO" sz="1800" b="1" kern="100" dirty="0">
                <a:effectLst/>
                <a:latin typeface="Aptos" panose="020B0004020202020204" pitchFamily="34" charset="0"/>
                <a:ea typeface="Aptos" panose="020B0004020202020204" pitchFamily="34" charset="0"/>
                <a:cs typeface="Times New Roman" panose="02020603050405020304" pitchFamily="18" charset="0"/>
              </a:rPr>
              <a:t>círculo perfecto y constante</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(comenzando hacia arriba, pasando a la derecha, abajo, izquierda y arriba).</a:t>
            </a:r>
            <a:br>
              <a:rPr lang="es-CO" sz="1800" kern="100" dirty="0">
                <a:effectLst/>
                <a:latin typeface="Aptos" panose="020B0004020202020204" pitchFamily="34" charset="0"/>
                <a:ea typeface="Aptos" panose="020B0004020202020204" pitchFamily="34" charset="0"/>
                <a:cs typeface="Times New Roman" panose="02020603050405020304" pitchFamily="18" charset="0"/>
              </a:rPr>
            </a:br>
            <a:r>
              <a:rPr lang="es-CO" sz="1800" i="1" kern="100" dirty="0">
                <a:effectLst/>
                <a:latin typeface="Aptos" panose="020B0004020202020204" pitchFamily="34" charset="0"/>
                <a:ea typeface="Aptos" panose="020B0004020202020204" pitchFamily="34" charset="0"/>
                <a:cs typeface="Times New Roman" panose="02020603050405020304" pitchFamily="18" charset="0"/>
              </a:rPr>
              <a:t>(El </a:t>
            </a:r>
            <a:r>
              <a:rPr lang="es-CO" sz="1800" i="1" kern="100" dirty="0" err="1">
                <a:effectLst/>
                <a:latin typeface="Aptos" panose="020B0004020202020204" pitchFamily="34" charset="0"/>
                <a:ea typeface="Aptos" panose="020B0004020202020204" pitchFamily="34" charset="0"/>
                <a:cs typeface="Times New Roman" panose="02020603050405020304" pitchFamily="18" charset="0"/>
              </a:rPr>
              <a:t>stick</a:t>
            </a:r>
            <a:r>
              <a:rPr lang="es-CO" sz="1800" i="1" kern="100" dirty="0">
                <a:effectLst/>
                <a:latin typeface="Aptos" panose="020B0004020202020204" pitchFamily="34" charset="0"/>
                <a:ea typeface="Aptos" panose="020B0004020202020204" pitchFamily="34" charset="0"/>
                <a:cs typeface="Times New Roman" panose="02020603050405020304" pitchFamily="18" charset="0"/>
              </a:rPr>
              <a:t> izquierdo se mantiene completamente estático)</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a:t>
            </a:r>
          </a:p>
          <a:p>
            <a:pPr marL="0" indent="0">
              <a:buNone/>
            </a:pPr>
            <a:endParaRPr lang="es-CO" dirty="0">
              <a:latin typeface="Humanst521 BT" panose="020B0602020204020204" pitchFamily="34" charset="0"/>
            </a:endParaRPr>
          </a:p>
        </p:txBody>
      </p:sp>
    </p:spTree>
    <p:extLst>
      <p:ext uri="{BB962C8B-B14F-4D97-AF65-F5344CB8AC3E}">
        <p14:creationId xmlns:p14="http://schemas.microsoft.com/office/powerpoint/2010/main" val="15605749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MANIOBRAS</a:t>
            </a:r>
          </a:p>
        </p:txBody>
      </p:sp>
      <p:sp>
        <p:nvSpPr>
          <p:cNvPr id="4" name="Marcador de contenido 3">
            <a:extLst>
              <a:ext uri="{FF2B5EF4-FFF2-40B4-BE49-F238E27FC236}">
                <a16:creationId xmlns:a16="http://schemas.microsoft.com/office/drawing/2014/main" id="{78A8A839-57CE-F0B9-C6E2-6B06BBA64148}"/>
              </a:ext>
            </a:extLst>
          </p:cNvPr>
          <p:cNvSpPr>
            <a:spLocks noGrp="1"/>
          </p:cNvSpPr>
          <p:nvPr>
            <p:ph sz="half" idx="1"/>
          </p:nvPr>
        </p:nvSpPr>
        <p:spPr>
          <a:xfrm>
            <a:off x="838201" y="1825625"/>
            <a:ext cx="5181600" cy="4351338"/>
          </a:xfrm>
        </p:spPr>
        <p:txBody>
          <a:bodyPr>
            <a:noAutofit/>
          </a:bodyPr>
          <a:lstStyle/>
          <a:p>
            <a:pPr marL="342900" indent="-342900">
              <a:lnSpc>
                <a:spcPct val="115000"/>
              </a:lnSpc>
              <a:spcAft>
                <a:spcPts val="800"/>
              </a:spcAft>
              <a:buFont typeface="+mj-lt"/>
              <a:buAutoNum type="arabicPeriod" startAt="5"/>
            </a:pPr>
            <a:r>
              <a:rPr lang="es-CO" sz="1800" b="1" kern="100" dirty="0">
                <a:effectLst/>
                <a:latin typeface="Humanst521 BT" panose="020B0602020204020204" pitchFamily="34" charset="0"/>
                <a:ea typeface="Aptos" panose="020B0004020202020204" pitchFamily="34" charset="0"/>
                <a:cs typeface="Times New Roman" panose="02020603050405020304" pitchFamily="18" charset="0"/>
              </a:rPr>
              <a:t>Círculo en trayectoria</a:t>
            </a:r>
            <a:endParaRPr lang="es-CO" sz="1800" kern="100" dirty="0">
              <a:effectLst/>
              <a:latin typeface="Humanst521 BT" panose="020B0602020204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El dron vuela en círculo y la nariz/cámara va apuntando siempre hacia adelante, siguiendo la línea curva del camino (como un auto en una rotonda). [</a:t>
            </a:r>
            <a:r>
              <a:rPr lang="es-CO" sz="1800" u="sng" kern="100" dirty="0">
                <a:solidFill>
                  <a:srgbClr val="467886"/>
                </a:solidFill>
                <a:effectLst/>
                <a:latin typeface="Humanst521 BT" panose="020B0602020204020204" pitchFamily="34" charset="0"/>
                <a:ea typeface="Aptos" panose="020B0004020202020204" pitchFamily="34" charset="0"/>
                <a:cs typeface="Times New Roman" panose="02020603050405020304" pitchFamily="18" charset="0"/>
                <a:hlinkClick r:id="rId5"/>
              </a:rPr>
              <a:t>1</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a:t>
            </a:r>
          </a:p>
          <a:p>
            <a:r>
              <a:rPr lang="es-CO" sz="1800" b="1" dirty="0">
                <a:effectLst/>
                <a:latin typeface="Humanst521 BT" panose="020B0602020204020204" pitchFamily="34" charset="0"/>
                <a:ea typeface="Aptos" panose="020B0004020202020204" pitchFamily="34" charset="0"/>
                <a:cs typeface="Times New Roman" panose="02020603050405020304" pitchFamily="18" charset="0"/>
              </a:rPr>
              <a:t>Ejecución (Sentido horario):</a:t>
            </a:r>
            <a:r>
              <a:rPr lang="es-CO" sz="1800" dirty="0">
                <a:effectLst/>
                <a:latin typeface="Humanst521 BT" panose="020B0602020204020204" pitchFamily="34" charset="0"/>
                <a:ea typeface="Aptos" panose="020B0004020202020204" pitchFamily="34" charset="0"/>
                <a:cs typeface="Times New Roman" panose="02020603050405020304" pitchFamily="18" charset="0"/>
              </a:rPr>
              <a:t> Mantén el </a:t>
            </a:r>
            <a:r>
              <a:rPr lang="es-CO" sz="18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800" dirty="0">
                <a:effectLst/>
                <a:latin typeface="Humanst521 BT" panose="020B0602020204020204" pitchFamily="34" charset="0"/>
                <a:ea typeface="Aptos" panose="020B0004020202020204" pitchFamily="34" charset="0"/>
                <a:cs typeface="Times New Roman" panose="02020603050405020304" pitchFamily="18" charset="0"/>
              </a:rPr>
              <a:t> derecho hacia </a:t>
            </a:r>
            <a:r>
              <a:rPr lang="es-CO" sz="1800" b="1" dirty="0">
                <a:effectLst/>
                <a:latin typeface="Humanst521 BT" panose="020B0602020204020204" pitchFamily="34" charset="0"/>
                <a:ea typeface="Aptos" panose="020B0004020202020204" pitchFamily="34" charset="0"/>
                <a:cs typeface="Times New Roman" panose="02020603050405020304" pitchFamily="18" charset="0"/>
              </a:rPr>
              <a:t>Arriba</a:t>
            </a:r>
            <a:r>
              <a:rPr lang="es-CO" sz="1800" dirty="0">
                <a:effectLst/>
                <a:latin typeface="Humanst521 BT" panose="020B0602020204020204" pitchFamily="34" charset="0"/>
                <a:ea typeface="Aptos" panose="020B0004020202020204" pitchFamily="34" charset="0"/>
                <a:cs typeface="Times New Roman" panose="02020603050405020304" pitchFamily="18" charset="0"/>
              </a:rPr>
              <a:t> (avanzar) y, al mismo tiempo, mueve el </a:t>
            </a:r>
            <a:r>
              <a:rPr lang="es-CO" sz="18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800" dirty="0">
                <a:effectLst/>
                <a:latin typeface="Humanst521 BT" panose="020B0602020204020204" pitchFamily="34" charset="0"/>
                <a:ea typeface="Aptos" panose="020B0004020202020204" pitchFamily="34" charset="0"/>
                <a:cs typeface="Times New Roman" panose="02020603050405020304" pitchFamily="18" charset="0"/>
              </a:rPr>
              <a:t> izquierdo ligeramente hacia la </a:t>
            </a:r>
            <a:r>
              <a:rPr lang="es-CO" sz="1800" b="1" dirty="0">
                <a:effectLst/>
                <a:latin typeface="Humanst521 BT" panose="020B0602020204020204" pitchFamily="34" charset="0"/>
                <a:ea typeface="Aptos" panose="020B0004020202020204" pitchFamily="34" charset="0"/>
                <a:cs typeface="Times New Roman" panose="02020603050405020304" pitchFamily="18" charset="0"/>
              </a:rPr>
              <a:t>Derecha</a:t>
            </a:r>
            <a:r>
              <a:rPr lang="es-CO" sz="1800" dirty="0">
                <a:effectLst/>
                <a:latin typeface="Humanst521 BT" panose="020B0602020204020204" pitchFamily="34" charset="0"/>
                <a:ea typeface="Aptos" panose="020B0004020202020204" pitchFamily="34" charset="0"/>
                <a:cs typeface="Times New Roman" panose="02020603050405020304" pitchFamily="18" charset="0"/>
              </a:rPr>
              <a:t> (</a:t>
            </a:r>
            <a:r>
              <a:rPr lang="es-CO" sz="1800" dirty="0" err="1">
                <a:effectLst/>
                <a:latin typeface="Humanst521 BT" panose="020B0602020204020204" pitchFamily="34" charset="0"/>
                <a:ea typeface="Aptos" panose="020B0004020202020204" pitchFamily="34" charset="0"/>
                <a:cs typeface="Times New Roman" panose="02020603050405020304" pitchFamily="18" charset="0"/>
              </a:rPr>
              <a:t>Yaw</a:t>
            </a:r>
            <a:r>
              <a:rPr lang="es-CO" sz="1800" dirty="0">
                <a:effectLst/>
                <a:latin typeface="Humanst521 BT" panose="020B0602020204020204" pitchFamily="34" charset="0"/>
                <a:ea typeface="Aptos" panose="020B0004020202020204" pitchFamily="34" charset="0"/>
                <a:cs typeface="Times New Roman" panose="02020603050405020304" pitchFamily="18" charset="0"/>
              </a:rPr>
              <a:t>) de forma constante. Ajusta el </a:t>
            </a:r>
            <a:r>
              <a:rPr lang="es-CO" sz="18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800" dirty="0">
                <a:effectLst/>
                <a:latin typeface="Humanst521 BT" panose="020B0602020204020204" pitchFamily="34" charset="0"/>
                <a:ea typeface="Aptos" panose="020B0004020202020204" pitchFamily="34" charset="0"/>
                <a:cs typeface="Times New Roman" panose="02020603050405020304" pitchFamily="18" charset="0"/>
              </a:rPr>
              <a:t> izquierdo para cerrar o abrir el círculo. [</a:t>
            </a:r>
            <a:r>
              <a:rPr lang="es-CO" sz="1800" u="sng" dirty="0">
                <a:solidFill>
                  <a:srgbClr val="467886"/>
                </a:solidFill>
                <a:effectLst/>
                <a:latin typeface="Humanst521 BT" panose="020B0602020204020204" pitchFamily="34" charset="0"/>
                <a:ea typeface="Aptos" panose="020B0004020202020204" pitchFamily="34" charset="0"/>
                <a:cs typeface="Times New Roman" panose="02020603050405020304" pitchFamily="18" charset="0"/>
                <a:hlinkClick r:id="rId6"/>
              </a:rPr>
              <a:t>1</a:t>
            </a:r>
            <a:r>
              <a:rPr lang="es-CO" sz="1800" dirty="0">
                <a:effectLst/>
                <a:latin typeface="Humanst521 BT" panose="020B0602020204020204" pitchFamily="34" charset="0"/>
                <a:ea typeface="Aptos" panose="020B0004020202020204" pitchFamily="34" charset="0"/>
                <a:cs typeface="Times New Roman" panose="02020603050405020304" pitchFamily="18" charset="0"/>
              </a:rPr>
              <a:t>]</a:t>
            </a:r>
            <a:endParaRPr lang="es-CO" sz="1600" kern="100" dirty="0">
              <a:effectLst/>
              <a:latin typeface="Humanst521 BT" panose="020B0602020204020204" pitchFamily="34" charset="0"/>
              <a:ea typeface="Aptos" panose="020B0004020202020204" pitchFamily="34" charset="0"/>
              <a:cs typeface="Times New Roman" panose="02020603050405020304" pitchFamily="18" charset="0"/>
            </a:endParaRPr>
          </a:p>
        </p:txBody>
      </p:sp>
      <p:sp>
        <p:nvSpPr>
          <p:cNvPr id="5" name="Marcador de contenido 4">
            <a:extLst>
              <a:ext uri="{FF2B5EF4-FFF2-40B4-BE49-F238E27FC236}">
                <a16:creationId xmlns:a16="http://schemas.microsoft.com/office/drawing/2014/main" id="{A80EAF6D-4353-7B43-7EF1-DCD11C913F76}"/>
              </a:ext>
            </a:extLst>
          </p:cNvPr>
          <p:cNvSpPr>
            <a:spLocks noGrp="1"/>
          </p:cNvSpPr>
          <p:nvPr>
            <p:ph sz="half" idx="2"/>
          </p:nvPr>
        </p:nvSpPr>
        <p:spPr/>
        <p:txBody>
          <a:bodyPr>
            <a:normAutofit/>
          </a:bodyPr>
          <a:lstStyle/>
          <a:p>
            <a:pPr marL="342900" indent="-342900">
              <a:lnSpc>
                <a:spcPct val="115000"/>
              </a:lnSpc>
              <a:spcAft>
                <a:spcPts val="800"/>
              </a:spcAft>
              <a:buFont typeface="+mj-lt"/>
              <a:buAutoNum type="arabicPeriod" startAt="6"/>
            </a:pPr>
            <a:r>
              <a:rPr lang="es-CO" sz="1800" b="1" kern="100" dirty="0">
                <a:effectLst/>
                <a:latin typeface="Humanst521 BT" panose="020B0602020204020204" pitchFamily="34" charset="0"/>
                <a:ea typeface="Aptos" panose="020B0004020202020204" pitchFamily="34" charset="0"/>
                <a:cs typeface="Times New Roman" panose="02020603050405020304" pitchFamily="18" charset="0"/>
              </a:rPr>
              <a:t>Círculo en punto de interés (Órbita)</a:t>
            </a:r>
            <a:endParaRPr lang="es-CO" sz="1800" kern="100" dirty="0">
              <a:effectLst/>
              <a:latin typeface="Humanst521 BT" panose="020B0602020204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El dron vuela en círculo alrededor de un objeto central, manteniendo la cámara apuntando fijamente hacia ese objeto en el centro. [</a:t>
            </a:r>
            <a:r>
              <a:rPr lang="es-CO" sz="1800" u="sng" kern="100" dirty="0">
                <a:solidFill>
                  <a:srgbClr val="467886"/>
                </a:solidFill>
                <a:effectLst/>
                <a:latin typeface="Humanst521 BT" panose="020B0602020204020204" pitchFamily="34" charset="0"/>
                <a:ea typeface="Aptos" panose="020B0004020202020204" pitchFamily="34" charset="0"/>
                <a:cs typeface="Times New Roman" panose="02020603050405020304" pitchFamily="18" charset="0"/>
                <a:hlinkClick r:id="rId7"/>
              </a:rPr>
              <a:t>1</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a:t>
            </a:r>
            <a:r>
              <a:rPr lang="es-CO" sz="1800" u="sng" kern="100" dirty="0">
                <a:solidFill>
                  <a:srgbClr val="467886"/>
                </a:solidFill>
                <a:effectLst/>
                <a:latin typeface="Humanst521 BT" panose="020B0602020204020204" pitchFamily="34" charset="0"/>
                <a:ea typeface="Aptos" panose="020B0004020202020204" pitchFamily="34" charset="0"/>
                <a:cs typeface="Times New Roman" panose="02020603050405020304" pitchFamily="18" charset="0"/>
                <a:hlinkClick r:id="rId8"/>
              </a:rPr>
              <a:t>2</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a:t>
            </a:r>
          </a:p>
          <a:p>
            <a:pPr marL="342900" lvl="0" indent="-342900">
              <a:lnSpc>
                <a:spcPct val="115000"/>
              </a:lnSpc>
              <a:spcAft>
                <a:spcPts val="800"/>
              </a:spcAft>
              <a:buSzPts val="1000"/>
              <a:buFont typeface="Symbol" panose="05050102010706020507" pitchFamily="18" charset="2"/>
              <a:buChar char=""/>
              <a:tabLst>
                <a:tab pos="457200" algn="l"/>
              </a:tabLst>
            </a:pPr>
            <a:r>
              <a:rPr lang="es-CO" sz="1800" b="1" kern="100" dirty="0">
                <a:effectLst/>
                <a:latin typeface="Humanst521 BT" panose="020B0602020204020204" pitchFamily="34" charset="0"/>
                <a:ea typeface="Aptos" panose="020B0004020202020204" pitchFamily="34" charset="0"/>
                <a:cs typeface="Times New Roman" panose="02020603050405020304" pitchFamily="18" charset="0"/>
              </a:rPr>
              <a:t>Ejecución (Órbita hacia la derecha):</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Mueve el </a:t>
            </a:r>
            <a:r>
              <a:rPr lang="es-CO" sz="18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derecho hacia la </a:t>
            </a:r>
            <a:r>
              <a:rPr lang="es-CO" sz="1800" b="1" kern="100" dirty="0">
                <a:effectLst/>
                <a:latin typeface="Humanst521 BT" panose="020B0602020204020204" pitchFamily="34" charset="0"/>
                <a:ea typeface="Aptos" panose="020B0004020202020204" pitchFamily="34" charset="0"/>
                <a:cs typeface="Times New Roman" panose="02020603050405020304" pitchFamily="18" charset="0"/>
              </a:rPr>
              <a:t>Derecha</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(para desplazarse lateralmente) y simultáneamente mueve el </a:t>
            </a:r>
            <a:r>
              <a:rPr lang="es-CO" sz="18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izquierdo hacia la </a:t>
            </a:r>
            <a:r>
              <a:rPr lang="es-CO" sz="1800" b="1" kern="100" dirty="0">
                <a:effectLst/>
                <a:latin typeface="Humanst521 BT" panose="020B0602020204020204" pitchFamily="34" charset="0"/>
                <a:ea typeface="Aptos" panose="020B0004020202020204" pitchFamily="34" charset="0"/>
                <a:cs typeface="Times New Roman" panose="02020603050405020304" pitchFamily="18" charset="0"/>
              </a:rPr>
              <a:t>Izquierda</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 (para girar la cámara hacia el centro). Mantén una presión constante y simétrica en ambos palancas. [</a:t>
            </a:r>
            <a:r>
              <a:rPr lang="es-CO" sz="1800" u="sng" kern="100" dirty="0">
                <a:solidFill>
                  <a:srgbClr val="467886"/>
                </a:solidFill>
                <a:effectLst/>
                <a:latin typeface="Humanst521 BT" panose="020B0602020204020204" pitchFamily="34" charset="0"/>
                <a:ea typeface="Aptos" panose="020B0004020202020204" pitchFamily="34" charset="0"/>
                <a:cs typeface="Times New Roman" panose="02020603050405020304" pitchFamily="18" charset="0"/>
                <a:hlinkClick r:id="rId7"/>
              </a:rPr>
              <a:t>1</a:t>
            </a:r>
            <a:r>
              <a:rPr lang="es-CO" sz="1800" kern="100" dirty="0">
                <a:effectLst/>
                <a:latin typeface="Humanst521 BT" panose="020B0602020204020204" pitchFamily="34" charset="0"/>
                <a:ea typeface="Aptos" panose="020B0004020202020204" pitchFamily="34" charset="0"/>
                <a:cs typeface="Times New Roman" panose="02020603050405020304" pitchFamily="18" charset="0"/>
              </a:rPr>
              <a:t>]</a:t>
            </a:r>
          </a:p>
          <a:p>
            <a:pPr marL="0" indent="0">
              <a:buNone/>
            </a:pPr>
            <a:endParaRPr lang="es-CO" dirty="0">
              <a:latin typeface="Humanst521 BT" panose="020B0602020204020204" pitchFamily="34" charset="0"/>
            </a:endParaRPr>
          </a:p>
        </p:txBody>
      </p:sp>
    </p:spTree>
    <p:extLst>
      <p:ext uri="{BB962C8B-B14F-4D97-AF65-F5344CB8AC3E}">
        <p14:creationId xmlns:p14="http://schemas.microsoft.com/office/powerpoint/2010/main" val="11027208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MANIOBRAS</a:t>
            </a:r>
          </a:p>
        </p:txBody>
      </p:sp>
      <p:sp>
        <p:nvSpPr>
          <p:cNvPr id="4" name="Marcador de contenido 3">
            <a:extLst>
              <a:ext uri="{FF2B5EF4-FFF2-40B4-BE49-F238E27FC236}">
                <a16:creationId xmlns:a16="http://schemas.microsoft.com/office/drawing/2014/main" id="{78A8A839-57CE-F0B9-C6E2-6B06BBA64148}"/>
              </a:ext>
            </a:extLst>
          </p:cNvPr>
          <p:cNvSpPr>
            <a:spLocks noGrp="1"/>
          </p:cNvSpPr>
          <p:nvPr>
            <p:ph sz="half" idx="1"/>
          </p:nvPr>
        </p:nvSpPr>
        <p:spPr/>
        <p:txBody>
          <a:bodyPr>
            <a:noAutofit/>
          </a:bodyPr>
          <a:lstStyle/>
          <a:p>
            <a:pPr marL="342900" indent="-342900">
              <a:lnSpc>
                <a:spcPct val="115000"/>
              </a:lnSpc>
              <a:spcAft>
                <a:spcPts val="800"/>
              </a:spcAft>
              <a:buFont typeface="+mj-lt"/>
              <a:buAutoNum type="arabicPeriod" startAt="7"/>
            </a:pP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Reloj de arena en trayectoria</a:t>
            </a:r>
            <a:endParaRPr lang="es-CO" sz="1600" kern="100" dirty="0">
              <a:effectLst/>
              <a:latin typeface="Humanst521 BT" panose="020B0602020204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Dibuja un "8" plano en el aire. El dron debe cambiar su rumbo fluidamente para mirar siempre hacia el frente de la línea que va recorriendo.</a:t>
            </a:r>
          </a:p>
          <a:p>
            <a:pPr marL="342900" lvl="0" indent="-342900">
              <a:lnSpc>
                <a:spcPct val="115000"/>
              </a:lnSpc>
              <a:spcAft>
                <a:spcPts val="800"/>
              </a:spcAft>
              <a:buSzPts val="1000"/>
              <a:buFont typeface="Symbol" panose="05050102010706020507" pitchFamily="18" charset="2"/>
              <a:buChar char=""/>
              <a:tabLst>
                <a:tab pos="457200" algn="l"/>
              </a:tabLst>
            </a:pP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Paso 1 (Primer bucle):</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Empuja </a:t>
            </a:r>
            <a:r>
              <a:rPr lang="es-CO" sz="16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derecho hacia </a:t>
            </a: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Arriba</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e izquierdo ligeramente a la </a:t>
            </a: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Derecha</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para iniciar un círculo.</a:t>
            </a:r>
          </a:p>
          <a:p>
            <a:pPr marL="342900" lvl="0" indent="-342900">
              <a:lnSpc>
                <a:spcPct val="115000"/>
              </a:lnSpc>
              <a:spcAft>
                <a:spcPts val="800"/>
              </a:spcAft>
              <a:buSzPts val="1000"/>
              <a:buFont typeface="Symbol" panose="05050102010706020507" pitchFamily="18" charset="2"/>
              <a:buChar char=""/>
              <a:tabLst>
                <a:tab pos="457200" algn="l"/>
              </a:tabLst>
            </a:pP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Paso 2 (El cruce central):</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Al completar tres cuartos del círculo, endereza el </a:t>
            </a:r>
            <a:r>
              <a:rPr lang="es-CO" sz="16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izquierdo (al centro) para que el dron cruce en línea recta por el centro del "8".</a:t>
            </a:r>
          </a:p>
          <a:p>
            <a:pPr marL="342900" lvl="0" indent="-342900">
              <a:lnSpc>
                <a:spcPct val="115000"/>
              </a:lnSpc>
              <a:spcAft>
                <a:spcPts val="800"/>
              </a:spcAft>
              <a:buSzPts val="1000"/>
              <a:buFont typeface="Symbol" panose="05050102010706020507" pitchFamily="18" charset="2"/>
              <a:buChar char=""/>
              <a:tabLst>
                <a:tab pos="457200" algn="l"/>
              </a:tabLst>
            </a:pP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Paso 3 (Segundo bucle):</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Al pasar el centro, mantén el </a:t>
            </a:r>
            <a:r>
              <a:rPr lang="es-CO" sz="16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derecho hacia </a:t>
            </a: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Arriba</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y empuja el </a:t>
            </a:r>
            <a:r>
              <a:rPr lang="es-CO" sz="16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izquierdo hacia la </a:t>
            </a: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Izquierda</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para realizar el círculo opuesto.</a:t>
            </a:r>
          </a:p>
        </p:txBody>
      </p:sp>
      <p:sp>
        <p:nvSpPr>
          <p:cNvPr id="5" name="Marcador de contenido 4">
            <a:extLst>
              <a:ext uri="{FF2B5EF4-FFF2-40B4-BE49-F238E27FC236}">
                <a16:creationId xmlns:a16="http://schemas.microsoft.com/office/drawing/2014/main" id="{A80EAF6D-4353-7B43-7EF1-DCD11C913F76}"/>
              </a:ext>
            </a:extLst>
          </p:cNvPr>
          <p:cNvSpPr>
            <a:spLocks noGrp="1"/>
          </p:cNvSpPr>
          <p:nvPr>
            <p:ph sz="half" idx="2"/>
          </p:nvPr>
        </p:nvSpPr>
        <p:spPr/>
        <p:txBody>
          <a:bodyPr>
            <a:normAutofit/>
          </a:bodyPr>
          <a:lstStyle/>
          <a:p>
            <a:pPr marL="342900" indent="-342900">
              <a:lnSpc>
                <a:spcPct val="115000"/>
              </a:lnSpc>
              <a:spcAft>
                <a:spcPts val="800"/>
              </a:spcAft>
              <a:buFont typeface="+mj-lt"/>
              <a:buAutoNum type="arabicPeriod" startAt="8"/>
            </a:pP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Círculo en espiral ascendente</a:t>
            </a:r>
            <a:endParaRPr lang="es-CO" sz="1600" kern="100" dirty="0">
              <a:effectLst/>
              <a:latin typeface="Humanst521 BT" panose="020B0602020204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El dron realiza un círculo alrededor de un punto de interés u órbita abierta mientras va ganando altura de forma constante. [</a:t>
            </a:r>
            <a:r>
              <a:rPr lang="es-CO" sz="1600" u="sng" kern="100" dirty="0">
                <a:solidFill>
                  <a:srgbClr val="467886"/>
                </a:solidFill>
                <a:effectLst/>
                <a:latin typeface="Humanst521 BT" panose="020B0602020204020204" pitchFamily="34" charset="0"/>
                <a:ea typeface="Aptos" panose="020B0004020202020204" pitchFamily="34" charset="0"/>
                <a:cs typeface="Times New Roman" panose="02020603050405020304" pitchFamily="18" charset="0"/>
                <a:hlinkClick r:id="rId5"/>
              </a:rPr>
              <a:t>1</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a:t>
            </a:r>
          </a:p>
          <a:p>
            <a:pPr marL="342900" lvl="0" indent="-342900">
              <a:lnSpc>
                <a:spcPct val="115000"/>
              </a:lnSpc>
              <a:spcAft>
                <a:spcPts val="800"/>
              </a:spcAft>
              <a:buSzPts val="1000"/>
              <a:buFont typeface="Symbol" panose="05050102010706020507" pitchFamily="18" charset="2"/>
              <a:buChar char=""/>
              <a:tabLst>
                <a:tab pos="457200" algn="l"/>
              </a:tabLst>
            </a:pP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Ejecución:</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Ejecuta los mandos del "Círculo en trayectoria" o "Punto de interés" (por ejemplo: derecho a la derecha + izquierdo a la izquierda) pero </a:t>
            </a: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añade un empuje hacia Arriba</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en el </a:t>
            </a:r>
            <a:r>
              <a:rPr lang="es-CO" sz="16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izquierdo. El </a:t>
            </a:r>
            <a:r>
              <a:rPr lang="es-CO" sz="16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izquierdo se moverá en diagonal (arriba e izquierda al mismo tiempo). [</a:t>
            </a:r>
            <a:r>
              <a:rPr lang="es-CO" sz="1600" u="sng" kern="100" dirty="0">
                <a:solidFill>
                  <a:srgbClr val="467886"/>
                </a:solidFill>
                <a:effectLst/>
                <a:latin typeface="Humanst521 BT" panose="020B0602020204020204" pitchFamily="34" charset="0"/>
                <a:ea typeface="Aptos" panose="020B0004020202020204" pitchFamily="34" charset="0"/>
                <a:cs typeface="Times New Roman" panose="02020603050405020304" pitchFamily="18" charset="0"/>
                <a:hlinkClick r:id="rId6"/>
              </a:rPr>
              <a:t>1</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a:t>
            </a:r>
          </a:p>
          <a:p>
            <a:pPr marL="0" indent="0">
              <a:buNone/>
            </a:pPr>
            <a:endParaRPr lang="es-CO" sz="2400" dirty="0">
              <a:latin typeface="Humanst521 BT" panose="020B0602020204020204" pitchFamily="34" charset="0"/>
            </a:endParaRPr>
          </a:p>
        </p:txBody>
      </p:sp>
    </p:spTree>
    <p:extLst>
      <p:ext uri="{BB962C8B-B14F-4D97-AF65-F5344CB8AC3E}">
        <p14:creationId xmlns:p14="http://schemas.microsoft.com/office/powerpoint/2010/main" val="23061100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Vista superior del DJI Mavic Mini PNG transparente - StickPNG">
            <a:extLst>
              <a:ext uri="{FF2B5EF4-FFF2-40B4-BE49-F238E27FC236}">
                <a16:creationId xmlns:a16="http://schemas.microsoft.com/office/drawing/2014/main" id="{1321E4BB-5D95-809A-36E0-8D35C5A9D3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922" b="97549" l="1220" r="98916">
                        <a14:foregroundMark x1="3388" y1="11520" x2="1897" y2="46814"/>
                        <a14:foregroundMark x1="1897" y1="46814" x2="5691" y2="22549"/>
                        <a14:foregroundMark x1="5691" y1="22549" x2="5149" y2="26961"/>
                        <a14:foregroundMark x1="2168" y1="35049" x2="4743" y2="60539"/>
                        <a14:foregroundMark x1="4743" y1="60539" x2="1220" y2="56373"/>
                        <a14:foregroundMark x1="79675" y1="10294" x2="95393" y2="53186"/>
                        <a14:foregroundMark x1="95393" y1="53186" x2="93089" y2="29412"/>
                        <a14:foregroundMark x1="93089" y1="29412" x2="81572" y2="10049"/>
                        <a14:foregroundMark x1="81572" y1="10049" x2="98238" y2="57598"/>
                        <a14:foregroundMark x1="98238" y1="57598" x2="92954" y2="32843"/>
                        <a14:foregroundMark x1="92954" y1="32843" x2="98916" y2="50980"/>
                        <a14:foregroundMark x1="14905" y1="13971" x2="49729" y2="3922"/>
                        <a14:foregroundMark x1="71274" y1="85784" x2="70867" y2="97549"/>
                        <a14:backgroundMark x1="48374" y1="9804" x2="42276" y2="16176"/>
                      </a14:backgroundRemoval>
                    </a14:imgEffect>
                  </a14:imgLayer>
                </a14:imgProps>
              </a:ext>
              <a:ext uri="{28A0092B-C50C-407E-A947-70E740481C1C}">
                <a14:useLocalDpi xmlns:a14="http://schemas.microsoft.com/office/drawing/2010/main" val="0"/>
              </a:ext>
            </a:extLst>
          </a:blip>
          <a:srcRect/>
          <a:stretch>
            <a:fillRect/>
          </a:stretch>
        </p:blipFill>
        <p:spPr bwMode="auto">
          <a:xfrm>
            <a:off x="8979138" y="857473"/>
            <a:ext cx="2905563" cy="160632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8EEB7C8-1F62-CAD1-B4A9-8963F8232350}"/>
              </a:ext>
            </a:extLst>
          </p:cNvPr>
          <p:cNvSpPr>
            <a:spLocks noGrp="1"/>
          </p:cNvSpPr>
          <p:nvPr>
            <p:ph type="title"/>
          </p:nvPr>
        </p:nvSpPr>
        <p:spPr/>
        <p:txBody>
          <a:bodyPr/>
          <a:lstStyle/>
          <a:p>
            <a:r>
              <a:rPr lang="es-ES" b="1" dirty="0">
                <a:latin typeface="Myriad Pro Semibold" panose="020B0503030403020204"/>
              </a:rPr>
              <a:t>MANIOBRAS</a:t>
            </a:r>
          </a:p>
        </p:txBody>
      </p:sp>
      <p:sp>
        <p:nvSpPr>
          <p:cNvPr id="4" name="Marcador de contenido 3">
            <a:extLst>
              <a:ext uri="{FF2B5EF4-FFF2-40B4-BE49-F238E27FC236}">
                <a16:creationId xmlns:a16="http://schemas.microsoft.com/office/drawing/2014/main" id="{78A8A839-57CE-F0B9-C6E2-6B06BBA64148}"/>
              </a:ext>
            </a:extLst>
          </p:cNvPr>
          <p:cNvSpPr>
            <a:spLocks noGrp="1"/>
          </p:cNvSpPr>
          <p:nvPr>
            <p:ph sz="half" idx="1"/>
          </p:nvPr>
        </p:nvSpPr>
        <p:spPr/>
        <p:txBody>
          <a:bodyPr>
            <a:noAutofit/>
          </a:bodyPr>
          <a:lstStyle/>
          <a:p>
            <a:pPr marL="342900" indent="-342900">
              <a:lnSpc>
                <a:spcPct val="115000"/>
              </a:lnSpc>
              <a:spcAft>
                <a:spcPts val="800"/>
              </a:spcAft>
              <a:buFont typeface="+mj-lt"/>
              <a:buAutoNum type="arabicPeriod" startAt="9"/>
            </a:pP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Círculo en espiral descendente</a:t>
            </a:r>
            <a:endParaRPr lang="es-CO" sz="1600" kern="100" dirty="0">
              <a:effectLst/>
              <a:latin typeface="Humanst521 BT" panose="020B0602020204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El dron realiza el vuelo circular mientras va perdiendo altitud de forma controlada. [</a:t>
            </a:r>
            <a:r>
              <a:rPr lang="es-CO" sz="1600" u="sng" kern="100" dirty="0">
                <a:solidFill>
                  <a:srgbClr val="467886"/>
                </a:solidFill>
                <a:effectLst/>
                <a:latin typeface="Humanst521 BT" panose="020B0602020204020204" pitchFamily="34" charset="0"/>
                <a:ea typeface="Aptos" panose="020B0004020202020204" pitchFamily="34" charset="0"/>
                <a:cs typeface="Times New Roman" panose="02020603050405020304" pitchFamily="18" charset="0"/>
                <a:hlinkClick r:id="rId5"/>
              </a:rPr>
              <a:t>1</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a:t>
            </a:r>
            <a:r>
              <a:rPr lang="es-CO" sz="1600" u="sng" kern="100" dirty="0">
                <a:solidFill>
                  <a:srgbClr val="467886"/>
                </a:solidFill>
                <a:effectLst/>
                <a:latin typeface="Humanst521 BT" panose="020B0602020204020204" pitchFamily="34" charset="0"/>
                <a:ea typeface="Aptos" panose="020B0004020202020204" pitchFamily="34" charset="0"/>
                <a:cs typeface="Times New Roman" panose="02020603050405020304" pitchFamily="18" charset="0"/>
                <a:hlinkClick r:id="rId6"/>
              </a:rPr>
              <a:t>2</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a:t>
            </a:r>
          </a:p>
          <a:p>
            <a:pPr marL="342900" lvl="0" indent="-342900">
              <a:lnSpc>
                <a:spcPct val="115000"/>
              </a:lnSpc>
              <a:spcAft>
                <a:spcPts val="800"/>
              </a:spcAft>
              <a:buSzPts val="1000"/>
              <a:buFont typeface="Symbol" panose="05050102010706020507" pitchFamily="18" charset="2"/>
              <a:buChar char=""/>
              <a:tabLst>
                <a:tab pos="457200" algn="l"/>
              </a:tabLst>
            </a:pP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Ejecución:</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Configura el giro de órbita o trayectoria. Mientras mantienes el </a:t>
            </a:r>
            <a:r>
              <a:rPr lang="es-CO" sz="16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derecho en su posición de giro, mueve el </a:t>
            </a:r>
            <a:r>
              <a:rPr lang="es-CO" sz="1600" kern="100" dirty="0" err="1">
                <a:effectLst/>
                <a:latin typeface="Humanst521 BT" panose="020B0602020204020204" pitchFamily="34" charset="0"/>
                <a:ea typeface="Aptos" panose="020B0004020202020204" pitchFamily="34" charset="0"/>
                <a:cs typeface="Times New Roman" panose="02020603050405020304" pitchFamily="18" charset="0"/>
              </a:rPr>
              <a:t>stick</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izquierdo de manera diagonal hacia </a:t>
            </a: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Abajo</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(controlando el descenso) y hacia el lado del giro (</a:t>
            </a:r>
            <a:r>
              <a:rPr lang="es-CO" sz="1600" b="1" kern="100" dirty="0">
                <a:effectLst/>
                <a:latin typeface="Humanst521 BT" panose="020B0602020204020204" pitchFamily="34" charset="0"/>
                <a:ea typeface="Aptos" panose="020B0004020202020204" pitchFamily="34" charset="0"/>
                <a:cs typeface="Times New Roman" panose="02020603050405020304" pitchFamily="18" charset="0"/>
              </a:rPr>
              <a:t>Izquierda/Derecha</a:t>
            </a:r>
            <a:r>
              <a:rPr lang="es-CO" sz="1600" kern="100" dirty="0">
                <a:effectLst/>
                <a:latin typeface="Humanst521 BT" panose="020B0602020204020204" pitchFamily="34" charset="0"/>
                <a:ea typeface="Aptos" panose="020B0004020202020204" pitchFamily="34" charset="0"/>
                <a:cs typeface="Times New Roman" panose="02020603050405020304" pitchFamily="18" charset="0"/>
              </a:rPr>
              <a:t> según corresponda).</a:t>
            </a:r>
          </a:p>
          <a:p>
            <a:pPr marL="0" indent="0">
              <a:lnSpc>
                <a:spcPct val="115000"/>
              </a:lnSpc>
              <a:spcAft>
                <a:spcPts val="800"/>
              </a:spcAft>
              <a:buNone/>
            </a:pPr>
            <a:endParaRPr lang="es-CO" sz="1400" kern="100" dirty="0">
              <a:effectLst/>
              <a:latin typeface="Humanst521 BT" panose="020B0602020204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3781566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4">
            <a:extLst>
              <a:ext uri="{FF2B5EF4-FFF2-40B4-BE49-F238E27FC236}">
                <a16:creationId xmlns:a16="http://schemas.microsoft.com/office/drawing/2014/main" id="{A5F38CD4-ECFC-AE52-275C-32B66A6E13E3}"/>
              </a:ext>
            </a:extLst>
          </p:cNvPr>
          <p:cNvSpPr>
            <a:spLocks noGrp="1"/>
          </p:cNvSpPr>
          <p:nvPr>
            <p:ph idx="1"/>
          </p:nvPr>
        </p:nvSpPr>
        <p:spPr/>
        <p:txBody>
          <a:bodyPr/>
          <a:lstStyle/>
          <a:p>
            <a:r>
              <a:rPr lang="es-CO" sz="1800" dirty="0">
                <a:effectLst/>
                <a:latin typeface="Segoe UI Emoji" panose="020B0502040204020203" pitchFamily="34" charset="0"/>
                <a:ea typeface="Humanst521 BT" panose="020B0602020204020204" pitchFamily="34" charset="0"/>
                <a:cs typeface="Segoe UI Emoji" panose="020B0502040204020203" pitchFamily="34" charset="0"/>
              </a:rPr>
              <a:t>✔</a:t>
            </a:r>
            <a:r>
              <a:rPr lang="es-CO" sz="1800" dirty="0">
                <a:effectLst/>
                <a:latin typeface="Montserrat" panose="00000500000000000000" pitchFamily="2" charset="0"/>
                <a:ea typeface="Humanst521 BT" panose="020B0602020204020204" pitchFamily="34" charset="0"/>
                <a:cs typeface="Times New Roman" panose="02020603050405020304" pitchFamily="18" charset="0"/>
              </a:rPr>
              <a:t> Lista de Verificación Previa al Vuelo</a:t>
            </a:r>
          </a:p>
          <a:p>
            <a:pPr marL="0" indent="0">
              <a:buNone/>
            </a:pPr>
            <a:endParaRPr lang="es-CO" sz="1800" dirty="0">
              <a:effectLst/>
              <a:latin typeface="Humanst521 BT" panose="020B0602020204020204" pitchFamily="34" charset="0"/>
              <a:ea typeface="Humanst521 BT" panose="020B0602020204020204" pitchFamily="34" charset="0"/>
              <a:cs typeface="Times New Roman" panose="02020603050405020304" pitchFamily="18" charset="0"/>
            </a:endParaRPr>
          </a:p>
          <a:p>
            <a:endParaRPr lang="es-CO" dirty="0"/>
          </a:p>
        </p:txBody>
      </p:sp>
      <p:sp>
        <p:nvSpPr>
          <p:cNvPr id="7" name="Título 6">
            <a:extLst>
              <a:ext uri="{FF2B5EF4-FFF2-40B4-BE49-F238E27FC236}">
                <a16:creationId xmlns:a16="http://schemas.microsoft.com/office/drawing/2014/main" id="{70497F7F-2A37-8048-8776-D9059AAD3287}"/>
              </a:ext>
            </a:extLst>
          </p:cNvPr>
          <p:cNvSpPr txBox="1">
            <a:spLocks noGrp="1"/>
          </p:cNvSpPr>
          <p:nvPr>
            <p:ph type="title"/>
          </p:nvPr>
        </p:nvSpPr>
        <p:spPr>
          <a:xfrm>
            <a:off x="838200" y="365125"/>
            <a:ext cx="10515600" cy="1325563"/>
          </a:xfrm>
          <a:prstGeom prst="rect">
            <a:avLst/>
          </a:prstGeom>
          <a:noFill/>
        </p:spPr>
        <p:txBody>
          <a:bodyPr wrap="square" rtlCol="0">
            <a:spAutoFit/>
          </a:bodyPr>
          <a:lstStyle/>
          <a:p>
            <a:pPr>
              <a:lnSpc>
                <a:spcPct val="107000"/>
              </a:lnSpc>
              <a:spcAft>
                <a:spcPts val="800"/>
              </a:spcAft>
            </a:pPr>
            <a:r>
              <a:rPr lang="es-ES" sz="4400" b="1" dirty="0">
                <a:effectLst/>
                <a:latin typeface="Myriad Pro Semibold" panose="020B0503030403020204"/>
                <a:ea typeface="Humanst521 BT" panose="020B0602020204020204" pitchFamily="34" charset="0"/>
                <a:cs typeface="Times New Roman" panose="02020603050405020304" pitchFamily="18" charset="0"/>
              </a:rPr>
              <a:t>Listas de Verificación Previa y Posterior al Vuelo de Drones</a:t>
            </a:r>
            <a:endParaRPr lang="es-CO" sz="4400" dirty="0">
              <a:effectLst/>
              <a:latin typeface="Myriad Pro Semibold" panose="020B0503030403020204"/>
              <a:ea typeface="Humanst521 BT" panose="020B0602020204020204" pitchFamily="34" charset="0"/>
              <a:cs typeface="Times New Roman" panose="02020603050405020304" pitchFamily="18" charset="0"/>
            </a:endParaRPr>
          </a:p>
        </p:txBody>
      </p:sp>
      <p:graphicFrame>
        <p:nvGraphicFramePr>
          <p:cNvPr id="10" name="Tabla 9">
            <a:extLst>
              <a:ext uri="{FF2B5EF4-FFF2-40B4-BE49-F238E27FC236}">
                <a16:creationId xmlns:a16="http://schemas.microsoft.com/office/drawing/2014/main" id="{C5FD66C5-2036-B649-A0F6-37A55D67978B}"/>
              </a:ext>
            </a:extLst>
          </p:cNvPr>
          <p:cNvGraphicFramePr>
            <a:graphicFrameLocks noGrp="1"/>
          </p:cNvGraphicFramePr>
          <p:nvPr>
            <p:extLst>
              <p:ext uri="{D42A27DB-BD31-4B8C-83A1-F6EECF244321}">
                <p14:modId xmlns:p14="http://schemas.microsoft.com/office/powerpoint/2010/main" val="226435214"/>
              </p:ext>
            </p:extLst>
          </p:nvPr>
        </p:nvGraphicFramePr>
        <p:xfrm>
          <a:off x="838200" y="2356827"/>
          <a:ext cx="4419600" cy="3719076"/>
        </p:xfrm>
        <a:graphic>
          <a:graphicData uri="http://schemas.openxmlformats.org/drawingml/2006/table">
            <a:tbl>
              <a:tblPr firstRow="1" firstCol="1" bandRow="1"/>
              <a:tblGrid>
                <a:gridCol w="3884050">
                  <a:extLst>
                    <a:ext uri="{9D8B030D-6E8A-4147-A177-3AD203B41FA5}">
                      <a16:colId xmlns:a16="http://schemas.microsoft.com/office/drawing/2014/main" val="1376416650"/>
                    </a:ext>
                  </a:extLst>
                </a:gridCol>
                <a:gridCol w="535550">
                  <a:extLst>
                    <a:ext uri="{9D8B030D-6E8A-4147-A177-3AD203B41FA5}">
                      <a16:colId xmlns:a16="http://schemas.microsoft.com/office/drawing/2014/main" val="3317087207"/>
                    </a:ext>
                  </a:extLst>
                </a:gridCol>
              </a:tblGrid>
              <a:tr h="160440">
                <a:tc>
                  <a:txBody>
                    <a:bodyPr/>
                    <a:lstStyle/>
                    <a:p>
                      <a:pPr algn="just">
                        <a:lnSpc>
                          <a:spcPct val="107000"/>
                        </a:lnSpc>
                        <a:spcAft>
                          <a:spcPts val="800"/>
                        </a:spcAft>
                      </a:pPr>
                      <a:r>
                        <a:rPr lang="es-CO" sz="700" b="1" dirty="0">
                          <a:solidFill>
                            <a:srgbClr val="FF0000"/>
                          </a:solidFill>
                          <a:effectLst/>
                          <a:latin typeface="Montserrat" panose="00000500000000000000" pitchFamily="2" charset="0"/>
                          <a:ea typeface="Humanst521 BT" panose="020B0602020204020204" pitchFamily="34" charset="0"/>
                          <a:cs typeface="Times New Roman" panose="02020603050405020304" pitchFamily="18" charset="0"/>
                        </a:rPr>
                        <a:t>ITEMS A VERIFICAR</a:t>
                      </a:r>
                      <a:endParaRPr lang="es-CO" sz="600" dirty="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b="1" dirty="0">
                          <a:solidFill>
                            <a:srgbClr val="FF0000"/>
                          </a:solidFill>
                          <a:effectLst/>
                          <a:latin typeface="Montserrat" panose="00000500000000000000" pitchFamily="2" charset="0"/>
                          <a:ea typeface="Humanst521 BT" panose="020B0602020204020204" pitchFamily="34" charset="0"/>
                          <a:cs typeface="Times New Roman" panose="02020603050405020304" pitchFamily="18" charset="0"/>
                        </a:rPr>
                        <a:t>CHECK</a:t>
                      </a:r>
                      <a:endParaRPr lang="es-CO" sz="600" dirty="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4434688"/>
                  </a:ext>
                </a:extLst>
              </a:tr>
              <a:tr h="368938">
                <a:tc>
                  <a:txBody>
                    <a:bodyPr/>
                    <a:lstStyle/>
                    <a:p>
                      <a:pPr algn="just">
                        <a:lnSpc>
                          <a:spcPct val="107000"/>
                        </a:lnSpc>
                        <a:spcAft>
                          <a:spcPts val="800"/>
                        </a:spcAft>
                      </a:pPr>
                      <a:r>
                        <a:rPr lang="es-CO" sz="700" b="1" cap="all" dirty="0">
                          <a:solidFill>
                            <a:srgbClr val="1D1D1D"/>
                          </a:solidFill>
                          <a:effectLst/>
                          <a:latin typeface="Montserrat" panose="00000500000000000000" pitchFamily="2" charset="0"/>
                          <a:ea typeface="Humanst521 BT" panose="020B0602020204020204" pitchFamily="34" charset="0"/>
                          <a:cs typeface="Arial" panose="020B0604020202020204" pitchFamily="34" charset="0"/>
                        </a:rPr>
                        <a:t>Clima: </a:t>
                      </a:r>
                      <a:r>
                        <a:rPr lang="es-CO" sz="700" dirty="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Verifique que no haya lluvia en el camino junto con la velocidad del viento. </a:t>
                      </a:r>
                      <a:endParaRPr lang="es-CO" sz="600" dirty="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07651143"/>
                  </a:ext>
                </a:extLst>
              </a:tr>
              <a:tr h="368938">
                <a:tc>
                  <a:txBody>
                    <a:bodyPr/>
                    <a:lstStyle/>
                    <a:p>
                      <a:pPr algn="just">
                        <a:lnSpc>
                          <a:spcPct val="107000"/>
                        </a:lnSpc>
                        <a:spcAft>
                          <a:spcPts val="800"/>
                        </a:spcAft>
                      </a:pPr>
                      <a:r>
                        <a:rPr lang="es-CO" sz="7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Zona de exclusión aérea: </a:t>
                      </a:r>
                      <a:r>
                        <a:rPr lang="es-CO" sz="7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asegúrese de que su ruta de vuelo no coincida con una zona de exclusión aérea.</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5594016"/>
                  </a:ext>
                </a:extLst>
              </a:tr>
              <a:tr h="559010">
                <a:tc>
                  <a:txBody>
                    <a:bodyPr/>
                    <a:lstStyle/>
                    <a:p>
                      <a:pPr algn="just">
                        <a:lnSpc>
                          <a:spcPct val="107000"/>
                        </a:lnSpc>
                        <a:spcAft>
                          <a:spcPts val="800"/>
                        </a:spcAft>
                      </a:pPr>
                      <a:r>
                        <a:rPr lang="es-CO" sz="700" b="1" cap="all" dirty="0">
                          <a:solidFill>
                            <a:srgbClr val="1D1D1D"/>
                          </a:solidFill>
                          <a:effectLst/>
                          <a:latin typeface="Montserrat" panose="00000500000000000000" pitchFamily="2" charset="0"/>
                          <a:ea typeface="Humanst521 BT" panose="020B0602020204020204" pitchFamily="34" charset="0"/>
                          <a:cs typeface="Arial" panose="020B0604020202020204" pitchFamily="34" charset="0"/>
                        </a:rPr>
                        <a:t>Interferencia: </a:t>
                      </a:r>
                      <a:r>
                        <a:rPr lang="es-CO" sz="700" dirty="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Revise su área circundante para ver si hay torres de telefonía móvil o de radio, cables eléctricos y objetos metálicos.</a:t>
                      </a:r>
                      <a:endParaRPr lang="es-CO" sz="600" dirty="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3561294"/>
                  </a:ext>
                </a:extLst>
              </a:tr>
              <a:tr h="368938">
                <a:tc>
                  <a:txBody>
                    <a:bodyPr/>
                    <a:lstStyle/>
                    <a:p>
                      <a:pPr algn="just">
                        <a:lnSpc>
                          <a:spcPct val="107000"/>
                        </a:lnSpc>
                        <a:spcAft>
                          <a:spcPts val="800"/>
                        </a:spcAft>
                      </a:pPr>
                      <a:r>
                        <a:rPr lang="es-CO" sz="7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Obstáculos: </a:t>
                      </a:r>
                      <a:r>
                        <a:rPr lang="es-CO" sz="7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asegúrese de que su ruta de despegue y vuelo esté libre de obstáculos.</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2072587"/>
                  </a:ext>
                </a:extLst>
              </a:tr>
              <a:tr h="368938">
                <a:tc>
                  <a:txBody>
                    <a:bodyPr/>
                    <a:lstStyle/>
                    <a:p>
                      <a:pPr algn="just">
                        <a:lnSpc>
                          <a:spcPct val="107000"/>
                        </a:lnSpc>
                        <a:spcAft>
                          <a:spcPts val="800"/>
                        </a:spcAft>
                      </a:pPr>
                      <a:r>
                        <a:rPr lang="es-CO" sz="7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Personas: </a:t>
                      </a:r>
                      <a:r>
                        <a:rPr lang="es-CO" sz="7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Asegúrese de que no haya personas dentro de su área de vuelo.</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5026608"/>
                  </a:ext>
                </a:extLst>
              </a:tr>
              <a:tr h="368938">
                <a:tc>
                  <a:txBody>
                    <a:bodyPr/>
                    <a:lstStyle/>
                    <a:p>
                      <a:pPr algn="just">
                        <a:lnSpc>
                          <a:spcPct val="107000"/>
                        </a:lnSpc>
                        <a:spcAft>
                          <a:spcPts val="800"/>
                        </a:spcAft>
                      </a:pPr>
                      <a:r>
                        <a:rPr lang="es-CO" sz="7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Temperatura: </a:t>
                      </a:r>
                      <a:r>
                        <a:rPr lang="es-CO" sz="7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Verifique nuevamente que la temperatura esté dentro de los límites del dron.</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2845777"/>
                  </a:ext>
                </a:extLst>
              </a:tr>
              <a:tr h="368938">
                <a:tc>
                  <a:txBody>
                    <a:bodyPr/>
                    <a:lstStyle/>
                    <a:p>
                      <a:pPr algn="just">
                        <a:lnSpc>
                          <a:spcPct val="107000"/>
                        </a:lnSpc>
                        <a:spcAft>
                          <a:spcPts val="800"/>
                        </a:spcAft>
                      </a:pPr>
                      <a:r>
                        <a:rPr lang="es-CO" sz="7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Tarjeta SD: </a:t>
                      </a:r>
                      <a:r>
                        <a:rPr lang="es-CO" sz="7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asegúrese de que su tarjeta SD esté instalada en su dron y esté formateada correctamente.</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4252194"/>
                  </a:ext>
                </a:extLst>
              </a:tr>
              <a:tr h="417060">
                <a:tc>
                  <a:txBody>
                    <a:bodyPr/>
                    <a:lstStyle/>
                    <a:p>
                      <a:pPr algn="just">
                        <a:lnSpc>
                          <a:spcPct val="107000"/>
                        </a:lnSpc>
                        <a:spcAft>
                          <a:spcPts val="800"/>
                        </a:spcAft>
                      </a:pPr>
                      <a:r>
                        <a:rPr lang="es-CO" sz="7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Limpiar los sensores del dron: </a:t>
                      </a:r>
                      <a:r>
                        <a:rPr lang="es-CO" sz="7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Verifique nuevamente que todos los sensores de visión e infrarrojos estén limpios.</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01023304"/>
                  </a:ext>
                </a:extLst>
              </a:tr>
              <a:tr h="368938">
                <a:tc>
                  <a:txBody>
                    <a:bodyPr/>
                    <a:lstStyle/>
                    <a:p>
                      <a:pPr algn="just">
                        <a:lnSpc>
                          <a:spcPct val="107000"/>
                        </a:lnSpc>
                        <a:spcAft>
                          <a:spcPts val="800"/>
                        </a:spcAft>
                      </a:pPr>
                      <a:r>
                        <a:rPr lang="es-CO" sz="700" b="1" cap="all" dirty="0">
                          <a:solidFill>
                            <a:srgbClr val="1D1D1D"/>
                          </a:solidFill>
                          <a:effectLst/>
                          <a:latin typeface="Montserrat" panose="00000500000000000000" pitchFamily="2" charset="0"/>
                          <a:ea typeface="Humanst521 BT" panose="020B0602020204020204" pitchFamily="34" charset="0"/>
                          <a:cs typeface="Arial" panose="020B0604020202020204" pitchFamily="34" charset="0"/>
                        </a:rPr>
                        <a:t>Plataforma de despegue: </a:t>
                      </a:r>
                      <a:r>
                        <a:rPr lang="es-CO" sz="700" dirty="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asegúrese de que su dron esté en una superficie nivelada para despegar.</a:t>
                      </a:r>
                      <a:endParaRPr lang="es-CO" sz="600" dirty="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dirty="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dirty="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9078388"/>
                  </a:ext>
                </a:extLst>
              </a:tr>
            </a:tbl>
          </a:graphicData>
        </a:graphic>
      </p:graphicFrame>
      <p:graphicFrame>
        <p:nvGraphicFramePr>
          <p:cNvPr id="11" name="Tabla 10">
            <a:extLst>
              <a:ext uri="{FF2B5EF4-FFF2-40B4-BE49-F238E27FC236}">
                <a16:creationId xmlns:a16="http://schemas.microsoft.com/office/drawing/2014/main" id="{55E50D52-D967-8786-0E22-D93860ADB865}"/>
              </a:ext>
            </a:extLst>
          </p:cNvPr>
          <p:cNvGraphicFramePr>
            <a:graphicFrameLocks noGrp="1"/>
          </p:cNvGraphicFramePr>
          <p:nvPr>
            <p:extLst>
              <p:ext uri="{D42A27DB-BD31-4B8C-83A1-F6EECF244321}">
                <p14:modId xmlns:p14="http://schemas.microsoft.com/office/powerpoint/2010/main" val="2127672779"/>
              </p:ext>
            </p:extLst>
          </p:nvPr>
        </p:nvGraphicFramePr>
        <p:xfrm>
          <a:off x="6096000" y="2356827"/>
          <a:ext cx="4413600" cy="3718799"/>
        </p:xfrm>
        <a:graphic>
          <a:graphicData uri="http://schemas.openxmlformats.org/drawingml/2006/table">
            <a:tbl>
              <a:tblPr firstRow="1" firstCol="1" bandRow="1"/>
              <a:tblGrid>
                <a:gridCol w="3878776">
                  <a:extLst>
                    <a:ext uri="{9D8B030D-6E8A-4147-A177-3AD203B41FA5}">
                      <a16:colId xmlns:a16="http://schemas.microsoft.com/office/drawing/2014/main" val="1622882714"/>
                    </a:ext>
                  </a:extLst>
                </a:gridCol>
                <a:gridCol w="534824">
                  <a:extLst>
                    <a:ext uri="{9D8B030D-6E8A-4147-A177-3AD203B41FA5}">
                      <a16:colId xmlns:a16="http://schemas.microsoft.com/office/drawing/2014/main" val="1660513176"/>
                    </a:ext>
                  </a:extLst>
                </a:gridCol>
              </a:tblGrid>
              <a:tr h="326173">
                <a:tc>
                  <a:txBody>
                    <a:bodyPr/>
                    <a:lstStyle/>
                    <a:p>
                      <a:pPr algn="just">
                        <a:lnSpc>
                          <a:spcPct val="107000"/>
                        </a:lnSpc>
                        <a:spcAft>
                          <a:spcPts val="800"/>
                        </a:spcAft>
                      </a:pPr>
                      <a:r>
                        <a:rPr lang="es-CO" sz="700" b="1" dirty="0">
                          <a:solidFill>
                            <a:srgbClr val="FF0000"/>
                          </a:solidFill>
                          <a:effectLst/>
                          <a:latin typeface="Montserrat" panose="00000500000000000000" pitchFamily="2" charset="0"/>
                          <a:ea typeface="Humanst521 BT" panose="020B0602020204020204" pitchFamily="34" charset="0"/>
                          <a:cs typeface="Times New Roman" panose="02020603050405020304" pitchFamily="18" charset="0"/>
                        </a:rPr>
                        <a:t>ITEMS A VERIFICAR</a:t>
                      </a:r>
                      <a:endParaRPr lang="es-CO" sz="600" dirty="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b="1" dirty="0">
                          <a:solidFill>
                            <a:srgbClr val="FF0000"/>
                          </a:solidFill>
                          <a:effectLst/>
                          <a:latin typeface="Montserrat" panose="00000500000000000000" pitchFamily="2" charset="0"/>
                          <a:ea typeface="Humanst521 BT" panose="020B0602020204020204" pitchFamily="34" charset="0"/>
                          <a:cs typeface="Times New Roman" panose="02020603050405020304" pitchFamily="18" charset="0"/>
                        </a:rPr>
                        <a:t>CHECK</a:t>
                      </a:r>
                      <a:endParaRPr lang="es-CO" sz="600" dirty="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0415591"/>
                  </a:ext>
                </a:extLst>
              </a:tr>
              <a:tr h="164981">
                <a:tc>
                  <a:txBody>
                    <a:bodyPr/>
                    <a:lstStyle/>
                    <a:p>
                      <a:pPr algn="just">
                        <a:lnSpc>
                          <a:spcPct val="107000"/>
                        </a:lnSpc>
                        <a:spcAft>
                          <a:spcPts val="800"/>
                        </a:spcAft>
                      </a:pPr>
                      <a:r>
                        <a:rPr lang="es-CO" sz="700" b="1" cap="all" dirty="0">
                          <a:solidFill>
                            <a:srgbClr val="1D1D1D"/>
                          </a:solidFill>
                          <a:effectLst/>
                          <a:latin typeface="Montserrat" panose="00000500000000000000" pitchFamily="2" charset="0"/>
                          <a:ea typeface="Humanst521 BT" panose="020B0602020204020204" pitchFamily="34" charset="0"/>
                          <a:cs typeface="Arial" panose="020B0604020202020204" pitchFamily="34" charset="0"/>
                        </a:rPr>
                        <a:t>Cubierta del cardán: </a:t>
                      </a:r>
                      <a:r>
                        <a:rPr lang="es-CO" sz="700" dirty="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retire la cubierta del cardán.</a:t>
                      </a:r>
                      <a:endParaRPr lang="es-CO" sz="600" dirty="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dirty="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dirty="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04189886"/>
                  </a:ext>
                </a:extLst>
              </a:tr>
              <a:tr h="340296">
                <a:tc>
                  <a:txBody>
                    <a:bodyPr/>
                    <a:lstStyle/>
                    <a:p>
                      <a:pPr algn="just">
                        <a:lnSpc>
                          <a:spcPct val="107000"/>
                        </a:lnSpc>
                        <a:spcAft>
                          <a:spcPts val="800"/>
                        </a:spcAft>
                      </a:pPr>
                      <a:r>
                        <a:rPr lang="es-CO" sz="700" b="1" cap="all" dirty="0">
                          <a:solidFill>
                            <a:srgbClr val="1D1D1D"/>
                          </a:solidFill>
                          <a:effectLst/>
                          <a:latin typeface="Montserrat" panose="00000500000000000000" pitchFamily="2" charset="0"/>
                          <a:ea typeface="Humanst521 BT" panose="020B0602020204020204" pitchFamily="34" charset="0"/>
                          <a:cs typeface="Arial" panose="020B0604020202020204" pitchFamily="34" charset="0"/>
                        </a:rPr>
                        <a:t>Insertar la batería: </a:t>
                      </a:r>
                      <a:r>
                        <a:rPr lang="es-CO" sz="700" dirty="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utilice una batería completamente cargada y asegúrese de escuchar el clic audible.</a:t>
                      </a:r>
                      <a:endParaRPr lang="es-CO" sz="600" dirty="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1582965"/>
                  </a:ext>
                </a:extLst>
              </a:tr>
              <a:tr h="340296">
                <a:tc>
                  <a:txBody>
                    <a:bodyPr/>
                    <a:lstStyle/>
                    <a:p>
                      <a:pPr algn="just">
                        <a:lnSpc>
                          <a:spcPct val="107000"/>
                        </a:lnSpc>
                        <a:spcAft>
                          <a:spcPts val="800"/>
                        </a:spcAft>
                      </a:pPr>
                      <a:r>
                        <a:rPr lang="es-CO" sz="7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Encendido del dron: </a:t>
                      </a:r>
                      <a:r>
                        <a:rPr lang="es-CO" sz="7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asegúrese de que no haya obstáculos en el camino del cardán de la aeronave.</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3329204"/>
                  </a:ext>
                </a:extLst>
              </a:tr>
              <a:tr h="340296">
                <a:tc>
                  <a:txBody>
                    <a:bodyPr/>
                    <a:lstStyle/>
                    <a:p>
                      <a:pPr algn="just">
                        <a:lnSpc>
                          <a:spcPct val="107000"/>
                        </a:lnSpc>
                        <a:spcAft>
                          <a:spcPts val="800"/>
                        </a:spcAft>
                      </a:pPr>
                      <a:r>
                        <a:rPr lang="es-CO" sz="7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Encender el controlador: </a:t>
                      </a:r>
                      <a:r>
                        <a:rPr lang="es-CO" sz="7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asegúrese de que haya suficiente carga en el controlador.</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5178670"/>
                  </a:ext>
                </a:extLst>
              </a:tr>
              <a:tr h="340296">
                <a:tc>
                  <a:txBody>
                    <a:bodyPr/>
                    <a:lstStyle/>
                    <a:p>
                      <a:pPr algn="just">
                        <a:lnSpc>
                          <a:spcPct val="107000"/>
                        </a:lnSpc>
                        <a:spcAft>
                          <a:spcPts val="800"/>
                        </a:spcAft>
                      </a:pPr>
                      <a:r>
                        <a:rPr lang="es-CO" sz="7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Cargar la aplicación: </a:t>
                      </a:r>
                      <a:r>
                        <a:rPr lang="es-CO" sz="7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Conecte su teléfono/tableta al controlador y conecte el dron.</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43680799"/>
                  </a:ext>
                </a:extLst>
              </a:tr>
              <a:tr h="340296">
                <a:tc>
                  <a:txBody>
                    <a:bodyPr/>
                    <a:lstStyle/>
                    <a:p>
                      <a:pPr algn="just">
                        <a:lnSpc>
                          <a:spcPct val="107000"/>
                        </a:lnSpc>
                        <a:spcAft>
                          <a:spcPts val="800"/>
                        </a:spcAft>
                      </a:pPr>
                      <a:r>
                        <a:rPr lang="es-CO" sz="7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Buscar actualizaciones de firmware: </a:t>
                      </a:r>
                      <a:r>
                        <a:rPr lang="es-CO" sz="7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descargue e instale las actualizaciones de firmware necesarias.</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48829913"/>
                  </a:ext>
                </a:extLst>
              </a:tr>
              <a:tr h="340296">
                <a:tc>
                  <a:txBody>
                    <a:bodyPr/>
                    <a:lstStyle/>
                    <a:p>
                      <a:pPr algn="just">
                        <a:lnSpc>
                          <a:spcPct val="107000"/>
                        </a:lnSpc>
                        <a:spcAft>
                          <a:spcPts val="800"/>
                        </a:spcAft>
                      </a:pPr>
                      <a:r>
                        <a:rPr lang="es-CO" sz="7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Comprobar mensajes de error: </a:t>
                      </a:r>
                      <a:r>
                        <a:rPr lang="es-CO" sz="7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Preste atención a cualquier mensaje de error.</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4708251"/>
                  </a:ext>
                </a:extLst>
              </a:tr>
              <a:tr h="340296">
                <a:tc>
                  <a:txBody>
                    <a:bodyPr/>
                    <a:lstStyle/>
                    <a:p>
                      <a:pPr algn="just">
                        <a:lnSpc>
                          <a:spcPct val="107000"/>
                        </a:lnSpc>
                        <a:spcAft>
                          <a:spcPts val="800"/>
                        </a:spcAft>
                      </a:pPr>
                      <a:r>
                        <a:rPr lang="es-CO" sz="7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Modo GPS: </a:t>
                      </a:r>
                      <a:r>
                        <a:rPr lang="es-CO" sz="7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Espere a que se registre el punto de inicio y esté en modo GPS.</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1797793"/>
                  </a:ext>
                </a:extLst>
              </a:tr>
              <a:tr h="340296">
                <a:tc>
                  <a:txBody>
                    <a:bodyPr/>
                    <a:lstStyle/>
                    <a:p>
                      <a:pPr algn="just">
                        <a:lnSpc>
                          <a:spcPct val="107000"/>
                        </a:lnSpc>
                        <a:spcAft>
                          <a:spcPts val="800"/>
                        </a:spcAft>
                      </a:pPr>
                      <a:r>
                        <a:rPr lang="es-CO" sz="7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Hélices: </a:t>
                      </a:r>
                      <a:r>
                        <a:rPr lang="es-CO" sz="7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Verifique nuevamente que todas las hélices estén instaladas correctamente.</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dirty="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dirty="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4737288"/>
                  </a:ext>
                </a:extLst>
              </a:tr>
              <a:tr h="340296">
                <a:tc>
                  <a:txBody>
                    <a:bodyPr/>
                    <a:lstStyle/>
                    <a:p>
                      <a:pPr algn="just">
                        <a:lnSpc>
                          <a:spcPct val="107000"/>
                        </a:lnSpc>
                        <a:spcAft>
                          <a:spcPts val="800"/>
                        </a:spcAft>
                      </a:pPr>
                      <a:r>
                        <a:rPr lang="es-CO" sz="7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Flotar: </a:t>
                      </a:r>
                      <a:r>
                        <a:rPr lang="es-CO" sz="7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despega y flota durante un minuto para ver si hay alguna anomalía.</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222651"/>
                  </a:ext>
                </a:extLst>
              </a:tr>
              <a:tr h="164981">
                <a:tc>
                  <a:txBody>
                    <a:bodyPr/>
                    <a:lstStyle/>
                    <a:p>
                      <a:pPr algn="just">
                        <a:lnSpc>
                          <a:spcPct val="107000"/>
                        </a:lnSpc>
                        <a:spcAft>
                          <a:spcPts val="800"/>
                        </a:spcAft>
                      </a:pPr>
                      <a:r>
                        <a:rPr lang="es-CO" sz="7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Volar: </a:t>
                      </a:r>
                      <a:r>
                        <a:rPr lang="es-CO" sz="7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¡Después de tener todo marcado, ya está todo listo!</a:t>
                      </a:r>
                      <a:endParaRPr lang="es-CO" sz="6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700" dirty="0">
                          <a:effectLst/>
                          <a:latin typeface="Montserrat" panose="00000500000000000000" pitchFamily="2" charset="0"/>
                          <a:ea typeface="Humanst521 BT" panose="020B0602020204020204" pitchFamily="34" charset="0"/>
                          <a:cs typeface="Times New Roman" panose="02020603050405020304" pitchFamily="18" charset="0"/>
                        </a:rPr>
                        <a:t> </a:t>
                      </a:r>
                      <a:endParaRPr lang="es-CO" sz="600" dirty="0">
                        <a:effectLst/>
                        <a:latin typeface="Humanst521 BT" panose="020B0602020204020204" pitchFamily="34" charset="0"/>
                        <a:ea typeface="Humanst521 BT" panose="020B0602020204020204" pitchFamily="34" charset="0"/>
                        <a:cs typeface="Times New Roman" panose="02020603050405020304" pitchFamily="18" charset="0"/>
                      </a:endParaRPr>
                    </a:p>
                  </a:txBody>
                  <a:tcPr marL="35403" marR="354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088224"/>
                  </a:ext>
                </a:extLst>
              </a:tr>
            </a:tbl>
          </a:graphicData>
        </a:graphic>
      </p:graphicFrame>
    </p:spTree>
    <p:extLst>
      <p:ext uri="{BB962C8B-B14F-4D97-AF65-F5344CB8AC3E}">
        <p14:creationId xmlns:p14="http://schemas.microsoft.com/office/powerpoint/2010/main" val="595919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4">
            <a:extLst>
              <a:ext uri="{FF2B5EF4-FFF2-40B4-BE49-F238E27FC236}">
                <a16:creationId xmlns:a16="http://schemas.microsoft.com/office/drawing/2014/main" id="{A5F38CD4-ECFC-AE52-275C-32B66A6E13E3}"/>
              </a:ext>
            </a:extLst>
          </p:cNvPr>
          <p:cNvSpPr>
            <a:spLocks noGrp="1"/>
          </p:cNvSpPr>
          <p:nvPr>
            <p:ph idx="1"/>
          </p:nvPr>
        </p:nvSpPr>
        <p:spPr/>
        <p:txBody>
          <a:bodyPr/>
          <a:lstStyle/>
          <a:p>
            <a:r>
              <a:rPr lang="es-CO" sz="1800" dirty="0">
                <a:effectLst/>
                <a:latin typeface="Segoe UI Emoji" panose="020B0502040204020203" pitchFamily="34" charset="0"/>
                <a:ea typeface="Humanst521 BT" panose="020B0602020204020204" pitchFamily="34" charset="0"/>
                <a:cs typeface="Segoe UI Emoji" panose="020B0502040204020203" pitchFamily="34" charset="0"/>
              </a:rPr>
              <a:t>✔</a:t>
            </a:r>
            <a:r>
              <a:rPr lang="es-CO" sz="1800" dirty="0">
                <a:effectLst/>
                <a:latin typeface="Montserrat" panose="00000500000000000000" pitchFamily="2" charset="0"/>
                <a:ea typeface="Humanst521 BT" panose="020B0602020204020204" pitchFamily="34" charset="0"/>
                <a:cs typeface="Times New Roman" panose="02020603050405020304" pitchFamily="18" charset="0"/>
              </a:rPr>
              <a:t> Lista de Verificación Posterior al Vuelo</a:t>
            </a:r>
            <a:endParaRPr lang="es-CO" sz="1800" dirty="0">
              <a:effectLst/>
              <a:latin typeface="Humanst521 BT" panose="020B0602020204020204" pitchFamily="34" charset="0"/>
              <a:ea typeface="Humanst521 BT" panose="020B0602020204020204" pitchFamily="34" charset="0"/>
              <a:cs typeface="Times New Roman" panose="02020603050405020304" pitchFamily="18" charset="0"/>
            </a:endParaRPr>
          </a:p>
          <a:p>
            <a:endParaRPr lang="es-CO" dirty="0"/>
          </a:p>
        </p:txBody>
      </p:sp>
      <p:sp>
        <p:nvSpPr>
          <p:cNvPr id="7" name="Título 6">
            <a:extLst>
              <a:ext uri="{FF2B5EF4-FFF2-40B4-BE49-F238E27FC236}">
                <a16:creationId xmlns:a16="http://schemas.microsoft.com/office/drawing/2014/main" id="{70497F7F-2A37-8048-8776-D9059AAD3287}"/>
              </a:ext>
            </a:extLst>
          </p:cNvPr>
          <p:cNvSpPr txBox="1">
            <a:spLocks noGrp="1"/>
          </p:cNvSpPr>
          <p:nvPr>
            <p:ph type="title"/>
          </p:nvPr>
        </p:nvSpPr>
        <p:spPr>
          <a:xfrm>
            <a:off x="838200" y="365125"/>
            <a:ext cx="10515600" cy="1325563"/>
          </a:xfrm>
          <a:prstGeom prst="rect">
            <a:avLst/>
          </a:prstGeom>
          <a:noFill/>
        </p:spPr>
        <p:txBody>
          <a:bodyPr wrap="square" rtlCol="0">
            <a:spAutoFit/>
          </a:bodyPr>
          <a:lstStyle/>
          <a:p>
            <a:pPr>
              <a:lnSpc>
                <a:spcPct val="107000"/>
              </a:lnSpc>
              <a:spcAft>
                <a:spcPts val="800"/>
              </a:spcAft>
            </a:pPr>
            <a:r>
              <a:rPr lang="es-ES" sz="4400" b="1" dirty="0">
                <a:effectLst/>
                <a:latin typeface="Myriad Pro Semibold" panose="020B0503030403020204"/>
                <a:ea typeface="Humanst521 BT" panose="020B0602020204020204" pitchFamily="34" charset="0"/>
                <a:cs typeface="Times New Roman" panose="02020603050405020304" pitchFamily="18" charset="0"/>
              </a:rPr>
              <a:t>Listas de Verificación Previa y Posterior al Vuelo de Drones</a:t>
            </a:r>
            <a:endParaRPr lang="es-CO" sz="4400" dirty="0">
              <a:effectLst/>
              <a:latin typeface="Myriad Pro Semibold" panose="020B0503030403020204"/>
              <a:ea typeface="Humanst521 BT" panose="020B0602020204020204" pitchFamily="34" charset="0"/>
              <a:cs typeface="Times New Roman" panose="02020603050405020304" pitchFamily="18" charset="0"/>
            </a:endParaRPr>
          </a:p>
        </p:txBody>
      </p:sp>
      <p:graphicFrame>
        <p:nvGraphicFramePr>
          <p:cNvPr id="2" name="Tabla 1">
            <a:extLst>
              <a:ext uri="{FF2B5EF4-FFF2-40B4-BE49-F238E27FC236}">
                <a16:creationId xmlns:a16="http://schemas.microsoft.com/office/drawing/2014/main" id="{2B82B955-C35C-C369-92D7-6AE1BA525EB6}"/>
              </a:ext>
            </a:extLst>
          </p:cNvPr>
          <p:cNvGraphicFramePr>
            <a:graphicFrameLocks noGrp="1"/>
          </p:cNvGraphicFramePr>
          <p:nvPr>
            <p:extLst>
              <p:ext uri="{D42A27DB-BD31-4B8C-83A1-F6EECF244321}">
                <p14:modId xmlns:p14="http://schemas.microsoft.com/office/powerpoint/2010/main" val="1081731420"/>
              </p:ext>
            </p:extLst>
          </p:nvPr>
        </p:nvGraphicFramePr>
        <p:xfrm>
          <a:off x="3127375" y="2433955"/>
          <a:ext cx="5937250" cy="3877945"/>
        </p:xfrm>
        <a:graphic>
          <a:graphicData uri="http://schemas.openxmlformats.org/drawingml/2006/table">
            <a:tbl>
              <a:tblPr firstRow="1" firstCol="1" bandRow="1"/>
              <a:tblGrid>
                <a:gridCol w="5197475">
                  <a:extLst>
                    <a:ext uri="{9D8B030D-6E8A-4147-A177-3AD203B41FA5}">
                      <a16:colId xmlns:a16="http://schemas.microsoft.com/office/drawing/2014/main" val="523539554"/>
                    </a:ext>
                  </a:extLst>
                </a:gridCol>
                <a:gridCol w="739775">
                  <a:extLst>
                    <a:ext uri="{9D8B030D-6E8A-4147-A177-3AD203B41FA5}">
                      <a16:colId xmlns:a16="http://schemas.microsoft.com/office/drawing/2014/main" val="1731781213"/>
                    </a:ext>
                  </a:extLst>
                </a:gridCol>
              </a:tblGrid>
              <a:tr h="0">
                <a:tc>
                  <a:txBody>
                    <a:bodyPr/>
                    <a:lstStyle/>
                    <a:p>
                      <a:pPr algn="just">
                        <a:lnSpc>
                          <a:spcPct val="107000"/>
                        </a:lnSpc>
                        <a:spcAft>
                          <a:spcPts val="800"/>
                        </a:spcAft>
                      </a:pPr>
                      <a:r>
                        <a:rPr lang="es-CO" sz="1300" b="1">
                          <a:solidFill>
                            <a:srgbClr val="FF0000"/>
                          </a:solidFill>
                          <a:effectLst/>
                          <a:latin typeface="Montserrat" panose="00000500000000000000" pitchFamily="2" charset="0"/>
                          <a:ea typeface="Humanst521 BT" panose="020B0602020204020204" pitchFamily="34" charset="0"/>
                          <a:cs typeface="Times New Roman" panose="02020603050405020304" pitchFamily="18" charset="0"/>
                        </a:rPr>
                        <a:t>ITEMS A VERIFICAR</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1300" b="1">
                          <a:solidFill>
                            <a:srgbClr val="FF0000"/>
                          </a:solidFill>
                          <a:effectLst/>
                          <a:latin typeface="Montserrat" panose="00000500000000000000" pitchFamily="2" charset="0"/>
                          <a:ea typeface="Humanst521 BT" panose="020B0602020204020204" pitchFamily="34" charset="0"/>
                          <a:cs typeface="Times New Roman" panose="02020603050405020304" pitchFamily="18" charset="0"/>
                        </a:rPr>
                        <a:t>CHECK</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9818774"/>
                  </a:ext>
                </a:extLst>
              </a:tr>
              <a:tr h="0">
                <a:tc>
                  <a:txBody>
                    <a:bodyPr/>
                    <a:lstStyle/>
                    <a:p>
                      <a:pPr algn="just">
                        <a:lnSpc>
                          <a:spcPct val="107000"/>
                        </a:lnSpc>
                        <a:spcAft>
                          <a:spcPts val="800"/>
                        </a:spcAft>
                      </a:pPr>
                      <a:r>
                        <a:rPr lang="es-CO" sz="13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Aterrizaje: </a:t>
                      </a:r>
                      <a:r>
                        <a:rPr lang="es-CO" sz="13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asegúrese de que sea seguro aterrizar el dron, verifique que no haya obstáculos ni personas.</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13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5673412"/>
                  </a:ext>
                </a:extLst>
              </a:tr>
              <a:tr h="0">
                <a:tc>
                  <a:txBody>
                    <a:bodyPr/>
                    <a:lstStyle/>
                    <a:p>
                      <a:pPr algn="just">
                        <a:lnSpc>
                          <a:spcPct val="107000"/>
                        </a:lnSpc>
                        <a:spcAft>
                          <a:spcPts val="800"/>
                        </a:spcAft>
                      </a:pPr>
                      <a:r>
                        <a:rPr lang="es-CO" sz="13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Para apagar el dron: </a:t>
                      </a:r>
                      <a:r>
                        <a:rPr lang="es-CO" sz="13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primero apague el dron.</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13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5239083"/>
                  </a:ext>
                </a:extLst>
              </a:tr>
              <a:tr h="0">
                <a:tc>
                  <a:txBody>
                    <a:bodyPr/>
                    <a:lstStyle/>
                    <a:p>
                      <a:pPr algn="just">
                        <a:lnSpc>
                          <a:spcPct val="107000"/>
                        </a:lnSpc>
                        <a:spcAft>
                          <a:spcPts val="800"/>
                        </a:spcAft>
                      </a:pPr>
                      <a:r>
                        <a:rPr lang="es-CO" sz="13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Quitar la batería: </a:t>
                      </a:r>
                      <a:r>
                        <a:rPr lang="es-CO" sz="13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retira la batería del dron.</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13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8045478"/>
                  </a:ext>
                </a:extLst>
              </a:tr>
              <a:tr h="0">
                <a:tc>
                  <a:txBody>
                    <a:bodyPr/>
                    <a:lstStyle/>
                    <a:p>
                      <a:pPr algn="just">
                        <a:lnSpc>
                          <a:spcPct val="107000"/>
                        </a:lnSpc>
                        <a:spcAft>
                          <a:spcPts val="800"/>
                        </a:spcAft>
                      </a:pPr>
                      <a:r>
                        <a:rPr lang="es-CO" sz="13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Apagado del controlador: </a:t>
                      </a:r>
                      <a:r>
                        <a:rPr lang="es-CO" sz="13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apague el controlador.</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13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0184716"/>
                  </a:ext>
                </a:extLst>
              </a:tr>
              <a:tr h="0">
                <a:tc>
                  <a:txBody>
                    <a:bodyPr/>
                    <a:lstStyle/>
                    <a:p>
                      <a:pPr algn="just">
                        <a:lnSpc>
                          <a:spcPct val="107000"/>
                        </a:lnSpc>
                        <a:spcAft>
                          <a:spcPts val="800"/>
                        </a:spcAft>
                      </a:pPr>
                      <a:r>
                        <a:rPr lang="es-CO" sz="13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Inspección visual: </a:t>
                      </a:r>
                      <a:r>
                        <a:rPr lang="es-CO" sz="13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inspeccione el dron para asegurarse de que no haya sufrido daños.</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13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52502421"/>
                  </a:ext>
                </a:extLst>
              </a:tr>
              <a:tr h="0">
                <a:tc>
                  <a:txBody>
                    <a:bodyPr/>
                    <a:lstStyle/>
                    <a:p>
                      <a:pPr algn="just">
                        <a:lnSpc>
                          <a:spcPct val="107000"/>
                        </a:lnSpc>
                        <a:spcAft>
                          <a:spcPts val="800"/>
                        </a:spcAft>
                      </a:pPr>
                      <a:r>
                        <a:rPr lang="es-CO" sz="13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Inspección del cardán: </a:t>
                      </a:r>
                      <a:r>
                        <a:rPr lang="es-CO" sz="13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gire con cuidado el cardán y compruebe si puede girar libremente.</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13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76964375"/>
                  </a:ext>
                </a:extLst>
              </a:tr>
              <a:tr h="0">
                <a:tc>
                  <a:txBody>
                    <a:bodyPr/>
                    <a:lstStyle/>
                    <a:p>
                      <a:pPr algn="just">
                        <a:lnSpc>
                          <a:spcPct val="107000"/>
                        </a:lnSpc>
                        <a:spcAft>
                          <a:spcPts val="800"/>
                        </a:spcAft>
                      </a:pPr>
                      <a:r>
                        <a:rPr lang="es-CO" sz="13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Limpieza: </a:t>
                      </a:r>
                      <a:r>
                        <a:rPr lang="es-CO" sz="13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Limpie los sensores de visión para eliminar el polvo, la arena o los residuos.</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13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6738591"/>
                  </a:ext>
                </a:extLst>
              </a:tr>
              <a:tr h="0">
                <a:tc>
                  <a:txBody>
                    <a:bodyPr/>
                    <a:lstStyle/>
                    <a:p>
                      <a:pPr algn="just">
                        <a:lnSpc>
                          <a:spcPct val="107000"/>
                        </a:lnSpc>
                        <a:spcAft>
                          <a:spcPts val="800"/>
                        </a:spcAft>
                      </a:pPr>
                      <a:r>
                        <a:rPr lang="es-CO" sz="13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Seco: </a:t>
                      </a:r>
                      <a:r>
                        <a:rPr lang="es-CO" sz="13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si hay algún residuo, séquelo.</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13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7629549"/>
                  </a:ext>
                </a:extLst>
              </a:tr>
              <a:tr h="0">
                <a:tc>
                  <a:txBody>
                    <a:bodyPr/>
                    <a:lstStyle/>
                    <a:p>
                      <a:pPr algn="just">
                        <a:lnSpc>
                          <a:spcPct val="107000"/>
                        </a:lnSpc>
                        <a:spcAft>
                          <a:spcPts val="800"/>
                        </a:spcAft>
                      </a:pPr>
                      <a:r>
                        <a:rPr lang="es-CO" sz="13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Protector del cardán: </a:t>
                      </a:r>
                      <a:r>
                        <a:rPr lang="es-CO" sz="13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vuelva a instalar el protector del cardán.</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13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00631527"/>
                  </a:ext>
                </a:extLst>
              </a:tr>
              <a:tr h="0">
                <a:tc>
                  <a:txBody>
                    <a:bodyPr/>
                    <a:lstStyle/>
                    <a:p>
                      <a:pPr algn="just">
                        <a:lnSpc>
                          <a:spcPct val="107000"/>
                        </a:lnSpc>
                        <a:spcAft>
                          <a:spcPts val="800"/>
                        </a:spcAft>
                      </a:pPr>
                      <a:r>
                        <a:rPr lang="es-CO" sz="13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Limpiar los sensores del dron: </a:t>
                      </a:r>
                      <a:r>
                        <a:rPr lang="es-CO" sz="13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Verifique nuevamente que todos los sensores de visión e infrarrojos estén limpios.</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1300">
                          <a:effectLst/>
                          <a:latin typeface="Montserrat" panose="00000500000000000000" pitchFamily="2" charset="0"/>
                          <a:ea typeface="Humanst521 BT" panose="020B0602020204020204" pitchFamily="34" charset="0"/>
                          <a:cs typeface="Times New Roman" panose="02020603050405020304" pitchFamily="18" charset="0"/>
                        </a:rPr>
                        <a:t> </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0140475"/>
                  </a:ext>
                </a:extLst>
              </a:tr>
              <a:tr h="0">
                <a:tc>
                  <a:txBody>
                    <a:bodyPr/>
                    <a:lstStyle/>
                    <a:p>
                      <a:pPr algn="just">
                        <a:lnSpc>
                          <a:spcPct val="107000"/>
                        </a:lnSpc>
                        <a:spcAft>
                          <a:spcPts val="800"/>
                        </a:spcAft>
                      </a:pPr>
                      <a:r>
                        <a:rPr lang="es-CO" sz="1300" b="1" cap="all">
                          <a:solidFill>
                            <a:srgbClr val="1D1D1D"/>
                          </a:solidFill>
                          <a:effectLst/>
                          <a:latin typeface="Montserrat" panose="00000500000000000000" pitchFamily="2" charset="0"/>
                          <a:ea typeface="Humanst521 BT" panose="020B0602020204020204" pitchFamily="34" charset="0"/>
                          <a:cs typeface="Arial" panose="020B0604020202020204" pitchFamily="34" charset="0"/>
                        </a:rPr>
                        <a:t>Almacenamiento: </a:t>
                      </a:r>
                      <a:r>
                        <a:rPr lang="es-CO" sz="1300">
                          <a:solidFill>
                            <a:srgbClr val="333333"/>
                          </a:solidFill>
                          <a:effectLst/>
                          <a:latin typeface="Montserrat" panose="00000500000000000000" pitchFamily="2" charset="0"/>
                          <a:ea typeface="Humanst521 BT" panose="020B0602020204020204" pitchFamily="34" charset="0"/>
                          <a:cs typeface="Arial" panose="020B0604020202020204" pitchFamily="34" charset="0"/>
                        </a:rPr>
                        <a:t>Coloque el dron nuevamente en la bolsa de almacenamiento o estuche de seguridad.</a:t>
                      </a:r>
                      <a:endParaRPr lang="es-CO" sz="110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pPr>
                      <a:r>
                        <a:rPr lang="es-CO" sz="1300" dirty="0">
                          <a:effectLst/>
                          <a:latin typeface="Montserrat" panose="00000500000000000000" pitchFamily="2" charset="0"/>
                          <a:ea typeface="Humanst521 BT" panose="020B0602020204020204" pitchFamily="34" charset="0"/>
                          <a:cs typeface="Times New Roman" panose="02020603050405020304" pitchFamily="18" charset="0"/>
                        </a:rPr>
                        <a:t> </a:t>
                      </a:r>
                      <a:endParaRPr lang="es-CO" sz="1100" dirty="0">
                        <a:effectLst/>
                        <a:latin typeface="Humanst521 BT" panose="020B0602020204020204" pitchFamily="34" charset="0"/>
                        <a:ea typeface="Humanst521 BT" panose="020B0602020204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4934358"/>
                  </a:ext>
                </a:extLst>
              </a:tr>
            </a:tbl>
          </a:graphicData>
        </a:graphic>
      </p:graphicFrame>
    </p:spTree>
    <p:extLst>
      <p:ext uri="{BB962C8B-B14F-4D97-AF65-F5344CB8AC3E}">
        <p14:creationId xmlns:p14="http://schemas.microsoft.com/office/powerpoint/2010/main" val="40550265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0497F7F-2A37-8048-8776-D9059AAD3287}"/>
              </a:ext>
            </a:extLst>
          </p:cNvPr>
          <p:cNvSpPr txBox="1"/>
          <p:nvPr/>
        </p:nvSpPr>
        <p:spPr>
          <a:xfrm>
            <a:off x="1035170" y="646981"/>
            <a:ext cx="6650966" cy="763542"/>
          </a:xfrm>
          <a:prstGeom prst="rect">
            <a:avLst/>
          </a:prstGeom>
          <a:noFill/>
        </p:spPr>
        <p:txBody>
          <a:bodyPr wrap="square" rtlCol="0">
            <a:spAutoFit/>
          </a:bodyPr>
          <a:lstStyle/>
          <a:p>
            <a:pPr>
              <a:lnSpc>
                <a:spcPct val="107000"/>
              </a:lnSpc>
              <a:spcAft>
                <a:spcPts val="800"/>
              </a:spcAft>
            </a:pPr>
            <a:r>
              <a:rPr lang="es-ES" sz="4400" b="1" dirty="0">
                <a:effectLst/>
                <a:latin typeface="Myriad Pro Semibold" panose="020B0503030403020204"/>
                <a:ea typeface="Humanst521 BT" panose="020B0602020204020204" pitchFamily="34" charset="0"/>
                <a:cs typeface="Times New Roman" panose="02020603050405020304" pitchFamily="18" charset="0"/>
              </a:rPr>
              <a:t>PLANIFICACION VUELO</a:t>
            </a:r>
            <a:endParaRPr lang="es-CO" sz="4400" dirty="0">
              <a:effectLst/>
              <a:latin typeface="Myriad Pro Semibold" panose="020B0503030403020204"/>
              <a:ea typeface="Humanst521 BT" panose="020B0602020204020204" pitchFamily="34" charset="0"/>
              <a:cs typeface="Times New Roman" panose="02020603050405020304" pitchFamily="18" charset="0"/>
            </a:endParaRPr>
          </a:p>
        </p:txBody>
      </p:sp>
      <p:sp>
        <p:nvSpPr>
          <p:cNvPr id="4" name="CuadroTexto 3">
            <a:extLst>
              <a:ext uri="{FF2B5EF4-FFF2-40B4-BE49-F238E27FC236}">
                <a16:creationId xmlns:a16="http://schemas.microsoft.com/office/drawing/2014/main" id="{E4D7B1B1-81E9-6BF6-4997-E90751395502}"/>
              </a:ext>
            </a:extLst>
          </p:cNvPr>
          <p:cNvSpPr txBox="1"/>
          <p:nvPr/>
        </p:nvSpPr>
        <p:spPr>
          <a:xfrm>
            <a:off x="303727" y="1589946"/>
            <a:ext cx="6098146" cy="4621073"/>
          </a:xfrm>
          <a:prstGeom prst="rect">
            <a:avLst/>
          </a:prstGeom>
          <a:noFill/>
        </p:spPr>
        <p:txBody>
          <a:bodyPr wrap="square">
            <a:spAutoFit/>
          </a:bodyPr>
          <a:lstStyle/>
          <a:p>
            <a:pPr algn="just">
              <a:lnSpc>
                <a:spcPct val="107000"/>
              </a:lnSpc>
              <a:spcAft>
                <a:spcPts val="800"/>
              </a:spcAft>
            </a:pP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Antes de tocar el dron, se define qué se va a volar y cómo.</a:t>
            </a:r>
            <a:endParaRPr lang="es-CO" sz="1600" dirty="0">
              <a:effectLst/>
              <a:latin typeface="Humanst521 BT" panose="020B0602020204020204" pitchFamily="34" charset="0"/>
              <a:ea typeface="Humanst521 BT" panose="020B060202020402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s-ES" sz="1800" b="1" dirty="0">
                <a:effectLst/>
                <a:latin typeface="Humanst521 BT" panose="020B0602020204020204" pitchFamily="34" charset="0"/>
                <a:ea typeface="Humanst521 BT" panose="020B0602020204020204" pitchFamily="34" charset="0"/>
                <a:cs typeface="Times New Roman" panose="02020603050405020304" pitchFamily="18" charset="0"/>
              </a:rPr>
              <a:t>Definir el área de interés (AOI): el</a:t>
            </a: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 polígono del terreno o cultivo que se quiere cubrir. Se puede dibujar en Google </a:t>
            </a:r>
            <a:r>
              <a:rPr lang="es-ES" sz="1800" dirty="0" err="1">
                <a:effectLst/>
                <a:latin typeface="Humanst521 BT" panose="020B0602020204020204" pitchFamily="34" charset="0"/>
                <a:ea typeface="Humanst521 BT" panose="020B0602020204020204" pitchFamily="34" charset="0"/>
                <a:cs typeface="Times New Roman" panose="02020603050405020304" pitchFamily="18" charset="0"/>
              </a:rPr>
              <a:t>Earth</a:t>
            </a: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 directamente en la app de vuelo.</a:t>
            </a:r>
            <a:endParaRPr lang="es-CO" sz="1600" dirty="0">
              <a:effectLst/>
              <a:latin typeface="Humanst521 BT" panose="020B0602020204020204" pitchFamily="34" charset="0"/>
              <a:ea typeface="Humanst521 BT" panose="020B060202020402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s-ES" sz="1800" b="1" dirty="0">
                <a:effectLst/>
                <a:latin typeface="Humanst521 BT" panose="020B0602020204020204" pitchFamily="34" charset="0"/>
                <a:ea typeface="Humanst521 BT" panose="020B0602020204020204" pitchFamily="34" charset="0"/>
                <a:cs typeface="Times New Roman" panose="02020603050405020304" pitchFamily="18" charset="0"/>
              </a:rPr>
              <a:t>Objetivo del vuelo:</a:t>
            </a: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 ¿mapa RGB de alta resolución? ¿mapa multiespectral para NDVI? ¿modelo 3D? El objetivo cambia los parámetros de los pasos siguientes.</a:t>
            </a:r>
            <a:endParaRPr lang="es-CO" sz="1600" dirty="0">
              <a:effectLst/>
              <a:latin typeface="Humanst521 BT" panose="020B0602020204020204" pitchFamily="34" charset="0"/>
              <a:ea typeface="Humanst521 BT" panose="020B060202020402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s-ES" sz="1800" b="1" dirty="0">
                <a:effectLst/>
                <a:latin typeface="Humanst521 BT" panose="020B0602020204020204" pitchFamily="34" charset="0"/>
                <a:ea typeface="Humanst521 BT" panose="020B0602020204020204" pitchFamily="34" charset="0"/>
                <a:cs typeface="Times New Roman" panose="02020603050405020304" pitchFamily="18" charset="0"/>
              </a:rPr>
              <a:t>Revisión previa del sitio: </a:t>
            </a: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altura del terreno, obstáculos (postes, árboles, cables), zonas restringidas de vuelo (aeropuertos, bases militares) </a:t>
            </a:r>
            <a:r>
              <a:rPr lang="es-ES" sz="1800" u="sng" dirty="0">
                <a:solidFill>
                  <a:srgbClr val="0563C1"/>
                </a:solidFill>
                <a:effectLst/>
                <a:latin typeface="Humanst521 BT" panose="020B0602020204020204" pitchFamily="34" charset="0"/>
                <a:ea typeface="Humanst521 BT" panose="020B0602020204020204" pitchFamily="34" charset="0"/>
                <a:cs typeface="Times New Roman" panose="02020603050405020304" pitchFamily="18" charset="0"/>
                <a:hlinkClick r:id="rId2"/>
              </a:rPr>
              <a:t>Visor Geográfico UAS</a:t>
            </a: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 </a:t>
            </a:r>
            <a:endParaRPr lang="es-CO" sz="1600" dirty="0">
              <a:effectLst/>
              <a:latin typeface="Humanst521 BT" panose="020B0602020204020204" pitchFamily="34" charset="0"/>
              <a:ea typeface="Humanst521 BT" panose="020B060202020402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s-ES" sz="1800" b="1" dirty="0">
                <a:effectLst/>
                <a:latin typeface="Humanst521 BT" panose="020B0602020204020204" pitchFamily="34" charset="0"/>
                <a:ea typeface="Humanst521 BT" panose="020B0602020204020204" pitchFamily="34" charset="0"/>
                <a:cs typeface="Times New Roman" panose="02020603050405020304" pitchFamily="18" charset="0"/>
              </a:rPr>
              <a:t>Condiciones y permisos</a:t>
            </a: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 clima esperado para el día de vuelo, horario con buena luz solar (ideal: cerca del mediodía, cielo despejado o uniformemente nublado, para evitar sombras cambiantes), y si se requiere algún permiso o autorización del propietario del predio.</a:t>
            </a:r>
            <a:endParaRPr lang="es-CO" sz="1600" dirty="0">
              <a:effectLst/>
              <a:latin typeface="Humanst521 BT" panose="020B0602020204020204" pitchFamily="34" charset="0"/>
              <a:ea typeface="Humanst521 BT" panose="020B0602020204020204" pitchFamily="34" charset="0"/>
              <a:cs typeface="Times New Roman" panose="02020603050405020304" pitchFamily="18" charset="0"/>
            </a:endParaRPr>
          </a:p>
        </p:txBody>
      </p:sp>
      <p:pic>
        <p:nvPicPr>
          <p:cNvPr id="6" name="Imagen 5">
            <a:extLst>
              <a:ext uri="{FF2B5EF4-FFF2-40B4-BE49-F238E27FC236}">
                <a16:creationId xmlns:a16="http://schemas.microsoft.com/office/drawing/2014/main" id="{1A0D4619-76AE-1796-71FE-58C5DE6140A4}"/>
              </a:ext>
            </a:extLst>
          </p:cNvPr>
          <p:cNvPicPr>
            <a:picLocks noChangeAspect="1"/>
          </p:cNvPicPr>
          <p:nvPr/>
        </p:nvPicPr>
        <p:blipFill>
          <a:blip r:embed="rId3"/>
          <a:stretch>
            <a:fillRect/>
          </a:stretch>
        </p:blipFill>
        <p:spPr>
          <a:xfrm>
            <a:off x="6654531" y="2588653"/>
            <a:ext cx="5537469" cy="2649479"/>
          </a:xfrm>
          <a:prstGeom prst="rect">
            <a:avLst/>
          </a:prstGeom>
        </p:spPr>
      </p:pic>
    </p:spTree>
    <p:extLst>
      <p:ext uri="{BB962C8B-B14F-4D97-AF65-F5344CB8AC3E}">
        <p14:creationId xmlns:p14="http://schemas.microsoft.com/office/powerpoint/2010/main" val="2108533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0497F7F-2A37-8048-8776-D9059AAD3287}"/>
              </a:ext>
            </a:extLst>
          </p:cNvPr>
          <p:cNvSpPr txBox="1"/>
          <p:nvPr/>
        </p:nvSpPr>
        <p:spPr>
          <a:xfrm>
            <a:off x="1069674" y="646981"/>
            <a:ext cx="8712678" cy="763542"/>
          </a:xfrm>
          <a:prstGeom prst="rect">
            <a:avLst/>
          </a:prstGeom>
          <a:noFill/>
        </p:spPr>
        <p:txBody>
          <a:bodyPr wrap="square" rtlCol="0">
            <a:spAutoFit/>
          </a:bodyPr>
          <a:lstStyle/>
          <a:p>
            <a:pPr>
              <a:lnSpc>
                <a:spcPct val="107000"/>
              </a:lnSpc>
              <a:spcAft>
                <a:spcPts val="800"/>
              </a:spcAft>
            </a:pPr>
            <a:r>
              <a:rPr lang="es-ES" sz="4400" b="1" dirty="0">
                <a:effectLst/>
                <a:latin typeface="Myriad Pro Semibold" panose="020B0503030403020204"/>
                <a:ea typeface="Humanst521 BT" panose="020B0602020204020204" pitchFamily="34" charset="0"/>
                <a:cs typeface="Times New Roman" panose="02020603050405020304" pitchFamily="18" charset="0"/>
              </a:rPr>
              <a:t>CONFIGURACIÓN</a:t>
            </a:r>
            <a:r>
              <a:rPr lang="es-ES" sz="2000" b="1" dirty="0">
                <a:effectLst/>
                <a:latin typeface="Myriad Pro Semibold" panose="020B0503030403020204"/>
                <a:ea typeface="Humanst521 BT" panose="020B0602020204020204" pitchFamily="34" charset="0"/>
                <a:cs typeface="Times New Roman" panose="02020603050405020304" pitchFamily="18" charset="0"/>
              </a:rPr>
              <a:t> </a:t>
            </a:r>
            <a:r>
              <a:rPr lang="es-ES" sz="4400" b="1" dirty="0">
                <a:effectLst/>
                <a:latin typeface="Myriad Pro Semibold" panose="020B0503030403020204"/>
                <a:ea typeface="Humanst521 BT" panose="020B0602020204020204" pitchFamily="34" charset="0"/>
                <a:cs typeface="Times New Roman" panose="02020603050405020304" pitchFamily="18" charset="0"/>
              </a:rPr>
              <a:t>EQUIPO</a:t>
            </a:r>
            <a:endParaRPr lang="es-CO" sz="4400" dirty="0">
              <a:effectLst/>
              <a:latin typeface="Myriad Pro Semibold" panose="020B0503030403020204"/>
              <a:ea typeface="Humanst521 BT" panose="020B0602020204020204" pitchFamily="34" charset="0"/>
              <a:cs typeface="Times New Roman" panose="02020603050405020304" pitchFamily="18" charset="0"/>
            </a:endParaRPr>
          </a:p>
        </p:txBody>
      </p:sp>
      <p:sp>
        <p:nvSpPr>
          <p:cNvPr id="4" name="CuadroTexto 3">
            <a:extLst>
              <a:ext uri="{FF2B5EF4-FFF2-40B4-BE49-F238E27FC236}">
                <a16:creationId xmlns:a16="http://schemas.microsoft.com/office/drawing/2014/main" id="{E4D7B1B1-81E9-6BF6-4997-E90751395502}"/>
              </a:ext>
            </a:extLst>
          </p:cNvPr>
          <p:cNvSpPr txBox="1"/>
          <p:nvPr/>
        </p:nvSpPr>
        <p:spPr>
          <a:xfrm>
            <a:off x="303726" y="1589946"/>
            <a:ext cx="11888273" cy="4427238"/>
          </a:xfrm>
          <a:prstGeom prst="rect">
            <a:avLst/>
          </a:prstGeom>
          <a:noFill/>
        </p:spPr>
        <p:txBody>
          <a:bodyPr wrap="square">
            <a:spAutoFit/>
          </a:bodyPr>
          <a:lstStyle/>
          <a:p>
            <a:pPr>
              <a:lnSpc>
                <a:spcPct val="107000"/>
              </a:lnSpc>
              <a:spcAft>
                <a:spcPts val="800"/>
              </a:spcAft>
            </a:pPr>
            <a:r>
              <a:rPr lang="es-CO" sz="1800" dirty="0">
                <a:effectLst/>
                <a:latin typeface="Humanst521 BT" panose="020B0602020204020204" pitchFamily="34" charset="0"/>
                <a:ea typeface="Humanst521 BT" panose="020B0602020204020204" pitchFamily="34" charset="0"/>
                <a:cs typeface="Times New Roman" panose="02020603050405020304" pitchFamily="18" charset="0"/>
              </a:rPr>
              <a:t>Es la preparación física del dron y del equipo antes de despegar.</a:t>
            </a:r>
          </a:p>
          <a:p>
            <a:pPr marL="342900" lvl="0" indent="-342900" algn="just">
              <a:lnSpc>
                <a:spcPct val="107000"/>
              </a:lnSpc>
              <a:buFont typeface="Symbol" panose="05050102010706020507" pitchFamily="18" charset="2"/>
              <a:buChar char=""/>
            </a:pPr>
            <a:r>
              <a:rPr lang="es-CO" sz="1800" b="1" dirty="0">
                <a:effectLst/>
                <a:latin typeface="Humanst521 BT" panose="020B0602020204020204" pitchFamily="34" charset="0"/>
                <a:ea typeface="Humanst521 BT" panose="020B0602020204020204" pitchFamily="34" charset="0"/>
                <a:cs typeface="Times New Roman" panose="02020603050405020304" pitchFamily="18" charset="0"/>
              </a:rPr>
              <a:t>Revisión física:</a:t>
            </a:r>
            <a:r>
              <a:rPr lang="es-CO" sz="1800" dirty="0">
                <a:effectLst/>
                <a:latin typeface="Humanst521 BT" panose="020B0602020204020204" pitchFamily="34" charset="0"/>
                <a:ea typeface="Humanst521 BT" panose="020B0602020204020204" pitchFamily="34" charset="0"/>
                <a:cs typeface="Times New Roman" panose="02020603050405020304" pitchFamily="18" charset="0"/>
              </a:rPr>
              <a:t> hélices sin daños, brazos del dron bien desplegados, </a:t>
            </a:r>
            <a:r>
              <a:rPr lang="es-CO" sz="1800" dirty="0" err="1">
                <a:effectLst/>
                <a:latin typeface="Humanst521 BT" panose="020B0602020204020204" pitchFamily="34" charset="0"/>
                <a:ea typeface="Humanst521 BT" panose="020B0602020204020204" pitchFamily="34" charset="0"/>
                <a:cs typeface="Times New Roman" panose="02020603050405020304" pitchFamily="18" charset="0"/>
              </a:rPr>
              <a:t>gimbal</a:t>
            </a:r>
            <a:r>
              <a:rPr lang="es-CO" sz="1800" dirty="0">
                <a:effectLst/>
                <a:latin typeface="Humanst521 BT" panose="020B0602020204020204" pitchFamily="34" charset="0"/>
                <a:ea typeface="Humanst521 BT" panose="020B0602020204020204" pitchFamily="34" charset="0"/>
                <a:cs typeface="Times New Roman" panose="02020603050405020304" pitchFamily="18" charset="0"/>
              </a:rPr>
              <a:t> (el soporte que estabiliza la cámara) sin obstrucciones.</a:t>
            </a:r>
          </a:p>
          <a:p>
            <a:pPr marL="342900" lvl="0" indent="-342900" algn="just">
              <a:lnSpc>
                <a:spcPct val="107000"/>
              </a:lnSpc>
              <a:buFont typeface="Symbol" panose="05050102010706020507" pitchFamily="18" charset="2"/>
              <a:buChar char=""/>
            </a:pPr>
            <a:r>
              <a:rPr lang="es-CO" sz="1800" b="1" dirty="0">
                <a:effectLst/>
                <a:latin typeface="Humanst521 BT" panose="020B0602020204020204" pitchFamily="34" charset="0"/>
                <a:ea typeface="Humanst521 BT" panose="020B0602020204020204" pitchFamily="34" charset="0"/>
                <a:cs typeface="Times New Roman" panose="02020603050405020304" pitchFamily="18" charset="0"/>
              </a:rPr>
              <a:t>Baterías:</a:t>
            </a:r>
            <a:r>
              <a:rPr lang="es-CO" sz="1800" dirty="0">
                <a:effectLst/>
                <a:latin typeface="Humanst521 BT" panose="020B0602020204020204" pitchFamily="34" charset="0"/>
                <a:ea typeface="Humanst521 BT" panose="020B0602020204020204" pitchFamily="34" charset="0"/>
                <a:cs typeface="Times New Roman" panose="02020603050405020304" pitchFamily="18" charset="0"/>
              </a:rPr>
              <a:t> cargadas al 100%, revisar el número de ciclos de carga, y llevar baterías de repuesto según la duración estimada del vuelo (el M3M vuela cerca de 45 minutos por batería en condiciones ideales).</a:t>
            </a:r>
          </a:p>
          <a:p>
            <a:pPr marL="342900" lvl="0" indent="-342900" algn="just">
              <a:lnSpc>
                <a:spcPct val="107000"/>
              </a:lnSpc>
              <a:buFont typeface="Symbol" panose="05050102010706020507" pitchFamily="18" charset="2"/>
              <a:buChar char=""/>
            </a:pPr>
            <a:r>
              <a:rPr lang="es-CO" sz="1800" b="1" dirty="0">
                <a:effectLst/>
                <a:latin typeface="Humanst521 BT" panose="020B0602020204020204" pitchFamily="34" charset="0"/>
                <a:ea typeface="Humanst521 BT" panose="020B0602020204020204" pitchFamily="34" charset="0"/>
                <a:cs typeface="Times New Roman" panose="02020603050405020304" pitchFamily="18" charset="0"/>
              </a:rPr>
              <a:t>Tarjeta de memoria: </a:t>
            </a:r>
            <a:r>
              <a:rPr lang="es-CO" sz="1800" dirty="0">
                <a:effectLst/>
                <a:latin typeface="Humanst521 BT" panose="020B0602020204020204" pitchFamily="34" charset="0"/>
                <a:ea typeface="Humanst521 BT" panose="020B0602020204020204" pitchFamily="34" charset="0"/>
                <a:cs typeface="Times New Roman" panose="02020603050405020304" pitchFamily="18" charset="0"/>
              </a:rPr>
              <a:t>con espacio suficiente y formateada antes del vuelo.</a:t>
            </a:r>
          </a:p>
          <a:p>
            <a:pPr marL="342900" lvl="0" indent="-342900" algn="just">
              <a:lnSpc>
                <a:spcPct val="107000"/>
              </a:lnSpc>
              <a:buFont typeface="Symbol" panose="05050102010706020507" pitchFamily="18" charset="2"/>
              <a:buChar char=""/>
            </a:pPr>
            <a:r>
              <a:rPr lang="es-CO" sz="1800" b="1" dirty="0">
                <a:effectLst/>
                <a:latin typeface="Humanst521 BT" panose="020B0602020204020204" pitchFamily="34" charset="0"/>
                <a:ea typeface="Humanst521 BT" panose="020B0602020204020204" pitchFamily="34" charset="0"/>
                <a:cs typeface="Times New Roman" panose="02020603050405020304" pitchFamily="18" charset="0"/>
              </a:rPr>
              <a:t>Calibración de sensores:</a:t>
            </a:r>
            <a:r>
              <a:rPr lang="es-CO" sz="1800" dirty="0">
                <a:effectLst/>
                <a:latin typeface="Humanst521 BT" panose="020B0602020204020204" pitchFamily="34" charset="0"/>
                <a:ea typeface="Humanst521 BT" panose="020B0602020204020204" pitchFamily="34" charset="0"/>
                <a:cs typeface="Times New Roman" panose="02020603050405020304" pitchFamily="18" charset="0"/>
              </a:rPr>
              <a:t> el M3M incluye un sensor de luz solar (</a:t>
            </a:r>
            <a:r>
              <a:rPr lang="es-CO" sz="1800" dirty="0" err="1">
                <a:effectLst/>
                <a:latin typeface="Humanst521 BT" panose="020B0602020204020204" pitchFamily="34" charset="0"/>
                <a:ea typeface="Humanst521 BT" panose="020B0602020204020204" pitchFamily="34" charset="0"/>
                <a:cs typeface="Times New Roman" panose="02020603050405020304" pitchFamily="18" charset="0"/>
              </a:rPr>
              <a:t>spectral</a:t>
            </a:r>
            <a:r>
              <a:rPr lang="es-CO" sz="1800" dirty="0">
                <a:effectLst/>
                <a:latin typeface="Humanst521 BT" panose="020B0602020204020204" pitchFamily="34" charset="0"/>
                <a:ea typeface="Humanst521 BT" panose="020B0602020204020204" pitchFamily="34" charset="0"/>
                <a:cs typeface="Times New Roman" panose="02020603050405020304" pitchFamily="18" charset="0"/>
              </a:rPr>
              <a:t> </a:t>
            </a:r>
            <a:r>
              <a:rPr lang="es-CO" sz="1800" dirty="0" err="1">
                <a:effectLst/>
                <a:latin typeface="Humanst521 BT" panose="020B0602020204020204" pitchFamily="34" charset="0"/>
                <a:ea typeface="Humanst521 BT" panose="020B0602020204020204" pitchFamily="34" charset="0"/>
                <a:cs typeface="Times New Roman" panose="02020603050405020304" pitchFamily="18" charset="0"/>
              </a:rPr>
              <a:t>sunlight</a:t>
            </a:r>
            <a:r>
              <a:rPr lang="es-CO" sz="1800" dirty="0">
                <a:effectLst/>
                <a:latin typeface="Humanst521 BT" panose="020B0602020204020204" pitchFamily="34" charset="0"/>
                <a:ea typeface="Humanst521 BT" panose="020B0602020204020204" pitchFamily="34" charset="0"/>
                <a:cs typeface="Times New Roman" panose="02020603050405020304" pitchFamily="18" charset="0"/>
              </a:rPr>
              <a:t> sensor) que se debe calibrar antes de cada vuelo apuntándolo al cielo; esto corrige la información multiespectral según la luz del momento.</a:t>
            </a:r>
          </a:p>
          <a:p>
            <a:pPr marL="342900" lvl="0" indent="-342900" algn="just">
              <a:lnSpc>
                <a:spcPct val="107000"/>
              </a:lnSpc>
              <a:buFont typeface="Symbol" panose="05050102010706020507" pitchFamily="18" charset="2"/>
              <a:buChar char=""/>
            </a:pPr>
            <a:r>
              <a:rPr lang="es-CO" sz="1800" b="1" dirty="0">
                <a:effectLst/>
                <a:latin typeface="Humanst521 BT" panose="020B0602020204020204" pitchFamily="34" charset="0"/>
                <a:ea typeface="Humanst521 BT" panose="020B0602020204020204" pitchFamily="34" charset="0"/>
                <a:cs typeface="Times New Roman" panose="02020603050405020304" pitchFamily="18" charset="0"/>
              </a:rPr>
              <a:t>Conexión con el control remoto y la app:</a:t>
            </a:r>
            <a:r>
              <a:rPr lang="es-CO" sz="1800" dirty="0">
                <a:effectLst/>
                <a:latin typeface="Humanst521 BT" panose="020B0602020204020204" pitchFamily="34" charset="0"/>
                <a:ea typeface="Humanst521 BT" panose="020B0602020204020204" pitchFamily="34" charset="0"/>
                <a:cs typeface="Times New Roman" panose="02020603050405020304" pitchFamily="18" charset="0"/>
              </a:rPr>
              <a:t> en este caso, DJI </a:t>
            </a:r>
            <a:r>
              <a:rPr lang="es-CO" sz="1800" dirty="0" err="1">
                <a:effectLst/>
                <a:latin typeface="Humanst521 BT" panose="020B0602020204020204" pitchFamily="34" charset="0"/>
                <a:ea typeface="Humanst521 BT" panose="020B0602020204020204" pitchFamily="34" charset="0"/>
                <a:cs typeface="Times New Roman" panose="02020603050405020304" pitchFamily="18" charset="0"/>
              </a:rPr>
              <a:t>Pilot</a:t>
            </a:r>
            <a:r>
              <a:rPr lang="es-CO" sz="1800" dirty="0">
                <a:effectLst/>
                <a:latin typeface="Humanst521 BT" panose="020B0602020204020204" pitchFamily="34" charset="0"/>
                <a:ea typeface="Humanst521 BT" panose="020B0602020204020204" pitchFamily="34" charset="0"/>
                <a:cs typeface="Times New Roman" panose="02020603050405020304" pitchFamily="18" charset="0"/>
              </a:rPr>
              <a:t> 2, donde se configura el vuelo, se ve la señal GPS, batería, y el video en vivo.</a:t>
            </a:r>
          </a:p>
          <a:p>
            <a:pPr marL="342900" lvl="0" indent="-342900" algn="just">
              <a:lnSpc>
                <a:spcPct val="107000"/>
              </a:lnSpc>
              <a:spcAft>
                <a:spcPts val="800"/>
              </a:spcAft>
              <a:buFont typeface="Symbol" panose="05050102010706020507" pitchFamily="18" charset="2"/>
              <a:buChar char=""/>
            </a:pPr>
            <a:r>
              <a:rPr lang="es-CO" sz="1800" b="1" dirty="0">
                <a:effectLst/>
                <a:latin typeface="Humanst521 BT" panose="020B0602020204020204" pitchFamily="34" charset="0"/>
                <a:ea typeface="Humanst521 BT" panose="020B0602020204020204" pitchFamily="34" charset="0"/>
                <a:cs typeface="Times New Roman" panose="02020603050405020304" pitchFamily="18" charset="0"/>
              </a:rPr>
              <a:t>Módulo RTK (si se usa):</a:t>
            </a:r>
            <a:r>
              <a:rPr lang="es-CO" sz="1800" dirty="0">
                <a:effectLst/>
                <a:latin typeface="Humanst521 BT" panose="020B0602020204020204" pitchFamily="34" charset="0"/>
                <a:ea typeface="Humanst521 BT" panose="020B0602020204020204" pitchFamily="34" charset="0"/>
                <a:cs typeface="Times New Roman" panose="02020603050405020304" pitchFamily="18" charset="0"/>
              </a:rPr>
              <a:t> si el equipo tiene módulo RTK, se conecta a una red de corrección (como una base propia o un servicio NTRIP) para lograr precisión </a:t>
            </a:r>
            <a:r>
              <a:rPr lang="es-CO" sz="1800" dirty="0" err="1">
                <a:effectLst/>
                <a:latin typeface="Humanst521 BT" panose="020B0602020204020204" pitchFamily="34" charset="0"/>
                <a:ea typeface="Humanst521 BT" panose="020B0602020204020204" pitchFamily="34" charset="0"/>
                <a:cs typeface="Times New Roman" panose="02020603050405020304" pitchFamily="18" charset="0"/>
              </a:rPr>
              <a:t>centimétrica</a:t>
            </a:r>
            <a:r>
              <a:rPr lang="es-CO" sz="1800" dirty="0">
                <a:effectLst/>
                <a:latin typeface="Humanst521 BT" panose="020B0602020204020204" pitchFamily="34" charset="0"/>
                <a:ea typeface="Humanst521 BT" panose="020B0602020204020204" pitchFamily="34" charset="0"/>
                <a:cs typeface="Times New Roman" panose="02020603050405020304" pitchFamily="18" charset="0"/>
              </a:rPr>
              <a:t> sin depender tanto de los GCP.</a:t>
            </a:r>
          </a:p>
          <a:p>
            <a:pPr algn="just">
              <a:lnSpc>
                <a:spcPct val="107000"/>
              </a:lnSpc>
              <a:spcAft>
                <a:spcPts val="800"/>
              </a:spcAft>
            </a:pPr>
            <a:r>
              <a:rPr lang="es-CO" sz="1800" b="1" dirty="0">
                <a:effectLst/>
                <a:highlight>
                  <a:srgbClr val="FFFF00"/>
                </a:highlight>
                <a:latin typeface="Humanst521 BT" panose="020B0602020204020204" pitchFamily="34" charset="0"/>
                <a:ea typeface="Humanst521 BT" panose="020B0602020204020204" pitchFamily="34" charset="0"/>
                <a:cs typeface="Times New Roman" panose="02020603050405020304" pitchFamily="18" charset="0"/>
              </a:rPr>
              <a:t>IMPORTANTE: Para poder realizar cualquier vuelo es importante que toda la comprobación se encuentre en modo normal.</a:t>
            </a:r>
            <a:endParaRPr lang="es-CO" sz="1800" dirty="0">
              <a:effectLst/>
              <a:latin typeface="Humanst521 BT" panose="020B0602020204020204" pitchFamily="34" charset="0"/>
              <a:ea typeface="Humanst521 BT" panose="020B0602020204020204" pitchFamily="34" charset="0"/>
              <a:cs typeface="Times New Roman" panose="02020603050405020304" pitchFamily="18" charset="0"/>
            </a:endParaRPr>
          </a:p>
        </p:txBody>
      </p:sp>
    </p:spTree>
    <p:extLst>
      <p:ext uri="{BB962C8B-B14F-4D97-AF65-F5344CB8AC3E}">
        <p14:creationId xmlns:p14="http://schemas.microsoft.com/office/powerpoint/2010/main" val="21007300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0497F7F-2A37-8048-8776-D9059AAD3287}"/>
              </a:ext>
            </a:extLst>
          </p:cNvPr>
          <p:cNvSpPr txBox="1"/>
          <p:nvPr/>
        </p:nvSpPr>
        <p:spPr>
          <a:xfrm>
            <a:off x="948909" y="646981"/>
            <a:ext cx="6650966" cy="763542"/>
          </a:xfrm>
          <a:prstGeom prst="rect">
            <a:avLst/>
          </a:prstGeom>
          <a:noFill/>
        </p:spPr>
        <p:txBody>
          <a:bodyPr wrap="square" rtlCol="0">
            <a:spAutoFit/>
          </a:bodyPr>
          <a:lstStyle/>
          <a:p>
            <a:pPr>
              <a:lnSpc>
                <a:spcPct val="107000"/>
              </a:lnSpc>
              <a:spcAft>
                <a:spcPts val="800"/>
              </a:spcAft>
            </a:pPr>
            <a:r>
              <a:rPr lang="es-ES" sz="4400" b="1" dirty="0">
                <a:effectLst/>
                <a:latin typeface="Myriad Pro Semibold" panose="020B0503030403020204"/>
                <a:ea typeface="Humanst521 BT" panose="020B0602020204020204" pitchFamily="34" charset="0"/>
                <a:cs typeface="Times New Roman" panose="02020603050405020304" pitchFamily="18" charset="0"/>
              </a:rPr>
              <a:t>PÁRAMETROS VUELO</a:t>
            </a:r>
            <a:endParaRPr lang="es-CO" sz="4400" dirty="0">
              <a:effectLst/>
              <a:latin typeface="Myriad Pro Semibold" panose="020B0503030403020204"/>
              <a:ea typeface="Humanst521 BT" panose="020B0602020204020204" pitchFamily="34" charset="0"/>
              <a:cs typeface="Times New Roman" panose="02020603050405020304" pitchFamily="18" charset="0"/>
            </a:endParaRPr>
          </a:p>
        </p:txBody>
      </p:sp>
      <p:sp>
        <p:nvSpPr>
          <p:cNvPr id="4" name="CuadroTexto 3">
            <a:extLst>
              <a:ext uri="{FF2B5EF4-FFF2-40B4-BE49-F238E27FC236}">
                <a16:creationId xmlns:a16="http://schemas.microsoft.com/office/drawing/2014/main" id="{E4D7B1B1-81E9-6BF6-4997-E90751395502}"/>
              </a:ext>
            </a:extLst>
          </p:cNvPr>
          <p:cNvSpPr txBox="1"/>
          <p:nvPr/>
        </p:nvSpPr>
        <p:spPr>
          <a:xfrm>
            <a:off x="303726" y="1589946"/>
            <a:ext cx="11888273" cy="3447034"/>
          </a:xfrm>
          <a:prstGeom prst="rect">
            <a:avLst/>
          </a:prstGeom>
          <a:noFill/>
        </p:spPr>
        <p:txBody>
          <a:bodyPr wrap="square">
            <a:spAutoFit/>
          </a:bodyPr>
          <a:lstStyle/>
          <a:p>
            <a:pPr>
              <a:lnSpc>
                <a:spcPct val="107000"/>
              </a:lnSpc>
              <a:spcAft>
                <a:spcPts val="800"/>
              </a:spcAft>
            </a:pP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Aquí se configuran, dentro de la app, los ajustes técnicos que determinan la calidad y el uso del mapa resultante.</a:t>
            </a:r>
          </a:p>
          <a:p>
            <a:pPr>
              <a:lnSpc>
                <a:spcPct val="107000"/>
              </a:lnSpc>
              <a:spcAft>
                <a:spcPts val="800"/>
              </a:spcAft>
            </a:pP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	Altura de vuelo: a mayor altura, se cubre más terreno por vuelo, pero con menor detalle (menor resolución). A menor altura, más detalle, pero más tiempo de vuelo y más fotos.</a:t>
            </a:r>
          </a:p>
          <a:p>
            <a:pPr>
              <a:lnSpc>
                <a:spcPct val="107000"/>
              </a:lnSpc>
              <a:spcAft>
                <a:spcPts val="800"/>
              </a:spcAft>
            </a:pP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o	ASL (</a:t>
            </a:r>
            <a:r>
              <a:rPr lang="es-ES" sz="1800" dirty="0" err="1">
                <a:effectLst/>
                <a:latin typeface="Humanst521 BT" panose="020B0602020204020204" pitchFamily="34" charset="0"/>
                <a:ea typeface="Humanst521 BT" panose="020B0602020204020204" pitchFamily="34" charset="0"/>
                <a:cs typeface="Times New Roman" panose="02020603050405020304" pitchFamily="18" charset="0"/>
              </a:rPr>
              <a:t>Above</a:t>
            </a: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 Sea </a:t>
            </a:r>
            <a:r>
              <a:rPr lang="es-ES" sz="1800" dirty="0" err="1">
                <a:effectLst/>
                <a:latin typeface="Humanst521 BT" panose="020B0602020204020204" pitchFamily="34" charset="0"/>
                <a:ea typeface="Humanst521 BT" panose="020B0602020204020204" pitchFamily="34" charset="0"/>
                <a:cs typeface="Times New Roman" panose="02020603050405020304" pitchFamily="18" charset="0"/>
              </a:rPr>
              <a:t>Level</a:t>
            </a: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 Altura sobre el nivel medio del mar. Utiliza el sistema GPS del dron para calcular la altitud respecto al elipsoide de la Tierra o el nivel del mar global.</a:t>
            </a:r>
          </a:p>
          <a:p>
            <a:pPr>
              <a:lnSpc>
                <a:spcPct val="107000"/>
              </a:lnSpc>
              <a:spcAft>
                <a:spcPts val="800"/>
              </a:spcAft>
            </a:pP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o	ALT (</a:t>
            </a:r>
            <a:r>
              <a:rPr lang="es-ES" sz="1800" dirty="0" err="1">
                <a:effectLst/>
                <a:latin typeface="Humanst521 BT" panose="020B0602020204020204" pitchFamily="34" charset="0"/>
                <a:ea typeface="Humanst521 BT" panose="020B0602020204020204" pitchFamily="34" charset="0"/>
                <a:cs typeface="Times New Roman" panose="02020603050405020304" pitchFamily="18" charset="0"/>
              </a:rPr>
              <a:t>Above</a:t>
            </a: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 </a:t>
            </a:r>
            <a:r>
              <a:rPr lang="es-ES" sz="1800" dirty="0" err="1">
                <a:effectLst/>
                <a:latin typeface="Humanst521 BT" panose="020B0602020204020204" pitchFamily="34" charset="0"/>
                <a:ea typeface="Humanst521 BT" panose="020B0602020204020204" pitchFamily="34" charset="0"/>
                <a:cs typeface="Times New Roman" panose="02020603050405020304" pitchFamily="18" charset="0"/>
              </a:rPr>
              <a:t>Takeoff</a:t>
            </a: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 Altura sobre el punto de despegue. Al encender el dron y captar los satélites en el suelo, el dron marca ese punto como la altura 0 metros. Toda la altura que suba o baje se medirá desde ese punto inicial. Es el número principal que ves en tu pantalla de vuelo (generalmente abajo a la izquierda como "H" o "Alt"). Te ayuda a saber de forma sencilla qué tan alto estás respecto al suelo donde estás parado para no chocar con árboles o edificios.</a:t>
            </a:r>
          </a:p>
          <a:p>
            <a:pPr>
              <a:lnSpc>
                <a:spcPct val="107000"/>
              </a:lnSpc>
              <a:spcAft>
                <a:spcPts val="800"/>
              </a:spcAft>
            </a:pP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	GSD (</a:t>
            </a:r>
            <a:r>
              <a:rPr lang="es-ES" sz="1800" dirty="0" err="1">
                <a:effectLst/>
                <a:latin typeface="Humanst521 BT" panose="020B0602020204020204" pitchFamily="34" charset="0"/>
                <a:ea typeface="Humanst521 BT" panose="020B0602020204020204" pitchFamily="34" charset="0"/>
                <a:cs typeface="Times New Roman" panose="02020603050405020304" pitchFamily="18" charset="0"/>
              </a:rPr>
              <a:t>Ground</a:t>
            </a: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 </a:t>
            </a:r>
            <a:r>
              <a:rPr lang="es-ES" sz="1800" dirty="0" err="1">
                <a:effectLst/>
                <a:latin typeface="Humanst521 BT" panose="020B0602020204020204" pitchFamily="34" charset="0"/>
                <a:ea typeface="Humanst521 BT" panose="020B0602020204020204" pitchFamily="34" charset="0"/>
                <a:cs typeface="Times New Roman" panose="02020603050405020304" pitchFamily="18" charset="0"/>
              </a:rPr>
              <a:t>Sample</a:t>
            </a: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 </a:t>
            </a:r>
            <a:r>
              <a:rPr lang="es-ES" sz="1800" dirty="0" err="1">
                <a:effectLst/>
                <a:latin typeface="Humanst521 BT" panose="020B0602020204020204" pitchFamily="34" charset="0"/>
                <a:ea typeface="Humanst521 BT" panose="020B0602020204020204" pitchFamily="34" charset="0"/>
                <a:cs typeface="Times New Roman" panose="02020603050405020304" pitchFamily="18" charset="0"/>
              </a:rPr>
              <a:t>Distance</a:t>
            </a: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 es la distancia real en el terreno que representa cada píxel de la foto. Ejemplo un</a:t>
            </a:r>
          </a:p>
        </p:txBody>
      </p:sp>
    </p:spTree>
    <p:extLst>
      <p:ext uri="{BB962C8B-B14F-4D97-AF65-F5344CB8AC3E}">
        <p14:creationId xmlns:p14="http://schemas.microsoft.com/office/powerpoint/2010/main" val="24644963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0497F7F-2A37-8048-8776-D9059AAD3287}"/>
              </a:ext>
            </a:extLst>
          </p:cNvPr>
          <p:cNvSpPr txBox="1"/>
          <p:nvPr/>
        </p:nvSpPr>
        <p:spPr>
          <a:xfrm>
            <a:off x="983413" y="646981"/>
            <a:ext cx="6650966" cy="763542"/>
          </a:xfrm>
          <a:prstGeom prst="rect">
            <a:avLst/>
          </a:prstGeom>
          <a:noFill/>
        </p:spPr>
        <p:txBody>
          <a:bodyPr wrap="square" rtlCol="0">
            <a:spAutoFit/>
          </a:bodyPr>
          <a:lstStyle/>
          <a:p>
            <a:pPr>
              <a:lnSpc>
                <a:spcPct val="107000"/>
              </a:lnSpc>
              <a:spcAft>
                <a:spcPts val="800"/>
              </a:spcAft>
            </a:pPr>
            <a:r>
              <a:rPr lang="es-ES" sz="4400" b="1" dirty="0">
                <a:effectLst/>
                <a:latin typeface="Myriad Pro Semibold" panose="020B0503030403020204"/>
                <a:ea typeface="Humanst521 BT" panose="020B0602020204020204" pitchFamily="34" charset="0"/>
                <a:cs typeface="Times New Roman" panose="02020603050405020304" pitchFamily="18" charset="0"/>
              </a:rPr>
              <a:t>PÁRAMETROS</a:t>
            </a:r>
            <a:r>
              <a:rPr lang="es-ES" sz="2000" b="1" dirty="0">
                <a:effectLst/>
                <a:latin typeface="Myriad Pro Semibold" panose="020B0503030403020204"/>
                <a:ea typeface="Humanst521 BT" panose="020B0602020204020204" pitchFamily="34" charset="0"/>
                <a:cs typeface="Times New Roman" panose="02020603050405020304" pitchFamily="18" charset="0"/>
              </a:rPr>
              <a:t> </a:t>
            </a:r>
            <a:r>
              <a:rPr lang="es-ES" sz="4400" b="1" dirty="0">
                <a:effectLst/>
                <a:latin typeface="Myriad Pro Semibold" panose="020B0503030403020204"/>
                <a:ea typeface="Humanst521 BT" panose="020B0602020204020204" pitchFamily="34" charset="0"/>
                <a:cs typeface="Times New Roman" panose="02020603050405020304" pitchFamily="18" charset="0"/>
              </a:rPr>
              <a:t>VUELO</a:t>
            </a:r>
            <a:endParaRPr lang="es-CO" sz="4400" dirty="0">
              <a:effectLst/>
              <a:latin typeface="Myriad Pro Semibold" panose="020B0503030403020204"/>
              <a:ea typeface="Humanst521 BT" panose="020B0602020204020204" pitchFamily="34" charset="0"/>
              <a:cs typeface="Times New Roman" panose="02020603050405020304" pitchFamily="18" charset="0"/>
            </a:endParaRPr>
          </a:p>
        </p:txBody>
      </p:sp>
      <p:sp>
        <p:nvSpPr>
          <p:cNvPr id="4" name="CuadroTexto 3">
            <a:extLst>
              <a:ext uri="{FF2B5EF4-FFF2-40B4-BE49-F238E27FC236}">
                <a16:creationId xmlns:a16="http://schemas.microsoft.com/office/drawing/2014/main" id="{E4D7B1B1-81E9-6BF6-4997-E90751395502}"/>
              </a:ext>
            </a:extLst>
          </p:cNvPr>
          <p:cNvSpPr txBox="1"/>
          <p:nvPr/>
        </p:nvSpPr>
        <p:spPr>
          <a:xfrm>
            <a:off x="303726" y="1589946"/>
            <a:ext cx="11888273" cy="4039760"/>
          </a:xfrm>
          <a:prstGeom prst="rect">
            <a:avLst/>
          </a:prstGeom>
          <a:noFill/>
        </p:spPr>
        <p:txBody>
          <a:bodyPr wrap="square">
            <a:spAutoFit/>
          </a:bodyPr>
          <a:lstStyle/>
          <a:p>
            <a:pPr>
              <a:lnSpc>
                <a:spcPct val="107000"/>
              </a:lnSpc>
              <a:spcAft>
                <a:spcPts val="800"/>
              </a:spcAft>
            </a:pP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	Solape (</a:t>
            </a:r>
            <a:r>
              <a:rPr lang="es-ES" sz="1800" dirty="0" err="1">
                <a:effectLst/>
                <a:latin typeface="Humanst521 BT" panose="020B0602020204020204" pitchFamily="34" charset="0"/>
                <a:ea typeface="Humanst521 BT" panose="020B0602020204020204" pitchFamily="34" charset="0"/>
                <a:cs typeface="Times New Roman" panose="02020603050405020304" pitchFamily="18" charset="0"/>
              </a:rPr>
              <a:t>overlap</a:t>
            </a: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 frontal y lateral: porcentaje en que se traslapan las fotos entre sí (usualmente 70-80% frontal y 60-70% lateral). Es indispensable para que el software de fotogrametría (como DJI Terra o Pix4D) pueda reconstruir el mapa y el modelo 3D correctamente.</a:t>
            </a:r>
          </a:p>
          <a:p>
            <a:pPr>
              <a:lnSpc>
                <a:spcPct val="107000"/>
              </a:lnSpc>
              <a:spcAft>
                <a:spcPts val="800"/>
              </a:spcAft>
            </a:pPr>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	Velocidad de vuelo: debe ser coherente con el solape configurado; volar muy rápido puede generar fotos borrosas o insuficiente traslape.</a:t>
            </a:r>
          </a:p>
          <a:p>
            <a:pPr marL="342900" lvl="0" indent="-342900" algn="just">
              <a:lnSpc>
                <a:spcPct val="107000"/>
              </a:lnSpc>
              <a:buFont typeface="Symbol" panose="05050102010706020507" pitchFamily="18" charset="2"/>
              <a:buChar char=""/>
            </a:pPr>
            <a:r>
              <a:rPr lang="es-CO" sz="1800" b="1" dirty="0">
                <a:effectLst/>
                <a:latin typeface="Humanst521 BT" panose="020B0602020204020204" pitchFamily="34" charset="0"/>
                <a:ea typeface="Humanst521 BT" panose="020B0602020204020204" pitchFamily="34" charset="0"/>
                <a:cs typeface="Times New Roman" panose="02020603050405020304" pitchFamily="18" charset="0"/>
              </a:rPr>
              <a:t>Ángulo de la cámara</a:t>
            </a:r>
            <a:r>
              <a:rPr lang="es-CO" sz="1800" dirty="0">
                <a:effectLst/>
                <a:latin typeface="Humanst521 BT" panose="020B0602020204020204" pitchFamily="34" charset="0"/>
                <a:ea typeface="Humanst521 BT" panose="020B0602020204020204" pitchFamily="34" charset="0"/>
                <a:cs typeface="Times New Roman" panose="02020603050405020304" pitchFamily="18" charset="0"/>
              </a:rPr>
              <a:t>: normalmente en nadir (90°, mirando hacia abajo) para mapeo; a veces se agregan fotos oblicuas para mejorar la reconstrucción 3D de fachadas o taludes.</a:t>
            </a:r>
          </a:p>
          <a:p>
            <a:pPr marL="342900" lvl="0" indent="-342900" algn="just">
              <a:lnSpc>
                <a:spcPct val="107000"/>
              </a:lnSpc>
              <a:spcAft>
                <a:spcPts val="800"/>
              </a:spcAft>
              <a:buFont typeface="Symbol" panose="05050102010706020507" pitchFamily="18" charset="2"/>
              <a:buChar char=""/>
            </a:pPr>
            <a:r>
              <a:rPr lang="es-CO" sz="1800" b="1" dirty="0">
                <a:effectLst/>
                <a:latin typeface="Humanst521 BT" panose="020B0602020204020204" pitchFamily="34" charset="0"/>
                <a:ea typeface="Humanst521 BT" panose="020B0602020204020204" pitchFamily="34" charset="0"/>
                <a:cs typeface="Times New Roman" panose="02020603050405020304" pitchFamily="18" charset="0"/>
              </a:rPr>
              <a:t>Patrón de vuelo:</a:t>
            </a:r>
            <a:r>
              <a:rPr lang="es-CO" sz="1800" dirty="0">
                <a:effectLst/>
                <a:latin typeface="Humanst521 BT" panose="020B0602020204020204" pitchFamily="34" charset="0"/>
                <a:ea typeface="Humanst521 BT" panose="020B0602020204020204" pitchFamily="34" charset="0"/>
                <a:cs typeface="Times New Roman" panose="02020603050405020304" pitchFamily="18" charset="0"/>
              </a:rPr>
              <a:t> en franjas paralelas (el más común para mapeo) o en cuadrícula doble para modelos 3D más precisos.</a:t>
            </a:r>
          </a:p>
          <a:p>
            <a:pPr algn="just">
              <a:lnSpc>
                <a:spcPct val="107000"/>
              </a:lnSpc>
              <a:spcAft>
                <a:spcPts val="800"/>
              </a:spcAft>
            </a:pPr>
            <a:r>
              <a:rPr lang="es-CO" sz="1800" dirty="0">
                <a:effectLst/>
                <a:latin typeface="Humanst521 BT" panose="020B0602020204020204" pitchFamily="34" charset="0"/>
                <a:ea typeface="Humanst521 BT" panose="020B0602020204020204" pitchFamily="34" charset="0"/>
                <a:cs typeface="Times New Roman" panose="02020603050405020304" pitchFamily="18" charset="0"/>
              </a:rPr>
              <a:t>El programa mostrará la respectiva lista de chequeo (</a:t>
            </a:r>
            <a:r>
              <a:rPr lang="es-CO" sz="1800" b="1" dirty="0">
                <a:effectLst/>
                <a:latin typeface="Humanst521 BT" panose="020B0602020204020204" pitchFamily="34" charset="0"/>
                <a:ea typeface="Humanst521 BT" panose="020B0602020204020204" pitchFamily="34" charset="0"/>
                <a:cs typeface="Times New Roman" panose="02020603050405020304" pitchFamily="18" charset="0"/>
              </a:rPr>
              <a:t>No se debe omitir nunca).</a:t>
            </a:r>
            <a:endParaRPr lang="es-CO" sz="1800" dirty="0">
              <a:effectLst/>
              <a:latin typeface="Humanst521 BT" panose="020B0602020204020204" pitchFamily="34" charset="0"/>
              <a:ea typeface="Humanst521 BT" panose="020B0602020204020204" pitchFamily="34" charset="0"/>
              <a:cs typeface="Times New Roman" panose="02020603050405020304" pitchFamily="18" charset="0"/>
            </a:endParaRPr>
          </a:p>
          <a:p>
            <a:pPr algn="just">
              <a:lnSpc>
                <a:spcPct val="107000"/>
              </a:lnSpc>
              <a:spcAft>
                <a:spcPts val="800"/>
              </a:spcAft>
            </a:pPr>
            <a:r>
              <a:rPr lang="es-CO" sz="1800" dirty="0">
                <a:effectLst/>
                <a:latin typeface="Humanst521 BT" panose="020B0602020204020204" pitchFamily="34" charset="0"/>
                <a:ea typeface="Humanst521 BT" panose="020B0602020204020204" pitchFamily="34" charset="0"/>
                <a:cs typeface="Times New Roman" panose="02020603050405020304" pitchFamily="18" charset="0"/>
              </a:rPr>
              <a:t>Configure la altitud del retorno a casa, la altitud máxima, el punto de origen, en qué porcentaje generara alerta de batería baja, que hacer en caso de pérdida de señal, cual es la distancia máxima de vuelo, que hacer en caso de colisión y la distancia de objetos para generación de alertas.</a:t>
            </a:r>
          </a:p>
        </p:txBody>
      </p:sp>
    </p:spTree>
    <p:extLst>
      <p:ext uri="{BB962C8B-B14F-4D97-AF65-F5344CB8AC3E}">
        <p14:creationId xmlns:p14="http://schemas.microsoft.com/office/powerpoint/2010/main" val="40785208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0497F7F-2A37-8048-8776-D9059AAD3287}"/>
              </a:ext>
            </a:extLst>
          </p:cNvPr>
          <p:cNvSpPr txBox="1"/>
          <p:nvPr/>
        </p:nvSpPr>
        <p:spPr>
          <a:xfrm>
            <a:off x="1000666" y="646981"/>
            <a:ext cx="6650966" cy="763542"/>
          </a:xfrm>
          <a:prstGeom prst="rect">
            <a:avLst/>
          </a:prstGeom>
          <a:noFill/>
        </p:spPr>
        <p:txBody>
          <a:bodyPr wrap="square" rtlCol="0">
            <a:spAutoFit/>
          </a:bodyPr>
          <a:lstStyle/>
          <a:p>
            <a:pPr>
              <a:lnSpc>
                <a:spcPct val="107000"/>
              </a:lnSpc>
              <a:spcAft>
                <a:spcPts val="800"/>
              </a:spcAft>
            </a:pPr>
            <a:r>
              <a:rPr lang="es-ES" sz="4400" b="1" dirty="0">
                <a:effectLst/>
                <a:latin typeface="Myriad Pro Semibold" panose="020B0503030403020204"/>
                <a:ea typeface="Humanst521 BT" panose="020B0602020204020204" pitchFamily="34" charset="0"/>
                <a:cs typeface="Times New Roman" panose="02020603050405020304" pitchFamily="18" charset="0"/>
              </a:rPr>
              <a:t>PÁRAMETROS VUELO</a:t>
            </a:r>
            <a:endParaRPr lang="es-CO" sz="4400" dirty="0">
              <a:effectLst/>
              <a:latin typeface="Myriad Pro Semibold" panose="020B0503030403020204"/>
              <a:ea typeface="Humanst521 BT" panose="020B0602020204020204" pitchFamily="34" charset="0"/>
              <a:cs typeface="Times New Roman" panose="02020603050405020304" pitchFamily="18" charset="0"/>
            </a:endParaRPr>
          </a:p>
        </p:txBody>
      </p:sp>
      <p:pic>
        <p:nvPicPr>
          <p:cNvPr id="3" name="Imagen 2">
            <a:extLst>
              <a:ext uri="{FF2B5EF4-FFF2-40B4-BE49-F238E27FC236}">
                <a16:creationId xmlns:a16="http://schemas.microsoft.com/office/drawing/2014/main" id="{532974B6-FA69-9105-C9E6-51D76DFA344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1609" y="1772285"/>
            <a:ext cx="5943600" cy="3313430"/>
          </a:xfrm>
          <a:prstGeom prst="rect">
            <a:avLst/>
          </a:prstGeom>
          <a:noFill/>
          <a:ln>
            <a:noFill/>
          </a:ln>
        </p:spPr>
      </p:pic>
      <p:sp>
        <p:nvSpPr>
          <p:cNvPr id="6" name="CuadroTexto 5">
            <a:extLst>
              <a:ext uri="{FF2B5EF4-FFF2-40B4-BE49-F238E27FC236}">
                <a16:creationId xmlns:a16="http://schemas.microsoft.com/office/drawing/2014/main" id="{63B0B2B5-A79A-AA5C-1816-E85F1B3EAF35}"/>
              </a:ext>
            </a:extLst>
          </p:cNvPr>
          <p:cNvSpPr txBox="1"/>
          <p:nvPr/>
        </p:nvSpPr>
        <p:spPr>
          <a:xfrm>
            <a:off x="8080420" y="2251498"/>
            <a:ext cx="4111580" cy="2172646"/>
          </a:xfrm>
          <a:prstGeom prst="rect">
            <a:avLst/>
          </a:prstGeom>
          <a:noFill/>
        </p:spPr>
        <p:txBody>
          <a:bodyPr wrap="square">
            <a:spAutoFit/>
          </a:bodyPr>
          <a:lstStyle/>
          <a:p>
            <a:pPr algn="just">
              <a:lnSpc>
                <a:spcPct val="107000"/>
              </a:lnSpc>
              <a:spcAft>
                <a:spcPts val="800"/>
              </a:spcAft>
              <a:tabLst>
                <a:tab pos="819150" algn="l"/>
              </a:tabLst>
            </a:pPr>
            <a:r>
              <a:rPr lang="es-CO" sz="1800" dirty="0">
                <a:effectLst/>
                <a:latin typeface="Humanst521 BT" panose="020B0602020204020204" pitchFamily="34" charset="0"/>
                <a:ea typeface="Humanst521 BT" panose="020B0602020204020204" pitchFamily="34" charset="0"/>
                <a:cs typeface="Times New Roman" panose="02020603050405020304" pitchFamily="18" charset="0"/>
              </a:rPr>
              <a:t>Al finalizar la configuración de su misión, guárdela. </a:t>
            </a:r>
            <a:endParaRPr lang="es-CO" sz="1600" dirty="0">
              <a:effectLst/>
              <a:latin typeface="Humanst521 BT" panose="020B0602020204020204" pitchFamily="34" charset="0"/>
              <a:ea typeface="Humanst521 BT" panose="020B0602020204020204" pitchFamily="34" charset="0"/>
              <a:cs typeface="Times New Roman" panose="02020603050405020304" pitchFamily="18" charset="0"/>
            </a:endParaRPr>
          </a:p>
          <a:p>
            <a:r>
              <a:rPr lang="es-ES" sz="1800" dirty="0">
                <a:effectLst/>
                <a:latin typeface="Humanst521 BT" panose="020B0602020204020204" pitchFamily="34" charset="0"/>
                <a:ea typeface="Humanst521 BT" panose="020B0602020204020204" pitchFamily="34" charset="0"/>
                <a:cs typeface="Times New Roman" panose="02020603050405020304" pitchFamily="18" charset="0"/>
              </a:rPr>
              <a:t>Configure el retorno a casa al terminar el vuelo, en caso de perder la señal y retorno en a casa inteligente para que, en caso de batería baja o finalización de la misión, el dron vuela al punto designado</a:t>
            </a:r>
            <a:endParaRPr lang="es-CO" dirty="0"/>
          </a:p>
        </p:txBody>
      </p:sp>
    </p:spTree>
    <p:extLst>
      <p:ext uri="{BB962C8B-B14F-4D97-AF65-F5344CB8AC3E}">
        <p14:creationId xmlns:p14="http://schemas.microsoft.com/office/powerpoint/2010/main" val="29951229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126B318-1BA3-7E4F-A215-BE9CF9F93485}"/>
              </a:ext>
            </a:extLst>
          </p:cNvPr>
          <p:cNvPicPr>
            <a:picLocks noChangeAspect="1"/>
          </p:cNvPicPr>
          <p:nvPr/>
        </p:nvPicPr>
        <p:blipFill>
          <a:blip r:embed="rId3"/>
          <a:src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58A23A7C-E497-E11E-A471-019A5D3AAF75}"/>
              </a:ext>
            </a:extLst>
          </p:cNvPr>
          <p:cNvSpPr>
            <a:spLocks noGrp="1"/>
          </p:cNvSpPr>
          <p:nvPr>
            <p:ph type="ctrTitle"/>
          </p:nvPr>
        </p:nvSpPr>
        <p:spPr/>
        <p:txBody>
          <a:bodyPr anchor="t">
            <a:normAutofit/>
          </a:bodyPr>
          <a:lstStyle/>
          <a:p>
            <a:r>
              <a:rPr lang="es-CO" sz="2800" dirty="0">
                <a:latin typeface="Humanst521 XBdCn BT" panose="020B0906030504020204" pitchFamily="34" charset="0"/>
                <a:hlinkClick r:id="rId4"/>
              </a:rPr>
              <a:t>https://www.asuntoslegales.com.co/consumidor/por-volar-un-dron-sin-permiso-de-aerocivil-la-multa-puede-ser-de-casi-20-millones-4142980</a:t>
            </a:r>
            <a:br>
              <a:rPr lang="es-CO" sz="1800" dirty="0">
                <a:latin typeface="Humanst521 XBdCn BT" panose="020B0906030504020204" pitchFamily="34" charset="0"/>
              </a:rPr>
            </a:br>
            <a:endParaRPr lang="es-CO" sz="1800" dirty="0">
              <a:latin typeface="Humanst521 XBdCn BT" panose="020B0906030504020204" pitchFamily="34" charset="0"/>
            </a:endParaRPr>
          </a:p>
        </p:txBody>
      </p:sp>
      <p:pic>
        <p:nvPicPr>
          <p:cNvPr id="1026" name="Picture 2" descr="Normativa detrás de los drones">
            <a:extLst>
              <a:ext uri="{FF2B5EF4-FFF2-40B4-BE49-F238E27FC236}">
                <a16:creationId xmlns:a16="http://schemas.microsoft.com/office/drawing/2014/main" id="{72F72799-40D4-3485-38C0-0158E59D2C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13251" y="2480035"/>
            <a:ext cx="5165497" cy="4304581"/>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52654B51-143F-33F7-6D44-155D038ED68C}"/>
              </a:ext>
            </a:extLst>
          </p:cNvPr>
          <p:cNvSpPr txBox="1"/>
          <p:nvPr/>
        </p:nvSpPr>
        <p:spPr>
          <a:xfrm>
            <a:off x="-26454" y="5934670"/>
            <a:ext cx="3539705" cy="923330"/>
          </a:xfrm>
          <a:prstGeom prst="rect">
            <a:avLst/>
          </a:prstGeom>
          <a:noFill/>
        </p:spPr>
        <p:txBody>
          <a:bodyPr wrap="square">
            <a:spAutoFit/>
          </a:bodyPr>
          <a:lstStyle/>
          <a:p>
            <a:r>
              <a:rPr lang="es-CO" dirty="0"/>
              <a:t>https://img.lalr.co/cms/2025/05/26171813/al_drones_p14y15_1080X900.jpg</a:t>
            </a:r>
          </a:p>
        </p:txBody>
      </p:sp>
    </p:spTree>
    <p:extLst>
      <p:ext uri="{BB962C8B-B14F-4D97-AF65-F5344CB8AC3E}">
        <p14:creationId xmlns:p14="http://schemas.microsoft.com/office/powerpoint/2010/main" val="15402799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126B318-1BA3-7E4F-A215-BE9CF9F93485}"/>
              </a:ext>
            </a:extLst>
          </p:cNvPr>
          <p:cNvPicPr>
            <a:picLocks noChangeAspect="1"/>
          </p:cNvPicPr>
          <p:nvPr/>
        </p:nvPicPr>
        <p:blipFill>
          <a:blip r:embed="rId3"/>
          <a:src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58A23A7C-E497-E11E-A471-019A5D3AAF75}"/>
              </a:ext>
            </a:extLst>
          </p:cNvPr>
          <p:cNvSpPr>
            <a:spLocks noGrp="1"/>
          </p:cNvSpPr>
          <p:nvPr>
            <p:ph type="ctrTitle"/>
          </p:nvPr>
        </p:nvSpPr>
        <p:spPr/>
        <p:txBody>
          <a:bodyPr anchor="t">
            <a:normAutofit/>
          </a:bodyPr>
          <a:lstStyle/>
          <a:p>
            <a:r>
              <a:rPr lang="es-CO" sz="2800" dirty="0">
                <a:latin typeface="Humanst521 XBdCn BT" panose="020B0906030504020204" pitchFamily="34" charset="0"/>
                <a:hlinkClick r:id="rId4"/>
              </a:rPr>
              <a:t>https://www.asuntoslegales.com.co/actualidad/estos-son-los-requisitos-que-debe-cumplir-para-volar-un-dron-sin-que-lo-multen-4424371</a:t>
            </a:r>
            <a:r>
              <a:rPr lang="es-CO" sz="2800" dirty="0">
                <a:latin typeface="Humanst521 XBdCn BT" panose="020B0906030504020204" pitchFamily="34" charset="0"/>
              </a:rPr>
              <a:t> </a:t>
            </a:r>
            <a:br>
              <a:rPr lang="es-CO" sz="1800" dirty="0">
                <a:latin typeface="Humanst521 XBdCn BT" panose="020B0906030504020204" pitchFamily="34" charset="0"/>
              </a:rPr>
            </a:br>
            <a:endParaRPr lang="es-CO" sz="1800" dirty="0">
              <a:latin typeface="Humanst521 XBdCn BT" panose="020B0906030504020204" pitchFamily="34" charset="0"/>
            </a:endParaRPr>
          </a:p>
        </p:txBody>
      </p:sp>
      <p:sp>
        <p:nvSpPr>
          <p:cNvPr id="5" name="CuadroTexto 4">
            <a:extLst>
              <a:ext uri="{FF2B5EF4-FFF2-40B4-BE49-F238E27FC236}">
                <a16:creationId xmlns:a16="http://schemas.microsoft.com/office/drawing/2014/main" id="{52654B51-143F-33F7-6D44-155D038ED68C}"/>
              </a:ext>
            </a:extLst>
          </p:cNvPr>
          <p:cNvSpPr txBox="1"/>
          <p:nvPr/>
        </p:nvSpPr>
        <p:spPr>
          <a:xfrm>
            <a:off x="-26454" y="5934670"/>
            <a:ext cx="3539705" cy="923330"/>
          </a:xfrm>
          <a:prstGeom prst="rect">
            <a:avLst/>
          </a:prstGeom>
          <a:noFill/>
        </p:spPr>
        <p:txBody>
          <a:bodyPr wrap="square">
            <a:spAutoFit/>
          </a:bodyPr>
          <a:lstStyle/>
          <a:p>
            <a:r>
              <a:rPr lang="es-CO" dirty="0"/>
              <a:t>https://img.lalr.co/cms/2026/06/26180936/AsuntosL-Drones-P4_2026-06-27-1080x900-1.jpg</a:t>
            </a:r>
          </a:p>
        </p:txBody>
      </p:sp>
      <p:pic>
        <p:nvPicPr>
          <p:cNvPr id="2050" name="Picture 2">
            <a:extLst>
              <a:ext uri="{FF2B5EF4-FFF2-40B4-BE49-F238E27FC236}">
                <a16:creationId xmlns:a16="http://schemas.microsoft.com/office/drawing/2014/main" id="{1AD50D68-BA6A-5E1B-B99F-8B2CB7F284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0" y="2413000"/>
            <a:ext cx="5334000" cy="444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61348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126B318-1BA3-7E4F-A215-BE9CF9F93485}"/>
              </a:ext>
            </a:extLst>
          </p:cNvPr>
          <p:cNvPicPr>
            <a:picLocks noChangeAspect="1"/>
          </p:cNvPicPr>
          <p:nvPr/>
        </p:nvPicPr>
        <p:blipFill>
          <a:blip r:embed="rId2"/>
          <a:src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58A23A7C-E497-E11E-A471-019A5D3AAF75}"/>
              </a:ext>
            </a:extLst>
          </p:cNvPr>
          <p:cNvSpPr>
            <a:spLocks noGrp="1"/>
          </p:cNvSpPr>
          <p:nvPr>
            <p:ph type="ctrTitle"/>
          </p:nvPr>
        </p:nvSpPr>
        <p:spPr/>
        <p:txBody>
          <a:bodyPr/>
          <a:lstStyle/>
          <a:p>
            <a:r>
              <a:rPr lang="es-ES" dirty="0">
                <a:latin typeface="Humanst521 XBdCn BT" panose="020B0906030504020204" pitchFamily="34" charset="0"/>
              </a:rPr>
              <a:t>PREGUNTAS?, DUDAS, CURIOSIDADES</a:t>
            </a:r>
            <a:endParaRPr lang="es-CO" dirty="0">
              <a:latin typeface="Humanst521 XBdCn BT" panose="020B0906030504020204" pitchFamily="34" charset="0"/>
            </a:endParaRPr>
          </a:p>
        </p:txBody>
      </p:sp>
    </p:spTree>
    <p:extLst>
      <p:ext uri="{BB962C8B-B14F-4D97-AF65-F5344CB8AC3E}">
        <p14:creationId xmlns:p14="http://schemas.microsoft.com/office/powerpoint/2010/main" val="1390392877"/>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1180</TotalTime>
  <Words>6615</Words>
  <Application>Microsoft Office PowerPoint</Application>
  <PresentationFormat>Panorámica</PresentationFormat>
  <Paragraphs>443</Paragraphs>
  <Slides>43</Slides>
  <Notes>28</Notes>
  <HiddenSlides>0</HiddenSlides>
  <MMClips>0</MMClips>
  <ScaleCrop>false</ScaleCrop>
  <HeadingPairs>
    <vt:vector size="6" baseType="variant">
      <vt:variant>
        <vt:lpstr>Fuentes usadas</vt:lpstr>
      </vt:variant>
      <vt:variant>
        <vt:i4>12</vt:i4>
      </vt:variant>
      <vt:variant>
        <vt:lpstr>Tema</vt:lpstr>
      </vt:variant>
      <vt:variant>
        <vt:i4>1</vt:i4>
      </vt:variant>
      <vt:variant>
        <vt:lpstr>Títulos de diapositiva</vt:lpstr>
      </vt:variant>
      <vt:variant>
        <vt:i4>43</vt:i4>
      </vt:variant>
    </vt:vector>
  </HeadingPairs>
  <TitlesOfParts>
    <vt:vector size="56" baseType="lpstr">
      <vt:lpstr>Aptos</vt:lpstr>
      <vt:lpstr>Arial</vt:lpstr>
      <vt:lpstr>Calibri</vt:lpstr>
      <vt:lpstr>Calibri Light</vt:lpstr>
      <vt:lpstr>Google Sans</vt:lpstr>
      <vt:lpstr>Humanst521 BT</vt:lpstr>
      <vt:lpstr>Humanst521 XBdCn BT</vt:lpstr>
      <vt:lpstr>Montserrat</vt:lpstr>
      <vt:lpstr>Myriad Pro Semibold</vt:lpstr>
      <vt:lpstr>Roboto</vt:lpstr>
      <vt:lpstr>Segoe UI Emoji</vt:lpstr>
      <vt:lpstr>Symbol</vt:lpstr>
      <vt:lpstr>Tema de Office</vt:lpstr>
      <vt:lpstr>Presentación de PowerPoint</vt:lpstr>
      <vt:lpstr>Presentación de PowerPoint</vt:lpstr>
      <vt:lpstr>Presentación de PowerPoint</vt:lpstr>
      <vt:lpstr>SESIÓN 1 — Introducción a UAS y marco regulatorio. ¿Qué es un UAS? Terminología básica </vt:lpstr>
      <vt:lpstr>Evolución del sector UAS en Colombia</vt:lpstr>
      <vt:lpstr>Tipos de UAS</vt:lpstr>
      <vt:lpstr>¿Por qué se regula? Rol de la OACI y la UAEAC</vt:lpstr>
      <vt:lpstr>Categorías de operación (100.205)</vt:lpstr>
      <vt:lpstr>Categorías de operación (100.205)</vt:lpstr>
      <vt:lpstr>Categorías de operación (100.205)</vt:lpstr>
      <vt:lpstr>Puntos clave</vt:lpstr>
      <vt:lpstr>Reglamento del aire aplicable a UAS</vt:lpstr>
      <vt:lpstr>Espacios aéreos colombianos</vt:lpstr>
      <vt:lpstr>Responsabilidades del operador UA / piloto UAS (100.210)</vt:lpstr>
      <vt:lpstr>Tipos de contacto visual con la UA — VLOS, EVLOS y BVLOS (100.215)</vt:lpstr>
      <vt:lpstr>Vuelos especiales (100.220)</vt:lpstr>
      <vt:lpstr>Agisoft vs PIX4D mapper</vt:lpstr>
      <vt:lpstr>Las cuatro fuerzas del vuelo</vt:lpstr>
      <vt:lpstr>El principio de Bernoulli y las hélices</vt:lpstr>
      <vt:lpstr>Ejes de movimiento</vt:lpstr>
      <vt:lpstr>Modos de control</vt:lpstr>
      <vt:lpstr>Navegación aérea</vt:lpstr>
      <vt:lpstr>Interferencia electromagnética</vt:lpstr>
      <vt:lpstr>PAYLOAD – CARGA UTIL</vt:lpstr>
      <vt:lpstr>TIPOS DE CARGA UTIL</vt:lpstr>
      <vt:lpstr>SENSORES A BORDO - PAYLOADS</vt:lpstr>
      <vt:lpstr>PAYLOADS USADOS</vt:lpstr>
      <vt:lpstr>ALFABETO AERONÁUTICO</vt:lpstr>
      <vt:lpstr>MANIOBRAS</vt:lpstr>
      <vt:lpstr>MANIOBRAS</vt:lpstr>
      <vt:lpstr>MANIOBRAS</vt:lpstr>
      <vt:lpstr>MANIOBRAS</vt:lpstr>
      <vt:lpstr>MANIOBRAS</vt:lpstr>
      <vt:lpstr>Listas de Verificación Previa y Posterior al Vuelo de Drones</vt:lpstr>
      <vt:lpstr>Listas de Verificación Previa y Posterior al Vuelo de Drones</vt:lpstr>
      <vt:lpstr>Presentación de PowerPoint</vt:lpstr>
      <vt:lpstr>Presentación de PowerPoint</vt:lpstr>
      <vt:lpstr>Presentación de PowerPoint</vt:lpstr>
      <vt:lpstr>Presentación de PowerPoint</vt:lpstr>
      <vt:lpstr>Presentación de PowerPoint</vt:lpstr>
      <vt:lpstr>https://www.asuntoslegales.com.co/consumidor/por-volar-un-dron-sin-permiso-de-aerocivil-la-multa-puede-ser-de-casi-20-millones-4142980 </vt:lpstr>
      <vt:lpstr>https://www.asuntoslegales.com.co/actualidad/estos-son-los-requisitos-que-debe-cumplir-para-volar-un-dron-sin-que-lo-multen-4424371  </vt:lpstr>
      <vt:lpstr>PREGUNTAS?, DUDAS, CURIOSIDADES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 de Microsoft Office</dc:creator>
  <cp:lastModifiedBy>Carlos Horacio Garcìa Castrillòn</cp:lastModifiedBy>
  <cp:revision>45</cp:revision>
  <cp:lastPrinted>2025-02-12T20:47:51Z</cp:lastPrinted>
  <dcterms:created xsi:type="dcterms:W3CDTF">2019-03-06T15:22:16Z</dcterms:created>
  <dcterms:modified xsi:type="dcterms:W3CDTF">2026-09-17T16:48:50Z</dcterms:modified>
</cp:coreProperties>
</file>